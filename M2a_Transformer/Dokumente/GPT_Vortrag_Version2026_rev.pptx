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60" r:id="rId3"/>
    <p:sldId id="289" r:id="rId4"/>
    <p:sldId id="269" r:id="rId5"/>
    <p:sldId id="345" r:id="rId6"/>
    <p:sldId id="346" r:id="rId7"/>
    <p:sldId id="290" r:id="rId8"/>
    <p:sldId id="276" r:id="rId9"/>
    <p:sldId id="291" r:id="rId10"/>
    <p:sldId id="275" r:id="rId11"/>
    <p:sldId id="274" r:id="rId12"/>
    <p:sldId id="293" r:id="rId13"/>
    <p:sldId id="347" r:id="rId14"/>
    <p:sldId id="348" r:id="rId15"/>
    <p:sldId id="285" r:id="rId16"/>
    <p:sldId id="284" r:id="rId17"/>
    <p:sldId id="349" r:id="rId18"/>
    <p:sldId id="350" r:id="rId19"/>
    <p:sldId id="294" r:id="rId20"/>
    <p:sldId id="364" r:id="rId21"/>
    <p:sldId id="365" r:id="rId22"/>
    <p:sldId id="366" r:id="rId23"/>
    <p:sldId id="367" r:id="rId24"/>
    <p:sldId id="299" r:id="rId25"/>
    <p:sldId id="301" r:id="rId26"/>
    <p:sldId id="302" r:id="rId27"/>
    <p:sldId id="368" r:id="rId28"/>
    <p:sldId id="351" r:id="rId29"/>
    <p:sldId id="304" r:id="rId30"/>
    <p:sldId id="312" r:id="rId31"/>
    <p:sldId id="352" r:id="rId32"/>
    <p:sldId id="305" r:id="rId33"/>
    <p:sldId id="306" r:id="rId34"/>
    <p:sldId id="310" r:id="rId35"/>
    <p:sldId id="353" r:id="rId36"/>
    <p:sldId id="354" r:id="rId37"/>
    <p:sldId id="355" r:id="rId38"/>
    <p:sldId id="307" r:id="rId39"/>
    <p:sldId id="313" r:id="rId40"/>
    <p:sldId id="283" r:id="rId41"/>
    <p:sldId id="282" r:id="rId42"/>
    <p:sldId id="356" r:id="rId43"/>
    <p:sldId id="314" r:id="rId44"/>
    <p:sldId id="344" r:id="rId45"/>
    <p:sldId id="357" r:id="rId46"/>
    <p:sldId id="358" r:id="rId47"/>
    <p:sldId id="359" r:id="rId48"/>
    <p:sldId id="360" r:id="rId49"/>
    <p:sldId id="319" r:id="rId50"/>
    <p:sldId id="321" r:id="rId51"/>
    <p:sldId id="361" r:id="rId52"/>
    <p:sldId id="258" r:id="rId53"/>
    <p:sldId id="322" r:id="rId54"/>
    <p:sldId id="369" r:id="rId55"/>
    <p:sldId id="370" r:id="rId56"/>
    <p:sldId id="371" r:id="rId57"/>
    <p:sldId id="372" r:id="rId58"/>
    <p:sldId id="362" r:id="rId59"/>
    <p:sldId id="363" r:id="rId60"/>
  </p:sldIdLst>
  <p:sldSz cx="11520488" cy="7199313"/>
  <p:notesSz cx="6858000" cy="9144000"/>
  <p:embeddedFontLst>
    <p:embeddedFont>
      <p:font typeface="Cambria Math" panose="02040503050406030204" pitchFamily="18" charset="0"/>
      <p:regular r:id="rId62"/>
    </p:embeddedFont>
    <p:embeddedFont>
      <p:font typeface="Consolas" panose="020B0609020204030204" pitchFamily="49" charset="0"/>
      <p:regular r:id="rId63"/>
      <p:bold r:id="rId64"/>
      <p:italic r:id="rId65"/>
      <p:boldItalic r:id="rId66"/>
    </p:embeddedFont>
    <p:embeddedFont>
      <p:font typeface="Corbel" panose="020B0503020204020204" pitchFamily="34" charset="0"/>
      <p:regular r:id="rId67"/>
      <p:bold r:id="rId68"/>
      <p:italic r:id="rId69"/>
      <p:boldItalic r:id="rId70"/>
    </p:embeddedFont>
    <p:embeddedFont>
      <p:font typeface="Noto Sans Symbols" panose="020B0604020202020204" pitchFamily="34" charset="0"/>
      <p:regular r:id="rId71"/>
      <p:bold r:id="rId72"/>
    </p:embeddedFont>
    <p:embeddedFont>
      <p:font typeface="SMASH" pitchFamily="2" charset="0"/>
      <p:regular r:id="rId7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4" roundtripDataSignature="AMtx7mi7hz44J4FbTQrzDxCOYgWw9WKd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01AD"/>
    <a:srgbClr val="008891"/>
    <a:srgbClr val="545454"/>
    <a:srgbClr val="FFB369"/>
    <a:srgbClr val="018991"/>
    <a:srgbClr val="FFFFFF"/>
    <a:srgbClr val="3B9927"/>
    <a:srgbClr val="E9E9E9"/>
    <a:srgbClr val="CE1617"/>
    <a:srgbClr val="0056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81" autoAdjust="0"/>
    <p:restoredTop sz="94655"/>
  </p:normalViewPr>
  <p:slideViewPr>
    <p:cSldViewPr snapToGrid="0">
      <p:cViewPr varScale="1">
        <p:scale>
          <a:sx n="111" d="100"/>
          <a:sy n="111" d="100"/>
        </p:scale>
        <p:origin x="6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2.fntdata"/><Relationship Id="rId68" Type="http://schemas.openxmlformats.org/officeDocument/2006/relationships/font" Target="fonts/font7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5.fntdata"/><Relationship Id="rId74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3.fntdata"/><Relationship Id="rId69" Type="http://schemas.openxmlformats.org/officeDocument/2006/relationships/font" Target="fonts/font8.fntdata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1.fntdata"/><Relationship Id="rId70" Type="http://schemas.openxmlformats.org/officeDocument/2006/relationships/font" Target="fonts/font9.fntdata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4.fntdata"/><Relationship Id="rId73" Type="http://schemas.openxmlformats.org/officeDocument/2006/relationships/font" Target="fonts/font12.fntdata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font" Target="fonts/font10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Noto Sans Semibold"/>
        <a:ea typeface="Noto Sans Semibold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7810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Quelle: Vaswani et al. (2017), Abschn. 3 und Tab. 3. Aufgabe: maschinelle Übersetzung (WMT 2014 EN-DE/EN-FR). „the output of each sub-layer is LayerNorm(x + Sublayer(x))“ (Abschn. 3.1).</a:t>
            </a:r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8300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Landkarte für den Rest des Vortrags. Kapitelnummern beziehen sich auf die folgenden Abschnitte. GPT-3 verwendet zusätzlich abwechselnd dichte und lokal gebänderte dünnbesetzte Attention-Muster (Brown et al. 2020, Abschn. 2.1).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Sennrich, Haddow, Birch (2016): Neural Machine Translation of Rare Words with Subword Units, ACL. Vaswani et al. (2017): „byte-pair encoding, which has a shared source-target vocabulary of about 37000 tokens“.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91301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03727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75131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13455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31139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3923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Antwort auf die Frage: Werden die Embeddings separat trainiert? Nein. W_E ist ein gewöhnlicher Parameter des Netzes (nn.Embedding) und wird gemeinsam mit allen anderen Gewichten auf die Kreuzentropie des nächsten Tokens trainiert.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19311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50896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97738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31766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77880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54063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95457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43105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91154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78409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6811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06857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5403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64153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50454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34603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Elhage et al. (2021), A Mathematical Framework for Transformer Circuits: „The minimal way to create an induction head is to use K-composition with a previous token head“ – also Zusammenspiel zweier Köpfe aus verschiedenen Schichten. GPT-3: 96 Schichten (Brown et al. 2020, Tab. 2.1).</a:t>
            </a:r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39366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52514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84799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41843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GPT-1: „We trained a 12-layer decoder-only transformer with masked self-attention heads“ (Radford et al. 2018). GPT-2: Layer normalization was moved to the input of each sub-block (Radford et al. 2019). Gemini: „Gemini models build on top of Transformer decoders“ (Gemini Team 2023). Bard wurde im Februar 2024 in Gemini umbenannt. Die frühere Aussage „Decoder-only braucht weniger Ressourcen“ wurde gestrichen, weil sie so allgemein nicht belegt ist.</a:t>
            </a:r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93633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34567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Laufzeit (337 s) stammt aus der gespeicherten Notebook-Ausgabe und hängt von der Hardware ab. Perplexität = exp(Kreuzentropie).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50368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55848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Brown et al. (2020), Tab. 2.1 (Modellgrößen) und Abschn. 2.2: „45TB of compressed plaintext before filtering and 570GB after filtering“; „All models were trained for a total of 300 billion tokens.“ Die frühere Angabe „~800 GB Dateigröße“ war nicht belegt (die zitierte Quelle betrifft GPT-J) und wurde durch eine Rechnung ersetzt. Guppy: 11 693 952 Parameter (Notebook-Ausgabe) × 4 Byte ≈ 46,8 MB.</a:t>
            </a:r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4392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folie" type="title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1010923" y="1363070"/>
            <a:ext cx="6912293" cy="3417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orbel"/>
              <a:buNone/>
              <a:defRPr sz="5575">
                <a:solidFill>
                  <a:srgbClr val="FFFFFF"/>
                </a:solidFill>
                <a:latin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039428" y="4902678"/>
            <a:ext cx="6912293" cy="959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SzPts val="2200"/>
              <a:buNone/>
              <a:defRPr sz="2079" cap="none">
                <a:solidFill>
                  <a:srgbClr val="D7F0F6"/>
                </a:solidFill>
                <a:latin typeface="Noto Sans Semibold"/>
              </a:defRPr>
            </a:lvl1pPr>
            <a:lvl2pPr lvl="1" algn="ctr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2200"/>
              <a:buNone/>
              <a:defRPr sz="2079"/>
            </a:lvl2pPr>
            <a:lvl3pPr lvl="2" algn="ctr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2200"/>
              <a:buNone/>
              <a:defRPr sz="2079"/>
            </a:lvl3pPr>
            <a:lvl4pPr lvl="3" algn="ctr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2000"/>
              <a:buNone/>
              <a:defRPr sz="1890"/>
            </a:lvl4pPr>
            <a:lvl5pPr lvl="4" algn="ctr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2000"/>
              <a:buNone/>
              <a:defRPr sz="1890"/>
            </a:lvl5pPr>
            <a:lvl6pPr lvl="5" algn="ctr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2000"/>
              <a:buNone/>
              <a:defRPr sz="1890"/>
            </a:lvl6pPr>
            <a:lvl7pPr lvl="6" algn="ctr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2000"/>
              <a:buNone/>
              <a:defRPr sz="1890"/>
            </a:lvl7pPr>
            <a:lvl8pPr lvl="7" algn="ctr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2000"/>
              <a:buNone/>
              <a:defRPr sz="1890"/>
            </a:lvl8pPr>
            <a:lvl9pPr lvl="8" algn="ctr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SzPts val="2000"/>
              <a:buNone/>
              <a:defRPr sz="1890"/>
            </a:lvl9pPr>
          </a:lstStyle>
          <a:p>
            <a:endParaRPr dirty="0"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248009" y="6672697"/>
            <a:ext cx="259211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656157" y="6672697"/>
            <a:ext cx="5585922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10048428" y="6672697"/>
            <a:ext cx="14466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und Inhal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238989" y="1179770"/>
            <a:ext cx="2785140" cy="483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latin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3656156" y="907113"/>
            <a:ext cx="6912293" cy="537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32008" lvl="0" indent="-324006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SzPts val="1800"/>
              <a:buChar char="●"/>
              <a:defRPr>
                <a:latin typeface="Noto Sans Semibold"/>
              </a:defRPr>
            </a:lvl1pPr>
            <a:lvl2pPr marL="864017" lvl="1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/>
            </a:lvl2pPr>
            <a:lvl3pPr marL="1296025" lvl="2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/>
            </a:lvl3pPr>
            <a:lvl4pPr marL="1728033" lvl="3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/>
            </a:lvl4pPr>
            <a:lvl5pPr marL="2160041" lvl="4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/>
            </a:lvl5pPr>
            <a:lvl6pPr marL="2592050" lvl="5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/>
            </a:lvl6pPr>
            <a:lvl7pPr marL="3024058" lvl="6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/>
            </a:lvl7pPr>
            <a:lvl8pPr marL="3456066" lvl="7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/>
            </a:lvl8pPr>
            <a:lvl9pPr marL="3888075" lvl="8" indent="-324006" algn="l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SzPts val="1800"/>
              <a:buChar char="●"/>
              <a:defRPr/>
            </a:lvl9pPr>
          </a:lstStyle>
          <a:p>
            <a:endParaRPr dirty="0"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248009" y="6672697"/>
            <a:ext cx="259211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656157" y="6672697"/>
            <a:ext cx="5585922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10048428" y="6672697"/>
            <a:ext cx="14466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bschnitts-&#10;überschrift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3654875" y="1363070"/>
            <a:ext cx="6912293" cy="3417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900"/>
              <a:buFont typeface="Corbel"/>
              <a:buNone/>
              <a:defRPr sz="5575" b="0">
                <a:solidFill>
                  <a:srgbClr val="595959"/>
                </a:solidFill>
                <a:latin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3672155" y="4905132"/>
            <a:ext cx="6912293" cy="959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32008" lvl="0" indent="-216004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SzPts val="2200"/>
              <a:buNone/>
              <a:defRPr sz="2079" cap="none">
                <a:solidFill>
                  <a:srgbClr val="595959"/>
                </a:solidFill>
                <a:latin typeface="Noto Sans Semibold"/>
              </a:defRPr>
            </a:lvl1pPr>
            <a:lvl2pPr marL="864017" lvl="1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None/>
              <a:defRPr sz="1701">
                <a:solidFill>
                  <a:srgbClr val="888888"/>
                </a:solidFill>
              </a:defRPr>
            </a:lvl2pPr>
            <a:lvl3pPr marL="1296025" lvl="2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600"/>
              <a:buNone/>
              <a:defRPr sz="1512">
                <a:solidFill>
                  <a:srgbClr val="888888"/>
                </a:solidFill>
              </a:defRPr>
            </a:lvl3pPr>
            <a:lvl4pPr marL="1728033" lvl="3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None/>
              <a:defRPr sz="1323">
                <a:solidFill>
                  <a:srgbClr val="888888"/>
                </a:solidFill>
              </a:defRPr>
            </a:lvl4pPr>
            <a:lvl5pPr marL="2160041" lvl="4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None/>
              <a:defRPr sz="1323">
                <a:solidFill>
                  <a:srgbClr val="888888"/>
                </a:solidFill>
              </a:defRPr>
            </a:lvl5pPr>
            <a:lvl6pPr marL="2592050" lvl="5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None/>
              <a:defRPr sz="1323">
                <a:solidFill>
                  <a:srgbClr val="888888"/>
                </a:solidFill>
              </a:defRPr>
            </a:lvl6pPr>
            <a:lvl7pPr marL="3024058" lvl="6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None/>
              <a:defRPr sz="1323">
                <a:solidFill>
                  <a:srgbClr val="888888"/>
                </a:solidFill>
              </a:defRPr>
            </a:lvl7pPr>
            <a:lvl8pPr marL="3456066" lvl="7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None/>
              <a:defRPr sz="1323">
                <a:solidFill>
                  <a:srgbClr val="888888"/>
                </a:solidFill>
              </a:defRPr>
            </a:lvl8pPr>
            <a:lvl9pPr marL="3888075" lvl="8" indent="-216004" algn="l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SzPts val="1400"/>
              <a:buNone/>
              <a:defRPr sz="1323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248009" y="6672697"/>
            <a:ext cx="259211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656157" y="6672697"/>
            <a:ext cx="5585922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10048428" y="6672697"/>
            <a:ext cx="14466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Zwei Inhalte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238989" y="1179770"/>
            <a:ext cx="2785140" cy="483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latin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3654875" y="911913"/>
            <a:ext cx="3283339" cy="537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32008" lvl="0" indent="-336006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SzPts val="2000"/>
              <a:buChar char="●"/>
              <a:defRPr sz="1890">
                <a:latin typeface="Noto Sans Semibold"/>
              </a:defRPr>
            </a:lvl1pPr>
            <a:lvl2pPr marL="864017" lvl="1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 sz="1701"/>
            </a:lvl2pPr>
            <a:lvl3pPr marL="1296025" lvl="2" indent="-312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600"/>
              <a:buChar char="●"/>
              <a:defRPr sz="1512"/>
            </a:lvl3pPr>
            <a:lvl4pPr marL="1728033" lvl="3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4pPr>
            <a:lvl5pPr marL="2160041" lvl="4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5pPr>
            <a:lvl6pPr marL="2592050" lvl="5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6pPr>
            <a:lvl7pPr marL="3024058" lvl="6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7pPr>
            <a:lvl8pPr marL="3456066" lvl="7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8pPr>
            <a:lvl9pPr marL="3888075" lvl="8" indent="-300006" algn="l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SzPts val="1400"/>
              <a:buChar char="●"/>
              <a:defRPr sz="1323"/>
            </a:lvl9pPr>
          </a:lstStyle>
          <a:p>
            <a:endParaRPr dirty="0"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7387513" y="911913"/>
            <a:ext cx="3283339" cy="537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32008" lvl="0" indent="-336006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SzPts val="2000"/>
              <a:buChar char="●"/>
              <a:defRPr sz="1890">
                <a:latin typeface="Noto Sans Semibold"/>
              </a:defRPr>
            </a:lvl1pPr>
            <a:lvl2pPr marL="864017" lvl="1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 sz="1701"/>
            </a:lvl2pPr>
            <a:lvl3pPr marL="1296025" lvl="2" indent="-312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600"/>
              <a:buChar char="●"/>
              <a:defRPr sz="1512"/>
            </a:lvl3pPr>
            <a:lvl4pPr marL="1728033" lvl="3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4pPr>
            <a:lvl5pPr marL="2160041" lvl="4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5pPr>
            <a:lvl6pPr marL="2592050" lvl="5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6pPr>
            <a:lvl7pPr marL="3024058" lvl="6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7pPr>
            <a:lvl8pPr marL="3456066" lvl="7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8pPr>
            <a:lvl9pPr marL="3888075" lvl="8" indent="-300006" algn="l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SzPts val="1400"/>
              <a:buChar char="●"/>
              <a:defRPr sz="1323"/>
            </a:lvl9pPr>
          </a:lstStyle>
          <a:p>
            <a:endParaRPr dirty="0"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248009" y="6672697"/>
            <a:ext cx="259211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656157" y="6672697"/>
            <a:ext cx="5585922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10048428" y="6672697"/>
            <a:ext cx="14466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gleich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238989" y="1179770"/>
            <a:ext cx="2785140" cy="483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latin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3654875" y="1074528"/>
            <a:ext cx="3283339" cy="847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32008" lvl="0" indent="-21600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890" b="1">
                <a:solidFill>
                  <a:srgbClr val="595959"/>
                </a:solidFill>
                <a:latin typeface="Noto Sans Semibold"/>
              </a:defRPr>
            </a:lvl1pPr>
            <a:lvl2pPr marL="864017" lvl="1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2000"/>
              <a:buNone/>
              <a:defRPr sz="1890" b="1"/>
            </a:lvl2pPr>
            <a:lvl3pPr marL="1296025" lvl="2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None/>
              <a:defRPr sz="1701" b="1"/>
            </a:lvl3pPr>
            <a:lvl4pPr marL="1728033" lvl="3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600"/>
              <a:buNone/>
              <a:defRPr sz="1512" b="1"/>
            </a:lvl4pPr>
            <a:lvl5pPr marL="2160041" lvl="4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600"/>
              <a:buNone/>
              <a:defRPr sz="1512" b="1"/>
            </a:lvl5pPr>
            <a:lvl6pPr marL="2592050" lvl="5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600"/>
              <a:buNone/>
              <a:defRPr sz="1512" b="1"/>
            </a:lvl6pPr>
            <a:lvl7pPr marL="3024058" lvl="6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600"/>
              <a:buNone/>
              <a:defRPr sz="1512" b="1"/>
            </a:lvl7pPr>
            <a:lvl8pPr marL="3456066" lvl="7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600"/>
              <a:buNone/>
              <a:defRPr sz="1512" b="1"/>
            </a:lvl8pPr>
            <a:lvl9pPr marL="3888075" lvl="8" indent="-216004" algn="l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SzPts val="1600"/>
              <a:buNone/>
              <a:defRPr sz="1512" b="1"/>
            </a:lvl9pPr>
          </a:lstStyle>
          <a:p>
            <a:endParaRPr dirty="0"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3654875" y="2027036"/>
            <a:ext cx="3283339" cy="4223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32008" lvl="0" indent="-336006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SzPts val="2000"/>
              <a:buChar char="●"/>
              <a:defRPr sz="1890">
                <a:latin typeface="Noto Sans Semibold"/>
              </a:defRPr>
            </a:lvl1pPr>
            <a:lvl2pPr marL="864017" lvl="1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 sz="1701"/>
            </a:lvl2pPr>
            <a:lvl3pPr marL="1296025" lvl="2" indent="-312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600"/>
              <a:buChar char="●"/>
              <a:defRPr sz="1512"/>
            </a:lvl3pPr>
            <a:lvl4pPr marL="1728033" lvl="3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4pPr>
            <a:lvl5pPr marL="2160041" lvl="4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5pPr>
            <a:lvl6pPr marL="2592050" lvl="5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6pPr>
            <a:lvl7pPr marL="3024058" lvl="6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7pPr>
            <a:lvl8pPr marL="3456066" lvl="7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8pPr>
            <a:lvl9pPr marL="3888075" lvl="8" indent="-300006" algn="l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SzPts val="1400"/>
              <a:buChar char="●"/>
              <a:defRPr sz="1323"/>
            </a:lvl9pPr>
          </a:lstStyle>
          <a:p>
            <a:endParaRPr dirty="0"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7387837" y="1074529"/>
            <a:ext cx="3283339" cy="853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32008" lvl="0" indent="-21600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890" b="1">
                <a:solidFill>
                  <a:srgbClr val="595959"/>
                </a:solidFill>
                <a:latin typeface="Noto Sans Semibold"/>
              </a:defRPr>
            </a:lvl1pPr>
            <a:lvl2pPr marL="864017" lvl="1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2000"/>
              <a:buNone/>
              <a:defRPr sz="1890" b="1"/>
            </a:lvl2pPr>
            <a:lvl3pPr marL="1296025" lvl="2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None/>
              <a:defRPr sz="1701" b="1"/>
            </a:lvl3pPr>
            <a:lvl4pPr marL="1728033" lvl="3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600"/>
              <a:buNone/>
              <a:defRPr sz="1512" b="1"/>
            </a:lvl4pPr>
            <a:lvl5pPr marL="2160041" lvl="4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600"/>
              <a:buNone/>
              <a:defRPr sz="1512" b="1"/>
            </a:lvl5pPr>
            <a:lvl6pPr marL="2592050" lvl="5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600"/>
              <a:buNone/>
              <a:defRPr sz="1512" b="1"/>
            </a:lvl6pPr>
            <a:lvl7pPr marL="3024058" lvl="6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600"/>
              <a:buNone/>
              <a:defRPr sz="1512" b="1"/>
            </a:lvl7pPr>
            <a:lvl8pPr marL="3456066" lvl="7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600"/>
              <a:buNone/>
              <a:defRPr sz="1512" b="1"/>
            </a:lvl8pPr>
            <a:lvl9pPr marL="3888075" lvl="8" indent="-216004" algn="l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SzPts val="1600"/>
              <a:buNone/>
              <a:defRPr sz="1512" b="1"/>
            </a:lvl9pPr>
          </a:lstStyle>
          <a:p>
            <a:endParaRPr dirty="0"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7387837" y="2027036"/>
            <a:ext cx="3283339" cy="4223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32008" lvl="0" indent="-336006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SzPts val="2000"/>
              <a:buChar char="●"/>
              <a:defRPr sz="1890">
                <a:latin typeface="Noto Sans Semibold"/>
              </a:defRPr>
            </a:lvl1pPr>
            <a:lvl2pPr marL="864017" lvl="1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 sz="1701"/>
            </a:lvl2pPr>
            <a:lvl3pPr marL="1296025" lvl="2" indent="-312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600"/>
              <a:buChar char="●"/>
              <a:defRPr sz="1512"/>
            </a:lvl3pPr>
            <a:lvl4pPr marL="1728033" lvl="3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4pPr>
            <a:lvl5pPr marL="2160041" lvl="4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5pPr>
            <a:lvl6pPr marL="2592050" lvl="5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6pPr>
            <a:lvl7pPr marL="3024058" lvl="6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7pPr>
            <a:lvl8pPr marL="3456066" lvl="7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8pPr>
            <a:lvl9pPr marL="3888075" lvl="8" indent="-300006" algn="l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SzPts val="1400"/>
              <a:buChar char="●"/>
              <a:defRPr sz="1323"/>
            </a:lvl9pPr>
          </a:lstStyle>
          <a:p>
            <a:endParaRPr dirty="0"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248009" y="6672697"/>
            <a:ext cx="259211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656157" y="6672697"/>
            <a:ext cx="5585922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10048428" y="6672697"/>
            <a:ext cx="14466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r Titel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238989" y="1179770"/>
            <a:ext cx="2785140" cy="483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latin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248009" y="6672697"/>
            <a:ext cx="259211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656157" y="6672697"/>
            <a:ext cx="5585922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10048428" y="6672697"/>
            <a:ext cx="14466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eer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dt" idx="10"/>
          </p:nvPr>
        </p:nvSpPr>
        <p:spPr>
          <a:xfrm>
            <a:off x="248009" y="6672697"/>
            <a:ext cx="259211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ftr" idx="11"/>
          </p:nvPr>
        </p:nvSpPr>
        <p:spPr>
          <a:xfrm>
            <a:off x="3656157" y="6672697"/>
            <a:ext cx="5585922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sldNum" idx="12"/>
          </p:nvPr>
        </p:nvSpPr>
        <p:spPr>
          <a:xfrm>
            <a:off x="10048428" y="6672697"/>
            <a:ext cx="14466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nhalt mit Überschrift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>
            <a:spLocks noGrp="1"/>
          </p:cNvSpPr>
          <p:nvPr>
            <p:ph type="title"/>
          </p:nvPr>
        </p:nvSpPr>
        <p:spPr>
          <a:xfrm>
            <a:off x="241930" y="1199885"/>
            <a:ext cx="2678513" cy="249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rbel"/>
              <a:buNone/>
              <a:defRPr sz="3024" b="0">
                <a:latin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3654875" y="911913"/>
            <a:ext cx="6912293" cy="537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32008" lvl="0" indent="-336006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SzPts val="2000"/>
              <a:buChar char="●"/>
              <a:defRPr sz="1890">
                <a:latin typeface="Noto Sans Semibold"/>
              </a:defRPr>
            </a:lvl1pPr>
            <a:lvl2pPr marL="864017" lvl="1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 sz="1701"/>
            </a:lvl2pPr>
            <a:lvl3pPr marL="1296025" lvl="2" indent="-312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600"/>
              <a:buChar char="●"/>
              <a:defRPr sz="1512"/>
            </a:lvl3pPr>
            <a:lvl4pPr marL="1728033" lvl="3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4pPr>
            <a:lvl5pPr marL="2160041" lvl="4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5pPr>
            <a:lvl6pPr marL="2592050" lvl="5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6pPr>
            <a:lvl7pPr marL="3024058" lvl="6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7pPr>
            <a:lvl8pPr marL="3456066" lvl="7" indent="-300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400"/>
              <a:buChar char="●"/>
              <a:defRPr sz="1323"/>
            </a:lvl8pPr>
            <a:lvl9pPr marL="3888075" lvl="8" indent="-300006" algn="l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SzPts val="1400"/>
              <a:buChar char="●"/>
              <a:defRPr sz="1323"/>
            </a:lvl9pPr>
          </a:lstStyle>
          <a:p>
            <a:endParaRPr dirty="0"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2"/>
          </p:nvPr>
        </p:nvSpPr>
        <p:spPr>
          <a:xfrm>
            <a:off x="241930" y="3668076"/>
            <a:ext cx="2678513" cy="243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32008" lvl="0" indent="-216004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SzPts val="1400"/>
              <a:buNone/>
              <a:defRPr sz="1323">
                <a:solidFill>
                  <a:srgbClr val="FFFFFF"/>
                </a:solidFill>
                <a:latin typeface="Noto Sans Semibold"/>
              </a:defRPr>
            </a:lvl1pPr>
            <a:lvl2pPr marL="864017" lvl="1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200"/>
              <a:buNone/>
              <a:defRPr sz="1134"/>
            </a:lvl2pPr>
            <a:lvl3pPr marL="1296025" lvl="2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000"/>
              <a:buNone/>
              <a:defRPr sz="945"/>
            </a:lvl3pPr>
            <a:lvl4pPr marL="1728033" lvl="3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900"/>
              <a:buNone/>
              <a:defRPr sz="850"/>
            </a:lvl4pPr>
            <a:lvl5pPr marL="2160041" lvl="4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900"/>
              <a:buNone/>
              <a:defRPr sz="850"/>
            </a:lvl5pPr>
            <a:lvl6pPr marL="2592050" lvl="5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900"/>
              <a:buNone/>
              <a:defRPr sz="850"/>
            </a:lvl6pPr>
            <a:lvl7pPr marL="3024058" lvl="6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900"/>
              <a:buNone/>
              <a:defRPr sz="850"/>
            </a:lvl7pPr>
            <a:lvl8pPr marL="3456066" lvl="7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900"/>
              <a:buNone/>
              <a:defRPr sz="850"/>
            </a:lvl8pPr>
            <a:lvl9pPr marL="3888075" lvl="8" indent="-216004" algn="l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SzPts val="900"/>
              <a:buNone/>
              <a:defRPr sz="850"/>
            </a:lvl9pPr>
          </a:lstStyle>
          <a:p>
            <a:endParaRPr dirty="0"/>
          </a:p>
        </p:txBody>
      </p:sp>
      <p:sp>
        <p:nvSpPr>
          <p:cNvPr id="62" name="Google Shape;62;p22"/>
          <p:cNvSpPr txBox="1">
            <a:spLocks noGrp="1"/>
          </p:cNvSpPr>
          <p:nvPr>
            <p:ph type="dt" idx="10"/>
          </p:nvPr>
        </p:nvSpPr>
        <p:spPr>
          <a:xfrm>
            <a:off x="248009" y="6672697"/>
            <a:ext cx="259211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ftr" idx="11"/>
          </p:nvPr>
        </p:nvSpPr>
        <p:spPr>
          <a:xfrm>
            <a:off x="3656157" y="6672697"/>
            <a:ext cx="5585922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sldNum" idx="12"/>
          </p:nvPr>
        </p:nvSpPr>
        <p:spPr>
          <a:xfrm>
            <a:off x="10048428" y="6672697"/>
            <a:ext cx="14466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ld mit Überschrift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>
            <a:spLocks noGrp="1"/>
          </p:cNvSpPr>
          <p:nvPr>
            <p:ph type="title"/>
          </p:nvPr>
        </p:nvSpPr>
        <p:spPr>
          <a:xfrm>
            <a:off x="241930" y="1199885"/>
            <a:ext cx="2678513" cy="249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rbel"/>
              <a:buNone/>
              <a:defRPr sz="3024" b="0">
                <a:latin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23"/>
          <p:cNvSpPr>
            <a:spLocks noGrp="1"/>
          </p:cNvSpPr>
          <p:nvPr>
            <p:ph type="pic" idx="2"/>
          </p:nvPr>
        </p:nvSpPr>
        <p:spPr>
          <a:xfrm>
            <a:off x="3373980" y="805612"/>
            <a:ext cx="7668259" cy="5596266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68" name="Google Shape;68;p23"/>
          <p:cNvSpPr txBox="1">
            <a:spLocks noGrp="1"/>
          </p:cNvSpPr>
          <p:nvPr>
            <p:ph type="body" idx="1"/>
          </p:nvPr>
        </p:nvSpPr>
        <p:spPr>
          <a:xfrm>
            <a:off x="241930" y="3666850"/>
            <a:ext cx="2678513" cy="2438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32008" lvl="0" indent="-216004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SzPts val="1400"/>
              <a:buNone/>
              <a:defRPr sz="1323">
                <a:solidFill>
                  <a:srgbClr val="FFFFFF"/>
                </a:solidFill>
                <a:latin typeface="Noto Sans Semibold"/>
              </a:defRPr>
            </a:lvl1pPr>
            <a:lvl2pPr marL="864017" lvl="1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200"/>
              <a:buNone/>
              <a:defRPr sz="1134"/>
            </a:lvl2pPr>
            <a:lvl3pPr marL="1296025" lvl="2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000"/>
              <a:buNone/>
              <a:defRPr sz="945"/>
            </a:lvl3pPr>
            <a:lvl4pPr marL="1728033" lvl="3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900"/>
              <a:buNone/>
              <a:defRPr sz="850"/>
            </a:lvl4pPr>
            <a:lvl5pPr marL="2160041" lvl="4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900"/>
              <a:buNone/>
              <a:defRPr sz="850"/>
            </a:lvl5pPr>
            <a:lvl6pPr marL="2592050" lvl="5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900"/>
              <a:buNone/>
              <a:defRPr sz="850"/>
            </a:lvl6pPr>
            <a:lvl7pPr marL="3024058" lvl="6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900"/>
              <a:buNone/>
              <a:defRPr sz="850"/>
            </a:lvl7pPr>
            <a:lvl8pPr marL="3456066" lvl="7" indent="-216004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900"/>
              <a:buNone/>
              <a:defRPr sz="850"/>
            </a:lvl8pPr>
            <a:lvl9pPr marL="3888075" lvl="8" indent="-216004" algn="l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SzPts val="900"/>
              <a:buNone/>
              <a:defRPr sz="850"/>
            </a:lvl9pPr>
          </a:lstStyle>
          <a:p>
            <a:endParaRPr dirty="0"/>
          </a:p>
        </p:txBody>
      </p:sp>
      <p:sp>
        <p:nvSpPr>
          <p:cNvPr id="69" name="Google Shape;69;p23"/>
          <p:cNvSpPr txBox="1">
            <a:spLocks noGrp="1"/>
          </p:cNvSpPr>
          <p:nvPr>
            <p:ph type="dt" idx="10"/>
          </p:nvPr>
        </p:nvSpPr>
        <p:spPr>
          <a:xfrm>
            <a:off x="248009" y="6672697"/>
            <a:ext cx="259211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ftr" idx="11"/>
          </p:nvPr>
        </p:nvSpPr>
        <p:spPr>
          <a:xfrm>
            <a:off x="3306378" y="6672697"/>
            <a:ext cx="5585922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sldNum" idx="12"/>
          </p:nvPr>
        </p:nvSpPr>
        <p:spPr>
          <a:xfrm>
            <a:off x="10048428" y="6672697"/>
            <a:ext cx="14466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und vertikaler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>
            <a:spLocks noGrp="1"/>
          </p:cNvSpPr>
          <p:nvPr>
            <p:ph type="title"/>
          </p:nvPr>
        </p:nvSpPr>
        <p:spPr>
          <a:xfrm>
            <a:off x="238989" y="1179770"/>
            <a:ext cx="2785140" cy="483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latin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1"/>
          </p:nvPr>
        </p:nvSpPr>
        <p:spPr>
          <a:xfrm rot="5400000">
            <a:off x="4424559" y="138710"/>
            <a:ext cx="5375487" cy="6912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32008" lvl="0" indent="-324006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SzPts val="1800"/>
              <a:buChar char="●"/>
              <a:defRPr>
                <a:latin typeface="Noto Sans Semibold"/>
              </a:defRPr>
            </a:lvl1pPr>
            <a:lvl2pPr marL="864017" lvl="1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/>
            </a:lvl2pPr>
            <a:lvl3pPr marL="1296025" lvl="2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/>
            </a:lvl3pPr>
            <a:lvl4pPr marL="1728033" lvl="3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/>
            </a:lvl4pPr>
            <a:lvl5pPr marL="2160041" lvl="4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/>
            </a:lvl5pPr>
            <a:lvl6pPr marL="2592050" lvl="5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/>
            </a:lvl6pPr>
            <a:lvl7pPr marL="3024058" lvl="6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/>
            </a:lvl7pPr>
            <a:lvl8pPr marL="3456066" lvl="7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/>
            </a:lvl8pPr>
            <a:lvl9pPr marL="3888075" lvl="8" indent="-324006" algn="l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SzPts val="1800"/>
              <a:buChar char="●"/>
              <a:defRPr/>
            </a:lvl9pPr>
          </a:lstStyle>
          <a:p>
            <a:endParaRPr dirty="0"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248009" y="6672697"/>
            <a:ext cx="259211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3656157" y="6672697"/>
            <a:ext cx="5585922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10048428" y="6672697"/>
            <a:ext cx="14466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kaler Titel u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 rot="5400000">
            <a:off x="-907680" y="2307596"/>
            <a:ext cx="5199504" cy="266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latin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4423278" y="143510"/>
            <a:ext cx="5375487" cy="6912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32008" lvl="0" indent="-324006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SzPts val="1800"/>
              <a:buChar char="●"/>
              <a:defRPr>
                <a:latin typeface="Noto Sans Semibold"/>
              </a:defRPr>
            </a:lvl1pPr>
            <a:lvl2pPr marL="864017" lvl="1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/>
            </a:lvl2pPr>
            <a:lvl3pPr marL="1296025" lvl="2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/>
            </a:lvl3pPr>
            <a:lvl4pPr marL="1728033" lvl="3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/>
            </a:lvl4pPr>
            <a:lvl5pPr marL="2160041" lvl="4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/>
            </a:lvl5pPr>
            <a:lvl6pPr marL="2592050" lvl="5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/>
            </a:lvl6pPr>
            <a:lvl7pPr marL="3024058" lvl="6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/>
            </a:lvl7pPr>
            <a:lvl8pPr marL="3456066" lvl="7" indent="-324006" algn="l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SzPts val="1800"/>
              <a:buChar char="●"/>
              <a:defRPr/>
            </a:lvl8pPr>
            <a:lvl9pPr marL="3888075" lvl="8" indent="-324006" algn="l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SzPts val="1800"/>
              <a:buChar char="●"/>
              <a:defRPr/>
            </a:lvl9pPr>
          </a:lstStyle>
          <a:p>
            <a:endParaRPr dirty="0"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248009" y="6672697"/>
            <a:ext cx="2592110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3656157" y="6672697"/>
            <a:ext cx="5585922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10048428" y="6672697"/>
            <a:ext cx="144660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Frutiger LT 45 Light" panose="020B0500000000000000" pitchFamily="34" charset="0"/>
          <a:ea typeface="Frutiger LT 45 Light" panose="020B0500000000000000" pitchFamily="34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Frutiger LT 45 Light" panose="020B0500000000000000" pitchFamily="34" charset="0"/>
          <a:ea typeface="Frutiger LT 45 Light" panose="020B0500000000000000" pitchFamily="34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microsoft.com/office/2007/relationships/hdphoto" Target="../media/hdphoto3.wdp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ludis.de/vektorMult/index.html" TargetMode="Externa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1.png"/><Relationship Id="rId10" Type="http://schemas.microsoft.com/office/2007/relationships/hdphoto" Target="../media/hdphoto6.wdp"/><Relationship Id="rId4" Type="http://schemas.openxmlformats.org/officeDocument/2006/relationships/image" Target="../media/image2.sv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ludis.de/WordVektor/index.html" TargetMode="External"/><Relationship Id="rId5" Type="http://schemas.openxmlformats.org/officeDocument/2006/relationships/hyperlink" Target="https://www.cs.cmu.edu/~dst/WordEmbeddingDemo/index.html" TargetMode="External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ludis.de/positionalEncoding/index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ludis.de/positionalEncoding/index.html" TargetMode="External"/><Relationship Id="rId5" Type="http://schemas.openxmlformats.org/officeDocument/2006/relationships/image" Target="../media/image2.sv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07/relationships/hdphoto" Target="../media/hdphoto3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7.wdp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7.wdp"/><Relationship Id="rId5" Type="http://schemas.openxmlformats.org/officeDocument/2006/relationships/image" Target="../media/image22.png"/><Relationship Id="rId10" Type="http://schemas.openxmlformats.org/officeDocument/2006/relationships/image" Target="../media/image25.png"/><Relationship Id="rId4" Type="http://schemas.openxmlformats.org/officeDocument/2006/relationships/image" Target="../media/image2.svg"/><Relationship Id="rId9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microsoft.com/office/2007/relationships/hdphoto" Target="../media/hdphoto7.wdp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microsoft.com/office/2007/relationships/hdphoto" Target="../media/hdphoto7.wdp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7.png"/><Relationship Id="rId4" Type="http://schemas.microsoft.com/office/2007/relationships/hdphoto" Target="../media/hdphoto7.wd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8.wdp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2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microsoft.com/office/2007/relationships/hdphoto" Target="../media/hdphoto8.wdp"/><Relationship Id="rId11" Type="http://schemas.openxmlformats.org/officeDocument/2006/relationships/image" Target="../media/image50.png"/><Relationship Id="rId5" Type="http://schemas.openxmlformats.org/officeDocument/2006/relationships/image" Target="../media/image29.png"/><Relationship Id="rId10" Type="http://schemas.openxmlformats.org/officeDocument/2006/relationships/image" Target="../media/image49.png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microsoft.com/office/2007/relationships/hdphoto" Target="../media/hdphoto3.wdp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8.wdp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2.svg"/></Relationships>
</file>

<file path=ppt/slides/_rels/slide40.xml.rels><?xml version="1.0" encoding="UTF-8" standalone="yes"?>
<Relationships xmlns="http://schemas.openxmlformats.org/package/2006/relationships"><Relationship Id="rId8" Type="http://schemas.microsoft.com/office/2007/relationships/hdphoto" Target="../media/hdphoto9.wdp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microsoft.com/office/2007/relationships/hdphoto" Target="../media/hdphoto8.wdp"/><Relationship Id="rId5" Type="http://schemas.openxmlformats.org/officeDocument/2006/relationships/image" Target="../media/image2.svg"/><Relationship Id="rId10" Type="http://schemas.openxmlformats.org/officeDocument/2006/relationships/image" Target="../media/image29.png"/><Relationship Id="rId4" Type="http://schemas.openxmlformats.org/officeDocument/2006/relationships/hyperlink" Target="https://openaipublic.blob.core.windows.net/neuron-explainer/paper/index.html" TargetMode="External"/><Relationship Id="rId9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7.png"/></Relationships>
</file>

<file path=ppt/slides/_rels/slide4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qaWMOYf4ri8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microsoft.com/office/2007/relationships/hdphoto" Target="../media/hdphoto9.wdp"/><Relationship Id="rId3" Type="http://schemas.openxmlformats.org/officeDocument/2006/relationships/image" Target="../media/image27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7.wdp"/><Relationship Id="rId5" Type="http://schemas.openxmlformats.org/officeDocument/2006/relationships/image" Target="../media/image22.png"/><Relationship Id="rId4" Type="http://schemas.openxmlformats.org/officeDocument/2006/relationships/image" Target="../media/image2.svg"/><Relationship Id="rId9" Type="http://schemas.openxmlformats.org/officeDocument/2006/relationships/hyperlink" Target="https://demo.allennlp.org/next-token-lm" TargetMode="Externa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7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9.wdp"/><Relationship Id="rId5" Type="http://schemas.openxmlformats.org/officeDocument/2006/relationships/image" Target="../media/image39.png"/><Relationship Id="rId10" Type="http://schemas.openxmlformats.org/officeDocument/2006/relationships/image" Target="../media/image42.png"/><Relationship Id="rId4" Type="http://schemas.openxmlformats.org/officeDocument/2006/relationships/image" Target="../media/image2.svg"/><Relationship Id="rId9" Type="http://schemas.microsoft.com/office/2007/relationships/hdphoto" Target="../media/hdphoto8.wdp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jpeg"/><Relationship Id="rId4" Type="http://schemas.openxmlformats.org/officeDocument/2006/relationships/hyperlink" Target="https://arxiv.org/pdf/2005.14165.pdf" TargetMode="External"/></Relationships>
</file>

<file path=ppt/slides/_rels/slide53.xml.rels><?xml version="1.0" encoding="UTF-8" standalone="yes"?>
<Relationships xmlns="http://schemas.openxmlformats.org/package/2006/relationships"><Relationship Id="rId8" Type="http://schemas.microsoft.com/office/2007/relationships/hdphoto" Target="../media/hdphoto8.wdp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microsoft.com/office/2007/relationships/hdphoto" Target="../media/hdphoto9.wdp"/><Relationship Id="rId4" Type="http://schemas.openxmlformats.org/officeDocument/2006/relationships/image" Target="../media/image31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261652" y="2897546"/>
            <a:ext cx="6391033" cy="2027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2000" b="1" dirty="0">
                <a:solidFill>
                  <a:srgbClr val="535151"/>
                </a:solidFill>
                <a:latin typeface="Noto Sans Semibold"/>
              </a:rPr>
              <a:t>GPT, Gemini, Opus usw. sind Transformer.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2000" b="1" dirty="0">
                <a:solidFill>
                  <a:srgbClr val="535151"/>
                </a:solidFill>
                <a:latin typeface="Noto Sans Semibold"/>
              </a:rPr>
              <a:t>Was ist ein Transformer?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2000" b="1" dirty="0">
                <a:solidFill>
                  <a:srgbClr val="535151"/>
                </a:solidFill>
                <a:latin typeface="Noto Sans Semibold"/>
              </a:rPr>
              <a:t>Wie funktioniert ein Transformer?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2000" b="1" dirty="0">
                <a:solidFill>
                  <a:srgbClr val="535151"/>
                </a:solidFill>
                <a:latin typeface="Noto Sans Semibold"/>
              </a:rPr>
              <a:t>Was leisten Transformer?</a:t>
            </a:r>
          </a:p>
        </p:txBody>
      </p:sp>
      <p:sp>
        <p:nvSpPr>
          <p:cNvPr id="94" name="Google Shape;94;p1"/>
          <p:cNvSpPr txBox="1"/>
          <p:nvPr/>
        </p:nvSpPr>
        <p:spPr>
          <a:xfrm>
            <a:off x="478399" y="5620369"/>
            <a:ext cx="8830311" cy="578441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 spcFirstLastPara="1" wrap="square" lIns="86389" tIns="43183" rIns="86389" bIns="43183" anchor="t" anchorCtr="0">
            <a:noAutofit/>
          </a:bodyPr>
          <a:lstStyle/>
          <a:p>
            <a:pPr>
              <a:lnSpc>
                <a:spcPct val="90000"/>
              </a:lnSpc>
              <a:buClr>
                <a:schemeClr val="accent1"/>
              </a:buClr>
              <a:buSzPts val="2200"/>
            </a:pPr>
            <a:r>
              <a:rPr lang="de-DE" sz="2000" b="1" dirty="0">
                <a:solidFill>
                  <a:srgbClr val="6001AD"/>
                </a:solidFill>
                <a:latin typeface="Noto Sans Semibold"/>
                <a:ea typeface="Corbel"/>
                <a:cs typeface="Corbel"/>
                <a:sym typeface="Corbel"/>
              </a:rPr>
              <a:t>„Sprache ist der heilige Gral der künstlichen Intelligenz“</a:t>
            </a:r>
            <a:br>
              <a:rPr lang="de-DE" sz="992" b="1" dirty="0">
                <a:solidFill>
                  <a:srgbClr val="003C72"/>
                </a:solidFill>
                <a:latin typeface="Noto Sans Semibold"/>
                <a:ea typeface="Corbel"/>
                <a:cs typeface="Corbel"/>
                <a:sym typeface="Corbel"/>
              </a:rPr>
            </a:br>
            <a:r>
              <a:rPr lang="de-DE" sz="1600" i="1" dirty="0">
                <a:solidFill>
                  <a:srgbClr val="535353"/>
                </a:solidFill>
                <a:latin typeface="Noto Sans Semibold"/>
                <a:ea typeface="Corbel"/>
                <a:cs typeface="Corbel"/>
                <a:sym typeface="Corbel"/>
              </a:rPr>
              <a:t>https://www.newworldai.com/microsoft-bets-1-billion-holy-grail-artificial-intelligence/</a:t>
            </a:r>
            <a:endParaRPr sz="1323" i="1" dirty="0">
              <a:solidFill>
                <a:srgbClr val="535353"/>
              </a:solidFill>
              <a:latin typeface="Noto Sans Semibold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2DE3531-660A-4D91-E023-50215B2FA0C4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EC5C815-B961-EB7A-4219-49762B3B69B7}"/>
              </a:ext>
            </a:extLst>
          </p:cNvPr>
          <p:cNvSpPr txBox="1"/>
          <p:nvPr/>
        </p:nvSpPr>
        <p:spPr>
          <a:xfrm>
            <a:off x="1026070" y="934861"/>
            <a:ext cx="1049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kern="1200" spc="-90" dirty="0">
                <a:solidFill>
                  <a:srgbClr val="515050"/>
                </a:solidFill>
                <a:effectLst/>
                <a:latin typeface="Noto Sans Semibold"/>
              </a:rPr>
              <a:t>Thomas Jörg · Dozent · iludis.de</a:t>
            </a:r>
          </a:p>
        </p:txBody>
      </p:sp>
      <p:pic>
        <p:nvPicPr>
          <p:cNvPr id="3" name="Grafik 2" descr="Ein Bild, das Text, Screenshot, Reihe, Diagramm enthält.&#10;&#10;Automatisch generierte Beschreibung">
            <a:extLst>
              <a:ext uri="{FF2B5EF4-FFF2-40B4-BE49-F238E27FC236}">
                <a16:creationId xmlns:a16="http://schemas.microsoft.com/office/drawing/2014/main" id="{80993FF3-1569-5F95-C9CF-C7B8B6CBB6D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1" r="-2886"/>
          <a:stretch/>
        </p:blipFill>
        <p:spPr>
          <a:xfrm>
            <a:off x="5185875" y="1936236"/>
            <a:ext cx="6334613" cy="3973353"/>
          </a:xfrm>
          <a:prstGeom prst="rect">
            <a:avLst/>
          </a:prstGeom>
          <a:effectLst>
            <a:glow rad="25400">
              <a:schemeClr val="bg1">
                <a:alpha val="27000"/>
              </a:schemeClr>
            </a:glow>
          </a:effectLst>
        </p:spPr>
      </p:pic>
      <p:pic>
        <p:nvPicPr>
          <p:cNvPr id="5" name="Grafik 4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F987212A-A9FF-0BDC-7385-4C86BA18D1C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3533" r="23885"/>
          <a:stretch/>
        </p:blipFill>
        <p:spPr>
          <a:xfrm>
            <a:off x="5760244" y="3201725"/>
            <a:ext cx="1061884" cy="113596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8195B35-8CDE-C3EE-A4FE-B7096A98FC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71022" y="3163038"/>
            <a:ext cx="1243069" cy="12430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>
            <a:spLocks noGrp="1"/>
          </p:cNvSpPr>
          <p:nvPr>
            <p:ph type="body" idx="1"/>
          </p:nvPr>
        </p:nvSpPr>
        <p:spPr>
          <a:xfrm>
            <a:off x="738221" y="3248475"/>
            <a:ext cx="6831457" cy="30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800" b="1" dirty="0">
                <a:solidFill>
                  <a:srgbClr val="535151"/>
                </a:solidFill>
              </a:rPr>
              <a:t>Die Bedeutung eines Wortes „a“ wird durch das Vorhandensein eines anderen Wortes „b“ erweitert.</a:t>
            </a:r>
            <a:br>
              <a:rPr lang="de-DE" sz="1800" b="1" dirty="0">
                <a:solidFill>
                  <a:srgbClr val="535151"/>
                </a:solidFill>
              </a:rPr>
            </a:br>
            <a:r>
              <a:rPr lang="de-DE" sz="1800" b="1" dirty="0">
                <a:solidFill>
                  <a:srgbClr val="535151"/>
                </a:solidFill>
              </a:rPr>
              <a:t> </a:t>
            </a:r>
            <a:br>
              <a:rPr lang="de-DE" sz="1800" b="1" dirty="0">
                <a:solidFill>
                  <a:srgbClr val="535151"/>
                </a:solidFill>
              </a:rPr>
            </a:br>
            <a:endParaRPr lang="de-DE" sz="1800" b="1" dirty="0">
              <a:solidFill>
                <a:srgbClr val="535151"/>
              </a:solidFill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800" b="1" dirty="0">
                <a:solidFill>
                  <a:srgbClr val="535151"/>
                </a:solidFill>
              </a:rPr>
              <a:t>Im englischen lautet dies </a:t>
            </a:r>
            <a:r>
              <a:rPr lang="de-DE" sz="1800" b="1" dirty="0">
                <a:solidFill>
                  <a:srgbClr val="008891"/>
                </a:solidFill>
              </a:rPr>
              <a:t>„a </a:t>
            </a:r>
            <a:r>
              <a:rPr lang="de-DE" sz="1800" b="1" dirty="0" err="1">
                <a:solidFill>
                  <a:srgbClr val="008891"/>
                </a:solidFill>
              </a:rPr>
              <a:t>attends</a:t>
            </a:r>
            <a:r>
              <a:rPr lang="de-DE" sz="1800" b="1" dirty="0">
                <a:solidFill>
                  <a:srgbClr val="008891"/>
                </a:solidFill>
              </a:rPr>
              <a:t> </a:t>
            </a:r>
            <a:r>
              <a:rPr lang="de-DE" sz="1800" b="1" dirty="0" err="1">
                <a:solidFill>
                  <a:srgbClr val="008891"/>
                </a:solidFill>
              </a:rPr>
              <a:t>to</a:t>
            </a:r>
            <a:r>
              <a:rPr lang="de-DE" sz="1800" b="1" dirty="0">
                <a:solidFill>
                  <a:srgbClr val="008891"/>
                </a:solidFill>
              </a:rPr>
              <a:t> b“:</a:t>
            </a:r>
            <a:br>
              <a:rPr lang="de-DE" sz="1800" b="1" dirty="0">
                <a:solidFill>
                  <a:srgbClr val="535151"/>
                </a:solidFill>
              </a:rPr>
            </a:br>
            <a:r>
              <a:rPr lang="de-DE" sz="1800" b="1" dirty="0">
                <a:solidFill>
                  <a:srgbClr val="6001AD"/>
                </a:solidFill>
              </a:rPr>
              <a:t>„Das Wort a schenkt dem Wort b Aufmerksamkeit“.</a:t>
            </a:r>
            <a:endParaRPr sz="1800" b="1" dirty="0">
              <a:solidFill>
                <a:srgbClr val="6001AD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4252A9E-AD1E-1435-9CCF-501FCCF42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91972"/>
            <a:ext cx="363794" cy="407341"/>
          </a:xfrm>
        </p:spPr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86B418D-4F87-CA3F-8F4A-2EAFF54CE8F6}"/>
              </a:ext>
            </a:extLst>
          </p:cNvPr>
          <p:cNvSpPr txBox="1"/>
          <p:nvPr/>
        </p:nvSpPr>
        <p:spPr>
          <a:xfrm>
            <a:off x="525582" y="1063891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Grundidee: Wortbedeutung durch Kontext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Wortbezüge</a:t>
            </a:r>
          </a:p>
        </p:txBody>
      </p:sp>
      <p:pic>
        <p:nvPicPr>
          <p:cNvPr id="13" name="Grafik 12" descr="Ein Bild, das Haustier, Hunderasse, Hund, Säugetier enthält.&#10;&#10;Automatisch generierte Beschreibung">
            <a:extLst>
              <a:ext uri="{FF2B5EF4-FFF2-40B4-BE49-F238E27FC236}">
                <a16:creationId xmlns:a16="http://schemas.microsoft.com/office/drawing/2014/main" id="{EBA90AF3-9986-838E-3A74-38526EBBE7D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629" t="7841" r="11470" b="7258"/>
          <a:stretch/>
        </p:blipFill>
        <p:spPr>
          <a:xfrm>
            <a:off x="8140000" y="3179881"/>
            <a:ext cx="2880000" cy="2880000"/>
          </a:xfrm>
          <a:prstGeom prst="ellipse">
            <a:avLst/>
          </a:prstGeom>
          <a:ln w="63500" cap="rnd">
            <a:noFill/>
          </a:ln>
          <a:effectLst>
            <a:outerShdw blurRad="228600" dir="13500000" sy="23000" kx="1200000" algn="br" rotWithShape="0">
              <a:srgbClr val="003C72">
                <a:alpha val="34000"/>
              </a:srgbClr>
            </a:outerShdw>
          </a:effectLst>
        </p:spPr>
      </p:pic>
      <p:sp>
        <p:nvSpPr>
          <p:cNvPr id="15" name="Google Shape;200;p10">
            <a:extLst>
              <a:ext uri="{FF2B5EF4-FFF2-40B4-BE49-F238E27FC236}">
                <a16:creationId xmlns:a16="http://schemas.microsoft.com/office/drawing/2014/main" id="{FCD9E750-1DCC-27AC-0027-C392B83F1608}"/>
              </a:ext>
            </a:extLst>
          </p:cNvPr>
          <p:cNvSpPr/>
          <p:nvPr/>
        </p:nvSpPr>
        <p:spPr>
          <a:xfrm rot="11483751" flipV="1">
            <a:off x="2275093" y="4409616"/>
            <a:ext cx="1982978" cy="835741"/>
          </a:xfrm>
          <a:prstGeom prst="arc">
            <a:avLst>
              <a:gd name="adj1" fmla="val 10799015"/>
              <a:gd name="adj2" fmla="val 13534300"/>
            </a:avLst>
          </a:prstGeom>
          <a:noFill/>
          <a:ln w="28575" cap="flat" cmpd="sng">
            <a:solidFill>
              <a:srgbClr val="008891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2C5A717-DA42-8D00-7E99-9C1268CE9E4B}"/>
              </a:ext>
            </a:extLst>
          </p:cNvPr>
          <p:cNvSpPr txBox="1"/>
          <p:nvPr/>
        </p:nvSpPr>
        <p:spPr>
          <a:xfrm rot="21136568">
            <a:off x="2494856" y="4211742"/>
            <a:ext cx="218361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rgbClr val="008891"/>
                </a:solidFill>
                <a:latin typeface="Smash" pitchFamily="2" charset="0"/>
              </a:rPr>
              <a:t>Daher „Attention“!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8D611AE-A7EA-8D0B-E5B8-6671259DC770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A7A7202-368C-E1D1-7643-34D3D08CB4E8}"/>
              </a:ext>
            </a:extLst>
          </p:cNvPr>
          <p:cNvSpPr txBox="1"/>
          <p:nvPr/>
        </p:nvSpPr>
        <p:spPr>
          <a:xfrm>
            <a:off x="761177" y="2088714"/>
            <a:ext cx="10281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800" b="1" kern="1200" spc="-90">
                <a:solidFill>
                  <a:schemeClr val="bg2">
                    <a:lumMod val="50000"/>
                  </a:schemeClr>
                </a:solidFill>
                <a:effectLst/>
                <a:latin typeface="Frutiger LT 45 Light" panose="020B0500000000000000" pitchFamily="34" charset="0"/>
              </a:defRPr>
            </a:lvl1pPr>
          </a:lstStyle>
          <a:p>
            <a:r>
              <a:rPr lang="de-DE" sz="3200" dirty="0">
                <a:latin typeface="Noto Sans Semibold"/>
              </a:rPr>
              <a:t>„Alex‘ Welpe Toni ist so aufgedreht, sie ist ständig am Wuseln.“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>
            <a:spLocks noGrp="1"/>
          </p:cNvSpPr>
          <p:nvPr>
            <p:ph type="body" idx="1"/>
          </p:nvPr>
        </p:nvSpPr>
        <p:spPr>
          <a:xfrm>
            <a:off x="2731868" y="3484452"/>
            <a:ext cx="6567947" cy="2462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rgbClr val="535151"/>
                </a:solidFill>
              </a:rPr>
              <a:t> </a:t>
            </a:r>
            <a:endParaRPr b="1" dirty="0">
              <a:solidFill>
                <a:srgbClr val="535151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4252A9E-AD1E-1435-9CCF-501FCCF42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91972"/>
            <a:ext cx="363794" cy="407341"/>
          </a:xfrm>
        </p:spPr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86B418D-4F87-CA3F-8F4A-2EAFF54CE8F6}"/>
              </a:ext>
            </a:extLst>
          </p:cNvPr>
          <p:cNvSpPr txBox="1"/>
          <p:nvPr/>
        </p:nvSpPr>
        <p:spPr>
          <a:xfrm>
            <a:off x="525582" y="1063891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rgbClr val="545454"/>
                </a:solidFill>
                <a:effectLst/>
                <a:latin typeface="Noto Sans Semibold"/>
              </a:rPr>
              <a:t>Transformer arbeiten kontextuell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Bezüge vo</a:t>
            </a:r>
            <a:r>
              <a:rPr lang="de-DE" sz="1800" b="1" kern="1200" spc="-90" dirty="0">
                <a:solidFill>
                  <a:srgbClr val="008891"/>
                </a:solidFill>
                <a:latin typeface="Noto Sans Semibold"/>
              </a:rPr>
              <a:t>n Wörtern zueinander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sp>
        <p:nvSpPr>
          <p:cNvPr id="6" name="Google Shape;136;p5">
            <a:extLst>
              <a:ext uri="{FF2B5EF4-FFF2-40B4-BE49-F238E27FC236}">
                <a16:creationId xmlns:a16="http://schemas.microsoft.com/office/drawing/2014/main" id="{27EA5D0D-7D46-F93F-0456-646B8B0FBC8F}"/>
              </a:ext>
            </a:extLst>
          </p:cNvPr>
          <p:cNvSpPr txBox="1">
            <a:spLocks/>
          </p:cNvSpPr>
          <p:nvPr/>
        </p:nvSpPr>
        <p:spPr>
          <a:xfrm>
            <a:off x="1011090" y="2941516"/>
            <a:ext cx="9615148" cy="3621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b="1" dirty="0">
                <a:solidFill>
                  <a:srgbClr val="535151"/>
                </a:solidFill>
                <a:latin typeface="Noto Sans Semibold"/>
              </a:rPr>
              <a:t>Der Kontext eines Textes ergibt sich aus verschiedenen Faktoren, hauptsächlich durch die umgebenden Wörter, die Stilistik usw. </a:t>
            </a:r>
            <a:br>
              <a:rPr lang="de-DE" b="1" dirty="0">
                <a:solidFill>
                  <a:srgbClr val="535151"/>
                </a:solidFill>
                <a:latin typeface="Noto Sans Semibold"/>
              </a:rPr>
            </a:br>
            <a:endParaRPr lang="de-DE" sz="1200" b="1" dirty="0">
              <a:solidFill>
                <a:srgbClr val="535151"/>
              </a:solidFill>
              <a:latin typeface="Noto Sans Semibold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b="1" dirty="0">
                <a:solidFill>
                  <a:srgbClr val="535151"/>
                </a:solidFill>
                <a:latin typeface="Noto Sans Semibold"/>
              </a:rPr>
              <a:t>Der Kontext ist für das Verständnis eines Textes unerlässlich,  er ermöglicht es, die Botschaft eines Textes zu erfassen.</a:t>
            </a:r>
            <a:br>
              <a:rPr lang="de-DE" b="1" dirty="0">
                <a:solidFill>
                  <a:srgbClr val="535151"/>
                </a:solidFill>
                <a:latin typeface="Noto Sans Semibold"/>
              </a:rPr>
            </a:br>
            <a:endParaRPr lang="de-DE" sz="1200" b="1" dirty="0">
              <a:solidFill>
                <a:srgbClr val="535151"/>
              </a:solidFill>
              <a:latin typeface="Noto Sans Semibold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b="1" dirty="0">
                <a:solidFill>
                  <a:srgbClr val="535151"/>
                </a:solidFill>
                <a:latin typeface="Noto Sans Semibold"/>
              </a:rPr>
              <a:t>Deshalb arbeitet ein Transformer kontextuell. Titel des Originalartikels:</a:t>
            </a:r>
            <a:br>
              <a:rPr lang="de-DE" b="1" dirty="0">
                <a:solidFill>
                  <a:srgbClr val="535151"/>
                </a:solidFill>
                <a:latin typeface="Noto Sans Semibold"/>
              </a:rPr>
            </a:br>
            <a:r>
              <a:rPr lang="de-DE" sz="1200" b="1" dirty="0">
                <a:solidFill>
                  <a:srgbClr val="535151"/>
                </a:solidFill>
                <a:latin typeface="Noto Sans Semibold"/>
              </a:rPr>
              <a:t> </a:t>
            </a:r>
            <a:br>
              <a:rPr lang="de-DE" b="1" dirty="0">
                <a:solidFill>
                  <a:srgbClr val="535151"/>
                </a:solidFill>
                <a:latin typeface="Noto Sans Semibold"/>
              </a:rPr>
            </a:br>
            <a:r>
              <a:rPr lang="de-DE" sz="2800" b="1" dirty="0">
                <a:solidFill>
                  <a:srgbClr val="C00000"/>
                </a:solidFill>
                <a:latin typeface="Noto Sans Semibold"/>
              </a:rPr>
              <a:t>		     „Attention </a:t>
            </a:r>
            <a:r>
              <a:rPr lang="de-DE" sz="2800" b="1" dirty="0" err="1">
                <a:solidFill>
                  <a:srgbClr val="C00000"/>
                </a:solidFill>
                <a:latin typeface="Noto Sans Semibold"/>
              </a:rPr>
              <a:t>is</a:t>
            </a:r>
            <a:r>
              <a:rPr lang="de-DE" sz="2800" b="1" dirty="0">
                <a:solidFill>
                  <a:srgbClr val="C00000"/>
                </a:solidFill>
                <a:latin typeface="Noto Sans Semibold"/>
              </a:rPr>
              <a:t> all </a:t>
            </a:r>
            <a:r>
              <a:rPr lang="de-DE" sz="2800" b="1" dirty="0" err="1">
                <a:solidFill>
                  <a:srgbClr val="C00000"/>
                </a:solidFill>
                <a:latin typeface="Noto Sans Semibold"/>
              </a:rPr>
              <a:t>you</a:t>
            </a:r>
            <a:r>
              <a:rPr lang="de-DE" sz="2800" b="1" dirty="0">
                <a:solidFill>
                  <a:srgbClr val="C00000"/>
                </a:solidFill>
                <a:latin typeface="Noto Sans Semibold"/>
              </a:rPr>
              <a:t> </a:t>
            </a:r>
            <a:r>
              <a:rPr lang="de-DE" sz="2800" b="1" dirty="0" err="1">
                <a:solidFill>
                  <a:srgbClr val="C00000"/>
                </a:solidFill>
                <a:latin typeface="Noto Sans Semibold"/>
              </a:rPr>
              <a:t>need</a:t>
            </a:r>
            <a:r>
              <a:rPr lang="de-DE" sz="2800" b="1" dirty="0">
                <a:solidFill>
                  <a:srgbClr val="C00000"/>
                </a:solidFill>
                <a:latin typeface="Noto Sans Semibold"/>
              </a:rPr>
              <a:t>!“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31DB03C-B134-694B-5B1F-25789B49AE8F}"/>
              </a:ext>
            </a:extLst>
          </p:cNvPr>
          <p:cNvSpPr/>
          <p:nvPr/>
        </p:nvSpPr>
        <p:spPr>
          <a:xfrm>
            <a:off x="0" y="5995687"/>
            <a:ext cx="11520488" cy="788067"/>
          </a:xfrm>
          <a:prstGeom prst="rect">
            <a:avLst/>
          </a:prstGeom>
          <a:solidFill>
            <a:srgbClr val="CE1619">
              <a:alpha val="7843"/>
            </a:srgb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01D8A8AE-47C8-6141-1B2D-A3A6D27C4A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Blur/>
                    </a14:imgEffect>
                    <a14:imgEffect>
                      <a14:brightnessContrast bright="6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5277" y="2063117"/>
            <a:ext cx="10406774" cy="749873"/>
          </a:xfrm>
          <a:prstGeom prst="rect">
            <a:avLst/>
          </a:prstGeom>
        </p:spPr>
      </p:pic>
      <p:sp>
        <p:nvSpPr>
          <p:cNvPr id="18" name="Google Shape;200;p10">
            <a:extLst>
              <a:ext uri="{FF2B5EF4-FFF2-40B4-BE49-F238E27FC236}">
                <a16:creationId xmlns:a16="http://schemas.microsoft.com/office/drawing/2014/main" id="{670FFBE6-5CA2-1E05-0800-3A459C874E6D}"/>
              </a:ext>
            </a:extLst>
          </p:cNvPr>
          <p:cNvSpPr/>
          <p:nvPr/>
        </p:nvSpPr>
        <p:spPr>
          <a:xfrm rot="10800000" flipV="1">
            <a:off x="1432593" y="1828800"/>
            <a:ext cx="640597" cy="835741"/>
          </a:xfrm>
          <a:prstGeom prst="arc">
            <a:avLst>
              <a:gd name="adj1" fmla="val 10799015"/>
              <a:gd name="adj2" fmla="val 20673351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chemeClr val="dk1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19" name="Google Shape;200;p10">
            <a:extLst>
              <a:ext uri="{FF2B5EF4-FFF2-40B4-BE49-F238E27FC236}">
                <a16:creationId xmlns:a16="http://schemas.microsoft.com/office/drawing/2014/main" id="{AF759E8C-C05F-F5C2-6F11-0415DBDFDF05}"/>
              </a:ext>
            </a:extLst>
          </p:cNvPr>
          <p:cNvSpPr/>
          <p:nvPr/>
        </p:nvSpPr>
        <p:spPr>
          <a:xfrm rot="10800000" flipV="1">
            <a:off x="2471464" y="1789470"/>
            <a:ext cx="640597" cy="835741"/>
          </a:xfrm>
          <a:prstGeom prst="arc">
            <a:avLst>
              <a:gd name="adj1" fmla="val 10799015"/>
              <a:gd name="adj2" fmla="val 20673351"/>
            </a:avLst>
          </a:prstGeom>
          <a:noFill/>
          <a:ln w="28575" cap="flat" cmpd="sng">
            <a:solidFill>
              <a:srgbClr val="003C72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chemeClr val="dk1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20" name="Google Shape;200;p10">
            <a:extLst>
              <a:ext uri="{FF2B5EF4-FFF2-40B4-BE49-F238E27FC236}">
                <a16:creationId xmlns:a16="http://schemas.microsoft.com/office/drawing/2014/main" id="{59F4FCDA-CCEE-EC85-9262-51DF1E32373C}"/>
              </a:ext>
            </a:extLst>
          </p:cNvPr>
          <p:cNvSpPr/>
          <p:nvPr/>
        </p:nvSpPr>
        <p:spPr>
          <a:xfrm rot="10800000">
            <a:off x="3375119" y="2170369"/>
            <a:ext cx="497287" cy="739230"/>
          </a:xfrm>
          <a:prstGeom prst="arc">
            <a:avLst>
              <a:gd name="adj1" fmla="val 10799015"/>
              <a:gd name="adj2" fmla="val 20673351"/>
            </a:avLst>
          </a:prstGeom>
          <a:noFill/>
          <a:ln w="28575" cap="flat" cmpd="sng">
            <a:solidFill>
              <a:schemeClr val="bg2">
                <a:lumMod val="75000"/>
              </a:schemeClr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chemeClr val="dk1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21" name="Google Shape;200;p10">
            <a:extLst>
              <a:ext uri="{FF2B5EF4-FFF2-40B4-BE49-F238E27FC236}">
                <a16:creationId xmlns:a16="http://schemas.microsoft.com/office/drawing/2014/main" id="{8AE40323-2CDB-7FB1-434A-BAE0BB3A6E0B}"/>
              </a:ext>
            </a:extLst>
          </p:cNvPr>
          <p:cNvSpPr/>
          <p:nvPr/>
        </p:nvSpPr>
        <p:spPr>
          <a:xfrm rot="10800000">
            <a:off x="8180438" y="2102447"/>
            <a:ext cx="1907457" cy="875073"/>
          </a:xfrm>
          <a:prstGeom prst="arc">
            <a:avLst>
              <a:gd name="adj1" fmla="val 10799015"/>
              <a:gd name="adj2" fmla="val 21320592"/>
            </a:avLst>
          </a:prstGeom>
          <a:noFill/>
          <a:ln w="28575" cap="flat" cmpd="sng">
            <a:solidFill>
              <a:srgbClr val="8D5B01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chemeClr val="dk1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22" name="Google Shape;200;p10">
            <a:extLst>
              <a:ext uri="{FF2B5EF4-FFF2-40B4-BE49-F238E27FC236}">
                <a16:creationId xmlns:a16="http://schemas.microsoft.com/office/drawing/2014/main" id="{FF106F4B-99DC-37DB-48C9-A25F4B7B6411}"/>
              </a:ext>
            </a:extLst>
          </p:cNvPr>
          <p:cNvSpPr/>
          <p:nvPr/>
        </p:nvSpPr>
        <p:spPr>
          <a:xfrm rot="10800000" flipV="1">
            <a:off x="3340051" y="1789470"/>
            <a:ext cx="2346242" cy="875071"/>
          </a:xfrm>
          <a:prstGeom prst="arc">
            <a:avLst>
              <a:gd name="adj1" fmla="val 10799015"/>
              <a:gd name="adj2" fmla="val 21587456"/>
            </a:avLst>
          </a:prstGeom>
          <a:noFill/>
          <a:ln w="28575" cap="flat" cmpd="sng">
            <a:solidFill>
              <a:srgbClr val="3B9927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chemeClr val="dk1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7C5B26E-BD1E-D0C6-FD0D-F489B5518E6D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63793" y="6750000"/>
            <a:ext cx="10967821" cy="1942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 dirty="0" err="1">
                <a:solidFill>
                  <a:srgbClr val="6B7280"/>
                </a:solidFill>
              </a:rPr>
              <a:t>Pointiert</a:t>
            </a:r>
            <a:r>
              <a:rPr lang="de-DE" sz="1200" dirty="0">
                <a:solidFill>
                  <a:srgbClr val="6B7280"/>
                </a:solidFill>
              </a:rPr>
              <a:t>er</a:t>
            </a:r>
            <a:r>
              <a:rPr sz="1200" b="0" dirty="0">
                <a:solidFill>
                  <a:srgbClr val="6B7280"/>
                </a:solidFill>
              </a:rPr>
              <a:t>: </a:t>
            </a:r>
            <a:r>
              <a:rPr sz="1200" b="0" dirty="0" err="1">
                <a:solidFill>
                  <a:srgbClr val="6B7280"/>
                </a:solidFill>
              </a:rPr>
              <a:t>Ohne</a:t>
            </a:r>
            <a:r>
              <a:rPr sz="1200" b="0" dirty="0">
                <a:solidFill>
                  <a:srgbClr val="6B7280"/>
                </a:solidFill>
              </a:rPr>
              <a:t> </a:t>
            </a:r>
            <a:r>
              <a:rPr sz="1200" b="0" dirty="0" err="1">
                <a:solidFill>
                  <a:srgbClr val="6B7280"/>
                </a:solidFill>
              </a:rPr>
              <a:t>Residualverbindungen</a:t>
            </a:r>
            <a:r>
              <a:rPr sz="1200" b="0" dirty="0">
                <a:solidFill>
                  <a:srgbClr val="6B7280"/>
                </a:solidFill>
              </a:rPr>
              <a:t> und Feed-Forward-</a:t>
            </a:r>
            <a:r>
              <a:rPr sz="1200" b="0" dirty="0" err="1">
                <a:solidFill>
                  <a:srgbClr val="6B7280"/>
                </a:solidFill>
              </a:rPr>
              <a:t>Netze</a:t>
            </a:r>
            <a:r>
              <a:rPr sz="1200" b="0" dirty="0">
                <a:solidFill>
                  <a:srgbClr val="6B7280"/>
                </a:solidFill>
              </a:rPr>
              <a:t> </a:t>
            </a:r>
            <a:r>
              <a:rPr sz="1200" b="0" dirty="0" err="1">
                <a:solidFill>
                  <a:srgbClr val="6B7280"/>
                </a:solidFill>
              </a:rPr>
              <a:t>verliert</a:t>
            </a:r>
            <a:r>
              <a:rPr sz="1200" b="0" dirty="0">
                <a:solidFill>
                  <a:srgbClr val="6B7280"/>
                </a:solidFill>
              </a:rPr>
              <a:t> </a:t>
            </a:r>
            <a:r>
              <a:rPr sz="1200" b="0" dirty="0" err="1">
                <a:solidFill>
                  <a:srgbClr val="6B7280"/>
                </a:solidFill>
              </a:rPr>
              <a:t>reine</a:t>
            </a:r>
            <a:r>
              <a:rPr sz="1200" b="0" dirty="0">
                <a:solidFill>
                  <a:srgbClr val="6B7280"/>
                </a:solidFill>
              </a:rPr>
              <a:t> Attention </a:t>
            </a:r>
            <a:r>
              <a:rPr sz="1200" b="0" dirty="0" err="1">
                <a:solidFill>
                  <a:srgbClr val="6B7280"/>
                </a:solidFill>
              </a:rPr>
              <a:t>mit</a:t>
            </a:r>
            <a:r>
              <a:rPr sz="1200" b="0" dirty="0">
                <a:solidFill>
                  <a:srgbClr val="6B7280"/>
                </a:solidFill>
              </a:rPr>
              <a:t> </a:t>
            </a:r>
            <a:r>
              <a:rPr sz="1200" b="0" dirty="0" err="1">
                <a:solidFill>
                  <a:srgbClr val="6B7280"/>
                </a:solidFill>
              </a:rPr>
              <a:t>wachsender</a:t>
            </a:r>
            <a:r>
              <a:rPr sz="1200" b="0" dirty="0">
                <a:solidFill>
                  <a:srgbClr val="6B7280"/>
                </a:solidFill>
              </a:rPr>
              <a:t> </a:t>
            </a:r>
            <a:r>
              <a:rPr sz="1200" b="0" dirty="0" err="1">
                <a:solidFill>
                  <a:srgbClr val="6B7280"/>
                </a:solidFill>
              </a:rPr>
              <a:t>Tiefe</a:t>
            </a:r>
            <a:r>
              <a:rPr sz="1200" b="0" dirty="0">
                <a:solidFill>
                  <a:srgbClr val="6B7280"/>
                </a:solidFill>
              </a:rPr>
              <a:t> </a:t>
            </a:r>
            <a:r>
              <a:rPr sz="1200" b="0" dirty="0" err="1">
                <a:solidFill>
                  <a:srgbClr val="6B7280"/>
                </a:solidFill>
              </a:rPr>
              <a:t>ihre</a:t>
            </a:r>
            <a:r>
              <a:rPr sz="1200" b="0" dirty="0">
                <a:solidFill>
                  <a:srgbClr val="6B7280"/>
                </a:solidFill>
              </a:rPr>
              <a:t> </a:t>
            </a:r>
            <a:r>
              <a:rPr sz="1200" b="0" dirty="0" err="1">
                <a:solidFill>
                  <a:srgbClr val="6B7280"/>
                </a:solidFill>
              </a:rPr>
              <a:t>Ausdruckskraft</a:t>
            </a:r>
            <a:r>
              <a:rPr sz="1200" b="0" dirty="0">
                <a:solidFill>
                  <a:srgbClr val="6B7280"/>
                </a:solidFill>
              </a:rPr>
              <a:t> (Dong et al. 2021) → Kap. 4.</a:t>
            </a:r>
          </a:p>
        </p:txBody>
      </p:sp>
    </p:spTree>
    <p:extLst>
      <p:ext uri="{BB962C8B-B14F-4D97-AF65-F5344CB8AC3E}">
        <p14:creationId xmlns:p14="http://schemas.microsoft.com/office/powerpoint/2010/main" val="2063747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5" descr="Diagram of a Transformer"/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9045" t="3528" r="4627" b="7189"/>
          <a:stretch/>
        </p:blipFill>
        <p:spPr>
          <a:xfrm>
            <a:off x="4810990" y="123749"/>
            <a:ext cx="4947390" cy="7075564"/>
          </a:xfrm>
          <a:prstGeom prst="rect">
            <a:avLst/>
          </a:prstGeom>
          <a:noFill/>
          <a:ln w="76200" cap="sq" cmpd="sng">
            <a:noFill/>
            <a:prstDash val="solid"/>
            <a:miter lim="800000"/>
            <a:headEnd type="none" w="sm" len="sm"/>
            <a:tailEnd type="none" w="sm" len="sm"/>
          </a:ln>
          <a:effectLst>
            <a:glow rad="63500">
              <a:schemeClr val="bg1">
                <a:alpha val="79000"/>
              </a:schemeClr>
            </a:glow>
            <a:softEdge rad="0"/>
          </a:effec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27859DE2-D490-428A-7914-46E91BBA433C}"/>
              </a:ext>
            </a:extLst>
          </p:cNvPr>
          <p:cNvSpPr txBox="1"/>
          <p:nvPr/>
        </p:nvSpPr>
        <p:spPr>
          <a:xfrm>
            <a:off x="514598" y="1063891"/>
            <a:ext cx="8815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rgbClr val="545454"/>
                </a:solidFill>
                <a:effectLst/>
                <a:latin typeface="Noto Sans Semibold"/>
              </a:rPr>
              <a:t>Transformer 2017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 „Attention </a:t>
            </a:r>
            <a:r>
              <a:rPr lang="de-DE" sz="1800" b="1" i="0" kern="1200" spc="-90" dirty="0" err="1">
                <a:solidFill>
                  <a:srgbClr val="008891"/>
                </a:solidFill>
                <a:effectLst/>
                <a:latin typeface="Noto Sans Semibold"/>
              </a:rPr>
              <a:t>is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 all </a:t>
            </a:r>
            <a:r>
              <a:rPr lang="de-DE" sz="1800" b="1" i="0" kern="1200" spc="-90" dirty="0" err="1">
                <a:solidFill>
                  <a:srgbClr val="008891"/>
                </a:solidFill>
                <a:effectLst/>
                <a:latin typeface="Noto Sans Semibold"/>
              </a:rPr>
              <a:t>you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 </a:t>
            </a:r>
            <a:r>
              <a:rPr lang="de-DE" sz="1800" b="1" i="0" kern="1200" spc="-90" dirty="0" err="1">
                <a:solidFill>
                  <a:srgbClr val="008891"/>
                </a:solidFill>
                <a:effectLst/>
                <a:latin typeface="Noto Sans Semibold"/>
              </a:rPr>
              <a:t>need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“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355758-32D5-1F90-347B-91E0E43E0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598" y="1552728"/>
            <a:ext cx="7425635" cy="4376148"/>
          </a:xfrm>
        </p:spPr>
        <p:txBody>
          <a:bodyPr lIns="0" tIns="0" rIns="0" bIns="0" anchor="t" anchorCtr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de-DE" sz="1500" b="1" dirty="0">
                <a:solidFill>
                  <a:srgbClr val="535151"/>
                </a:solidFill>
              </a:rPr>
              <a:t>Ursprünglich für maschinelle Übersetzung: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de-DE" sz="1500" b="1" dirty="0">
                <a:solidFill>
                  <a:srgbClr val="535151"/>
                </a:solidFill>
              </a:rPr>
              <a:t>Encoder: liest den Quelltext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de-DE" sz="1500" b="1" dirty="0">
                <a:solidFill>
                  <a:srgbClr val="535151"/>
                </a:solidFill>
              </a:rPr>
              <a:t>Decoder: erzeugt den Zieltext Token für Token</a:t>
            </a:r>
            <a:endParaRPr lang="de-DE" sz="1800" b="1" dirty="0">
              <a:solidFill>
                <a:srgbClr val="535151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br>
              <a:rPr lang="de-DE" sz="1500" b="1" dirty="0">
                <a:solidFill>
                  <a:srgbClr val="535151"/>
                </a:solidFill>
              </a:rPr>
            </a:br>
            <a:r>
              <a:rPr lang="de-DE" sz="1500" b="1" dirty="0">
                <a:solidFill>
                  <a:srgbClr val="535151"/>
                </a:solidFill>
              </a:rPr>
              <a:t>Jeder Block enthält: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de-DE" sz="1500" b="1" dirty="0">
                <a:solidFill>
                  <a:srgbClr val="535151"/>
                </a:solidFill>
              </a:rPr>
              <a:t>1. Multi-Head-Attention, im Decoder maskiert, 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de-DE" sz="1500" b="1" dirty="0">
                <a:solidFill>
                  <a:srgbClr val="535151"/>
                </a:solidFill>
              </a:rPr>
              <a:t>Cross-Attention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de-DE" sz="1500" b="1" dirty="0">
                <a:solidFill>
                  <a:srgbClr val="535151"/>
                </a:solidFill>
              </a:rPr>
              <a:t>2. Feed-Forward-Netz (FFN)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de-DE" sz="1500" b="1" dirty="0">
                <a:solidFill>
                  <a:srgbClr val="535151"/>
                </a:solidFill>
              </a:rPr>
              <a:t>3. Residualverbindung + </a:t>
            </a:r>
            <a:r>
              <a:rPr lang="de-DE" sz="1500" b="1" dirty="0" err="1">
                <a:solidFill>
                  <a:srgbClr val="535151"/>
                </a:solidFill>
              </a:rPr>
              <a:t>LayerNorm</a:t>
            </a:r>
            <a:endParaRPr lang="de-DE" sz="1800" b="1" i="1" dirty="0">
              <a:solidFill>
                <a:srgbClr val="003C72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de-DE" sz="1500" b="1" dirty="0">
                <a:solidFill>
                  <a:srgbClr val="535151"/>
                </a:solidFill>
              </a:rPr>
              <a:t>Davor: 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008891"/>
              </a:buClr>
            </a:pPr>
            <a:r>
              <a:rPr lang="de-DE" sz="1500" b="1" dirty="0">
                <a:solidFill>
                  <a:srgbClr val="535151"/>
                </a:solidFill>
              </a:rPr>
              <a:t>Token-Embedding + 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008891"/>
              </a:buClr>
            </a:pPr>
            <a:r>
              <a:rPr lang="de-DE" sz="1500" b="1" dirty="0" err="1">
                <a:solidFill>
                  <a:srgbClr val="535151"/>
                </a:solidFill>
              </a:rPr>
              <a:t>Positional</a:t>
            </a:r>
            <a:r>
              <a:rPr lang="de-DE" sz="1500" b="1" dirty="0">
                <a:solidFill>
                  <a:srgbClr val="535151"/>
                </a:solidFill>
              </a:rPr>
              <a:t> Encoding 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008891"/>
              </a:buClr>
            </a:pPr>
            <a:r>
              <a:rPr lang="de-DE" sz="1500" b="1" dirty="0">
                <a:solidFill>
                  <a:srgbClr val="535151"/>
                </a:solidFill>
              </a:rPr>
              <a:t>Linear + Softmax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 r:embed="rId7"/>
              </a:buBlip>
            </a:pPr>
            <a:endParaRPr lang="de-DE" sz="1800" b="1" dirty="0">
              <a:solidFill>
                <a:srgbClr val="535151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de-DE" sz="1800" b="1" dirty="0">
              <a:solidFill>
                <a:srgbClr val="535151"/>
              </a:solidFill>
            </a:endParaRPr>
          </a:p>
          <a:p>
            <a:endParaRPr lang="de-DE" sz="18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960EB35-5D10-D243-F179-8F2EA958EB87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10" name="Google Shape;135;p5">
            <a:extLst>
              <a:ext uri="{FF2B5EF4-FFF2-40B4-BE49-F238E27FC236}">
                <a16:creationId xmlns:a16="http://schemas.microsoft.com/office/drawing/2014/main" id="{47575CF8-F8D2-96E4-584E-C032561C21A4}"/>
              </a:ext>
            </a:extLst>
          </p:cNvPr>
          <p:cNvSpPr txBox="1">
            <a:spLocks/>
          </p:cNvSpPr>
          <p:nvPr/>
        </p:nvSpPr>
        <p:spPr>
          <a:xfrm>
            <a:off x="514598" y="6520339"/>
            <a:ext cx="7009077" cy="55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  <a:defRPr sz="3600" b="0" i="0" u="none" strike="noStrike" cap="none">
                <a:solidFill>
                  <a:srgbClr val="FFFFFF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600"/>
            </a:pPr>
            <a:r>
              <a:rPr lang="en-US" sz="1600" i="1" dirty="0">
                <a:solidFill>
                  <a:schemeClr val="dk1"/>
                </a:solidFill>
                <a:latin typeface="Noto Sans Semibold"/>
              </a:rPr>
              <a:t>VASWANI, Ashish, et al. Attention is all you need.</a:t>
            </a:r>
            <a:br>
              <a:rPr lang="en-US" sz="1600" i="1" dirty="0">
                <a:solidFill>
                  <a:schemeClr val="dk1"/>
                </a:solidFill>
                <a:latin typeface="Noto Sans Semibold"/>
              </a:rPr>
            </a:br>
            <a:r>
              <a:rPr lang="en-US" sz="1600" i="1" dirty="0">
                <a:solidFill>
                  <a:schemeClr val="dk1"/>
                </a:solidFill>
                <a:latin typeface="Noto Sans Semibold"/>
              </a:rPr>
              <a:t>Advances in neural information processing systems, 2017, 30. Jg.</a:t>
            </a:r>
            <a:endParaRPr lang="de-DE" sz="1600" i="1" dirty="0">
              <a:latin typeface="Noto Sans Semibold"/>
            </a:endParaRPr>
          </a:p>
        </p:txBody>
      </p:sp>
      <p:sp>
        <p:nvSpPr>
          <p:cNvPr id="139" name="TextBox 138"/>
          <p:cNvSpPr txBox="1"/>
          <p:nvPr/>
        </p:nvSpPr>
        <p:spPr>
          <a:xfrm rot="5400000">
            <a:off x="6968380" y="3941719"/>
            <a:ext cx="5580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 dirty="0">
                <a:solidFill>
                  <a:srgbClr val="008891"/>
                </a:solidFill>
              </a:rPr>
              <a:t>Base-Modell: N = 6 </a:t>
            </a:r>
            <a:r>
              <a:rPr sz="1300" b="1" dirty="0" err="1">
                <a:solidFill>
                  <a:srgbClr val="008891"/>
                </a:solidFill>
              </a:rPr>
              <a:t>Blöcke</a:t>
            </a:r>
            <a:r>
              <a:rPr sz="1300" b="1" dirty="0">
                <a:solidFill>
                  <a:srgbClr val="008891"/>
                </a:solidFill>
              </a:rPr>
              <a:t>, </a:t>
            </a:r>
            <a:r>
              <a:rPr sz="1300" b="1" dirty="0" err="1">
                <a:solidFill>
                  <a:srgbClr val="008891"/>
                </a:solidFill>
              </a:rPr>
              <a:t>d</a:t>
            </a:r>
            <a:r>
              <a:rPr sz="1300" b="1" baseline="-25000" dirty="0" err="1">
                <a:solidFill>
                  <a:srgbClr val="008891"/>
                </a:solidFill>
              </a:rPr>
              <a:t>model</a:t>
            </a:r>
            <a:r>
              <a:rPr sz="1300" b="1" dirty="0">
                <a:solidFill>
                  <a:srgbClr val="008891"/>
                </a:solidFill>
              </a:rPr>
              <a:t> = 512, h = 8 </a:t>
            </a:r>
            <a:r>
              <a:rPr sz="1300" b="1" dirty="0" err="1">
                <a:solidFill>
                  <a:srgbClr val="008891"/>
                </a:solidFill>
              </a:rPr>
              <a:t>Köpfe</a:t>
            </a:r>
            <a:r>
              <a:rPr sz="1300" b="1" dirty="0">
                <a:solidFill>
                  <a:srgbClr val="008891"/>
                </a:solidFill>
              </a:rPr>
              <a:t>, </a:t>
            </a:r>
            <a:r>
              <a:rPr sz="1300" b="1" dirty="0" err="1">
                <a:solidFill>
                  <a:srgbClr val="008891"/>
                </a:solidFill>
              </a:rPr>
              <a:t>d</a:t>
            </a:r>
            <a:r>
              <a:rPr sz="1300" b="1" baseline="-25000" dirty="0" err="1">
                <a:solidFill>
                  <a:srgbClr val="008891"/>
                </a:solidFill>
              </a:rPr>
              <a:t>ff</a:t>
            </a:r>
            <a:r>
              <a:rPr sz="1300" b="1" dirty="0">
                <a:solidFill>
                  <a:srgbClr val="008891"/>
                </a:solidFill>
              </a:rPr>
              <a:t> = 2048</a:t>
            </a:r>
          </a:p>
        </p:txBody>
      </p:sp>
    </p:spTree>
    <p:extLst>
      <p:ext uri="{BB962C8B-B14F-4D97-AF65-F5344CB8AC3E}">
        <p14:creationId xmlns:p14="http://schemas.microsoft.com/office/powerpoint/2010/main" val="1795472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Überblick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Ein Decoder-only-Transformer (GPT, GuppyLM)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68000" y="2015999"/>
            <a:ext cx="1440000" cy="1007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500" b="1">
                <a:solidFill>
                  <a:srgbClr val="374151"/>
                </a:solidFill>
              </a:rPr>
              <a:t>Text</a:t>
            </a:r>
          </a:p>
          <a:p>
            <a:pPr algn="ctr"/>
            <a:r>
              <a:rPr sz="1100" b="0">
                <a:solidFill>
                  <a:srgbClr val="374151"/>
                </a:solidFill>
              </a:rPr>
              <a:t>„Gut Ding braucht“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3078000"/>
            <a:ext cx="144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1925999" y="2520000"/>
            <a:ext cx="144001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88000" y="2015999"/>
            <a:ext cx="1440000" cy="1007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8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500" b="1">
                <a:solidFill>
                  <a:srgbClr val="374151"/>
                </a:solidFill>
              </a:rPr>
              <a:t>Tokenizer</a:t>
            </a:r>
          </a:p>
          <a:p>
            <a:pPr algn="ctr"/>
            <a:r>
              <a:rPr sz="1100" b="0">
                <a:solidFill>
                  <a:srgbClr val="374151"/>
                </a:solidFill>
              </a:rPr>
              <a:t>Text → Token-IDs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8000" y="3078000"/>
            <a:ext cx="144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</a:rPr>
              <a:t>Kap. 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46000" y="2520000"/>
            <a:ext cx="14400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08000" y="2015999"/>
            <a:ext cx="1440000" cy="1007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8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500" b="1">
                <a:solidFill>
                  <a:srgbClr val="374151"/>
                </a:solidFill>
              </a:rPr>
              <a:t>Embedding</a:t>
            </a:r>
          </a:p>
          <a:p>
            <a:pPr algn="ctr"/>
            <a:r>
              <a:rPr sz="1100" b="0">
                <a:solidFill>
                  <a:srgbClr val="374151"/>
                </a:solidFill>
              </a:rPr>
              <a:t>+ 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8000" y="3078000"/>
            <a:ext cx="144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</a:rPr>
              <a:t>Kap. 1 + 2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66000" y="2520000"/>
            <a:ext cx="14400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28000" y="2015999"/>
            <a:ext cx="1980000" cy="1007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0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500" b="1">
                <a:solidFill>
                  <a:srgbClr val="374151"/>
                </a:solidFill>
              </a:rPr>
              <a:t>N Blöcke</a:t>
            </a:r>
          </a:p>
          <a:p>
            <a:pPr algn="ctr"/>
            <a:r>
              <a:rPr sz="1100" b="0">
                <a:solidFill>
                  <a:srgbClr val="374151"/>
                </a:solidFill>
              </a:rPr>
              <a:t>Attention + FFN</a:t>
            </a:r>
          </a:p>
          <a:p>
            <a:pPr algn="ctr"/>
            <a:r>
              <a:rPr sz="1100" b="0">
                <a:solidFill>
                  <a:srgbClr val="374151"/>
                </a:solidFill>
              </a:rPr>
              <a:t>mit Residual &amp; Norm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8000" y="3078000"/>
            <a:ext cx="198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</a:rPr>
              <a:t>Kap. 3 + 4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26000" y="2520000"/>
            <a:ext cx="14400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88000" y="2015999"/>
            <a:ext cx="1440000" cy="1007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8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500" b="1">
                <a:solidFill>
                  <a:srgbClr val="374151"/>
                </a:solidFill>
              </a:rPr>
              <a:t>LayerNorm</a:t>
            </a:r>
          </a:p>
          <a:p>
            <a:pPr algn="ctr"/>
            <a:r>
              <a:rPr sz="1100" b="0">
                <a:solidFill>
                  <a:srgbClr val="374151"/>
                </a:solidFill>
              </a:rPr>
              <a:t>→ LM-Head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8000" y="3078000"/>
            <a:ext cx="144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</a:rPr>
              <a:t>Kap. 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46000" y="2520000"/>
            <a:ext cx="14400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08000" y="2015999"/>
            <a:ext cx="2015999" cy="1007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8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500" b="1">
                <a:solidFill>
                  <a:srgbClr val="374151"/>
                </a:solidFill>
              </a:rPr>
              <a:t>Softmax</a:t>
            </a:r>
          </a:p>
          <a:p>
            <a:pPr algn="ctr"/>
            <a:r>
              <a:rPr sz="1100" b="0">
                <a:solidFill>
                  <a:srgbClr val="374151"/>
                </a:solidFill>
              </a:rPr>
              <a:t>P(nächstes Token)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8000" y="3078000"/>
            <a:ext cx="2015999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</a:rPr>
              <a:t>Kap. 5 –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000" y="3600000"/>
            <a:ext cx="1080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6001AD"/>
                </a:solidFill>
              </a:rPr>
              <a:t>Ein Block (Pre-LN wie GPT-2 und Guppy):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000" y="3960000"/>
            <a:ext cx="1007999" cy="503999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600" b="1">
                <a:solidFill>
                  <a:srgbClr val="374151"/>
                </a:solidFill>
              </a:rPr>
              <a:t>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00000" y="3960000"/>
            <a:ext cx="1007999" cy="503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8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rgbClr val="374151"/>
                </a:solidFill>
              </a:rPr>
              <a:t>LayerNorm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96000" y="3960000"/>
            <a:ext cx="1944000" cy="503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0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rgbClr val="374151"/>
                </a:solidFill>
              </a:rPr>
              <a:t>Masked Multi-Head</a:t>
            </a:r>
          </a:p>
          <a:p>
            <a:pPr algn="ctr"/>
            <a:r>
              <a:rPr sz="1200" b="1">
                <a:solidFill>
                  <a:srgbClr val="374151"/>
                </a:solidFill>
              </a:rPr>
              <a:t>Attention</a:t>
            </a:r>
          </a:p>
        </p:txBody>
      </p:sp>
      <p:sp>
        <p:nvSpPr>
          <p:cNvPr id="26" name="Oval 25"/>
          <p:cNvSpPr/>
          <p:nvPr/>
        </p:nvSpPr>
        <p:spPr>
          <a:xfrm>
            <a:off x="5328000" y="3960000"/>
            <a:ext cx="503999" cy="50399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800" b="1">
                <a:solidFill>
                  <a:srgbClr val="374151"/>
                </a:solidFill>
              </a:rPr>
              <a:t>+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0000" y="3960000"/>
            <a:ext cx="1007999" cy="503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8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rgbClr val="374151"/>
                </a:solidFill>
              </a:rPr>
              <a:t>LayerNorm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16000" y="3960000"/>
            <a:ext cx="1296000" cy="503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0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rgbClr val="374151"/>
                </a:solidFill>
              </a:rPr>
              <a:t>FFN</a:t>
            </a:r>
          </a:p>
        </p:txBody>
      </p:sp>
      <p:sp>
        <p:nvSpPr>
          <p:cNvPr id="29" name="Oval 28"/>
          <p:cNvSpPr/>
          <p:nvPr/>
        </p:nvSpPr>
        <p:spPr>
          <a:xfrm>
            <a:off x="9000000" y="3960000"/>
            <a:ext cx="503999" cy="50399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800" b="1">
                <a:solidFill>
                  <a:srgbClr val="374151"/>
                </a:solidFill>
              </a:rPr>
              <a:t>+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92000" y="3960000"/>
            <a:ext cx="1224000" cy="503999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100" b="1">
                <a:solidFill>
                  <a:srgbClr val="374151"/>
                </a:solidFill>
              </a:rPr>
              <a:t>zum nächsten Block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475999" y="4212000"/>
            <a:ext cx="324001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808000" y="4212000"/>
            <a:ext cx="288000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040000" y="4212000"/>
            <a:ext cx="288000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832000" y="4212000"/>
            <a:ext cx="288000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28000" y="4212000"/>
            <a:ext cx="288000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712000" y="4212000"/>
            <a:ext cx="288000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504000" y="4212000"/>
            <a:ext cx="288000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72000" y="3870000"/>
            <a:ext cx="0" cy="90000"/>
          </a:xfrm>
          <a:prstGeom prst="line">
            <a:avLst/>
          </a:prstGeom>
          <a:ln w="22225">
            <a:solidFill>
              <a:srgbClr val="F59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72000" y="3870000"/>
            <a:ext cx="4608000" cy="0"/>
          </a:xfrm>
          <a:prstGeom prst="line">
            <a:avLst/>
          </a:prstGeom>
          <a:ln w="22225">
            <a:solidFill>
              <a:srgbClr val="F59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580000" y="3870000"/>
            <a:ext cx="0" cy="90000"/>
          </a:xfrm>
          <a:prstGeom prst="line">
            <a:avLst/>
          </a:prstGeom>
          <a:ln w="22225">
            <a:solidFill>
              <a:srgbClr val="F59E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580000" y="4464000"/>
            <a:ext cx="0" cy="108000"/>
          </a:xfrm>
          <a:prstGeom prst="line">
            <a:avLst/>
          </a:prstGeom>
          <a:ln w="22225">
            <a:solidFill>
              <a:srgbClr val="F59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580000" y="4572000"/>
            <a:ext cx="3672000" cy="0"/>
          </a:xfrm>
          <a:prstGeom prst="line">
            <a:avLst/>
          </a:prstGeom>
          <a:ln w="22225">
            <a:solidFill>
              <a:srgbClr val="F59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252000" y="4464000"/>
            <a:ext cx="0" cy="108000"/>
          </a:xfrm>
          <a:prstGeom prst="line">
            <a:avLst/>
          </a:prstGeom>
          <a:ln w="22225">
            <a:solidFill>
              <a:srgbClr val="F59E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160000" y="4590000"/>
            <a:ext cx="3240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F59E00"/>
                </a:solidFill>
              </a:rPr>
              <a:t>Residualverbindung (Addition)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468000" y="5040000"/>
          <a:ext cx="10548000" cy="129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74151"/>
                          </a:solidFill>
                        </a:rPr>
                        <a:t>Vokabular V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74151"/>
                          </a:solidFill>
                        </a:rPr>
                        <a:t>d_model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74151"/>
                          </a:solidFill>
                        </a:rPr>
                        <a:t>Blöcke N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74151"/>
                          </a:solidFill>
                        </a:rPr>
                        <a:t>Köpfe h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74151"/>
                          </a:solidFill>
                        </a:rPr>
                        <a:t>d_ff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74151"/>
                          </a:solidFill>
                        </a:rPr>
                        <a:t>Kontext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74151"/>
                          </a:solidFill>
                        </a:rPr>
                        <a:t>Parameter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</a:rPr>
                        <a:t>GuppyLM (Lehrnotebook)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2 597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384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1 536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128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11,7 Mio.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</a:rPr>
                        <a:t>GPT-3 175B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–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12 288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96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96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49 152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2 048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175 Mrd.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522000" y="6480000"/>
            <a:ext cx="10620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Guppy: Ausgaben des Lehrnotebooks.  GPT-3: Brown et al. (2020), Tab. 2.1 und Abschn. 2.1 (d_ff = 4·d_model, n_ctx = 2048).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0. Tokenisierung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Das Modell sieht Tokens, nicht Wörter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999" y="1626999"/>
            <a:ext cx="10148819" cy="29582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sz="1600" b="1" dirty="0">
                <a:solidFill>
                  <a:srgbClr val="374151"/>
                </a:solidFill>
              </a:rPr>
              <a:t>Byte Pair Encoding (BPE): Start </a:t>
            </a:r>
            <a:r>
              <a:rPr sz="1600" b="1" dirty="0" err="1">
                <a:solidFill>
                  <a:srgbClr val="374151"/>
                </a:solidFill>
              </a:rPr>
              <a:t>mit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einzelnen</a:t>
            </a:r>
            <a:r>
              <a:rPr sz="1600" b="1" dirty="0">
                <a:solidFill>
                  <a:srgbClr val="374151"/>
                </a:solidFill>
              </a:rPr>
              <a:t> Bytes/</a:t>
            </a:r>
            <a:r>
              <a:rPr sz="1600" b="1" dirty="0" err="1">
                <a:solidFill>
                  <a:srgbClr val="374151"/>
                </a:solidFill>
              </a:rPr>
              <a:t>Zeichen</a:t>
            </a:r>
            <a:r>
              <a:rPr sz="1600" b="1" dirty="0">
                <a:solidFill>
                  <a:srgbClr val="374151"/>
                </a:solidFill>
              </a:rPr>
              <a:t>; das </a:t>
            </a:r>
            <a:r>
              <a:rPr sz="1600" b="1" dirty="0" err="1">
                <a:solidFill>
                  <a:srgbClr val="374151"/>
                </a:solidFill>
              </a:rPr>
              <a:t>häufigste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benachbarte</a:t>
            </a:r>
            <a:r>
              <a:rPr sz="1600" b="1" dirty="0">
                <a:solidFill>
                  <a:srgbClr val="374151"/>
                </a:solidFill>
              </a:rPr>
              <a:t> Paar </a:t>
            </a:r>
            <a:r>
              <a:rPr sz="1600" b="1" dirty="0" err="1">
                <a:solidFill>
                  <a:srgbClr val="374151"/>
                </a:solidFill>
              </a:rPr>
              <a:t>wird</a:t>
            </a:r>
            <a:r>
              <a:rPr sz="1600" b="1" dirty="0">
                <a:solidFill>
                  <a:srgbClr val="374151"/>
                </a:solidFill>
              </a:rPr>
              <a:t> immer </a:t>
            </a:r>
            <a:r>
              <a:rPr sz="1600" b="1" dirty="0" err="1">
                <a:solidFill>
                  <a:srgbClr val="374151"/>
                </a:solidFill>
              </a:rPr>
              <a:t>wieder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zu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einem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neuen</a:t>
            </a:r>
            <a:r>
              <a:rPr sz="1600" b="1" dirty="0">
                <a:solidFill>
                  <a:srgbClr val="374151"/>
                </a:solidFill>
              </a:rPr>
              <a:t> Token </a:t>
            </a:r>
            <a:r>
              <a:rPr sz="1600" b="1" dirty="0" err="1">
                <a:solidFill>
                  <a:srgbClr val="374151"/>
                </a:solidFill>
              </a:rPr>
              <a:t>verschmolzen</a:t>
            </a:r>
            <a:r>
              <a:rPr sz="1600" b="1" dirty="0">
                <a:solidFill>
                  <a:srgbClr val="374151"/>
                </a:solidFill>
              </a:rPr>
              <a:t>, bis die </a:t>
            </a:r>
            <a:r>
              <a:rPr sz="1600" b="1" dirty="0" err="1">
                <a:solidFill>
                  <a:srgbClr val="374151"/>
                </a:solidFill>
              </a:rPr>
              <a:t>Vokabulargröße</a:t>
            </a:r>
            <a:r>
              <a:rPr sz="1600" b="1" dirty="0">
                <a:solidFill>
                  <a:srgbClr val="374151"/>
                </a:solidFill>
              </a:rPr>
              <a:t> V </a:t>
            </a:r>
            <a:r>
              <a:rPr sz="1600" b="1" dirty="0" err="1">
                <a:solidFill>
                  <a:srgbClr val="374151"/>
                </a:solidFill>
              </a:rPr>
              <a:t>erreicht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ist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br>
              <a:rPr lang="de-DE" sz="1600" b="1" dirty="0">
                <a:solidFill>
                  <a:srgbClr val="374151"/>
                </a:solidFill>
              </a:rPr>
            </a:br>
            <a:r>
              <a:rPr sz="1600" b="1" dirty="0">
                <a:solidFill>
                  <a:srgbClr val="374151"/>
                </a:solidFill>
              </a:rPr>
              <a:t>(</a:t>
            </a:r>
            <a:r>
              <a:rPr sz="1600" b="1" i="1" dirty="0" err="1">
                <a:solidFill>
                  <a:srgbClr val="374151"/>
                </a:solidFill>
              </a:rPr>
              <a:t>Sennrich</a:t>
            </a:r>
            <a:r>
              <a:rPr sz="1600" b="1" i="1" dirty="0">
                <a:solidFill>
                  <a:srgbClr val="374151"/>
                </a:solidFill>
              </a:rPr>
              <a:t> et al. 2016</a:t>
            </a:r>
            <a:r>
              <a:rPr sz="1600" b="1" dirty="0">
                <a:solidFill>
                  <a:srgbClr val="374151"/>
                </a:solidFill>
              </a:rPr>
              <a:t>).</a:t>
            </a:r>
            <a:br>
              <a:rPr lang="de-DE" sz="1600" b="1" dirty="0">
                <a:solidFill>
                  <a:srgbClr val="374151"/>
                </a:solidFill>
              </a:rPr>
            </a:br>
            <a:endParaRPr sz="1600" b="1" dirty="0">
              <a:solidFill>
                <a:srgbClr val="374151"/>
              </a:solidFill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sz="1600" b="1" dirty="0" err="1">
                <a:solidFill>
                  <a:srgbClr val="374151"/>
                </a:solidFill>
              </a:rPr>
              <a:t>Häufige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Wörter</a:t>
            </a:r>
            <a:r>
              <a:rPr sz="1600" b="1" dirty="0">
                <a:solidFill>
                  <a:srgbClr val="374151"/>
                </a:solidFill>
              </a:rPr>
              <a:t> → </a:t>
            </a:r>
            <a:r>
              <a:rPr sz="1600" b="1" dirty="0" err="1">
                <a:solidFill>
                  <a:srgbClr val="374151"/>
                </a:solidFill>
              </a:rPr>
              <a:t>ein</a:t>
            </a:r>
            <a:r>
              <a:rPr sz="1600" b="1" dirty="0">
                <a:solidFill>
                  <a:srgbClr val="374151"/>
                </a:solidFill>
              </a:rPr>
              <a:t> Token, </a:t>
            </a:r>
            <a:r>
              <a:rPr sz="1600" b="1" dirty="0" err="1">
                <a:solidFill>
                  <a:srgbClr val="374151"/>
                </a:solidFill>
              </a:rPr>
              <a:t>seltene</a:t>
            </a:r>
            <a:r>
              <a:rPr sz="1600" b="1" dirty="0">
                <a:solidFill>
                  <a:srgbClr val="374151"/>
                </a:solidFill>
              </a:rPr>
              <a:t> → </a:t>
            </a:r>
            <a:r>
              <a:rPr sz="1600" b="1" dirty="0" err="1">
                <a:solidFill>
                  <a:srgbClr val="374151"/>
                </a:solidFill>
              </a:rPr>
              <a:t>mehrere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Teilstücke</a:t>
            </a:r>
            <a:r>
              <a:rPr sz="1600" b="1" dirty="0">
                <a:solidFill>
                  <a:srgbClr val="374151"/>
                </a:solidFill>
              </a:rPr>
              <a:t>.</a:t>
            </a:r>
            <a:br>
              <a:rPr lang="de-DE" sz="1600" b="1" dirty="0">
                <a:solidFill>
                  <a:srgbClr val="374151"/>
                </a:solidFill>
              </a:rPr>
            </a:br>
            <a:endParaRPr sz="1600" b="1" dirty="0">
              <a:solidFill>
                <a:srgbClr val="374151"/>
              </a:solidFill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sz="1600" b="1" dirty="0" err="1">
                <a:solidFill>
                  <a:srgbClr val="374151"/>
                </a:solidFill>
              </a:rPr>
              <a:t>Jedes</a:t>
            </a:r>
            <a:r>
              <a:rPr sz="1600" b="1" dirty="0">
                <a:solidFill>
                  <a:srgbClr val="374151"/>
                </a:solidFill>
              </a:rPr>
              <a:t> Token hat </a:t>
            </a:r>
            <a:r>
              <a:rPr sz="1600" b="1" dirty="0" err="1">
                <a:solidFill>
                  <a:srgbClr val="374151"/>
                </a:solidFill>
              </a:rPr>
              <a:t>eine</a:t>
            </a:r>
            <a:r>
              <a:rPr sz="1600" b="1" dirty="0">
                <a:solidFill>
                  <a:srgbClr val="374151"/>
                </a:solidFill>
              </a:rPr>
              <a:t> ID (0 … V−1). Mit </a:t>
            </a:r>
            <a:r>
              <a:rPr sz="1600" b="1" dirty="0" err="1">
                <a:solidFill>
                  <a:srgbClr val="374151"/>
                </a:solidFill>
              </a:rPr>
              <a:t>diesen</a:t>
            </a:r>
            <a:r>
              <a:rPr sz="1600" b="1" dirty="0">
                <a:solidFill>
                  <a:srgbClr val="374151"/>
                </a:solidFill>
              </a:rPr>
              <a:t> IDs </a:t>
            </a:r>
            <a:r>
              <a:rPr sz="1600" b="1" dirty="0" err="1">
                <a:solidFill>
                  <a:srgbClr val="374151"/>
                </a:solidFill>
              </a:rPr>
              <a:t>rechnet</a:t>
            </a:r>
            <a:r>
              <a:rPr sz="1600" b="1" dirty="0">
                <a:solidFill>
                  <a:srgbClr val="374151"/>
                </a:solidFill>
              </a:rPr>
              <a:t> das Modell.</a:t>
            </a:r>
            <a:br>
              <a:rPr lang="de-DE" sz="1600" b="1" dirty="0">
                <a:solidFill>
                  <a:srgbClr val="374151"/>
                </a:solidFill>
              </a:rPr>
            </a:br>
            <a:endParaRPr sz="1600" b="1" dirty="0">
              <a:solidFill>
                <a:srgbClr val="374151"/>
              </a:solidFill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sz="1600" b="1" i="1" dirty="0" err="1">
                <a:solidFill>
                  <a:srgbClr val="008891"/>
                </a:solidFill>
              </a:rPr>
              <a:t>Vokabular</a:t>
            </a:r>
            <a:r>
              <a:rPr sz="1600" b="1" i="1" dirty="0">
                <a:solidFill>
                  <a:srgbClr val="008891"/>
                </a:solidFill>
              </a:rPr>
              <a:t>: </a:t>
            </a:r>
            <a:r>
              <a:rPr sz="1600" b="1" i="1" dirty="0" err="1">
                <a:solidFill>
                  <a:srgbClr val="008891"/>
                </a:solidFill>
              </a:rPr>
              <a:t>GuppyLM</a:t>
            </a:r>
            <a:r>
              <a:rPr sz="1600" b="1" i="1" dirty="0">
                <a:solidFill>
                  <a:srgbClr val="008891"/>
                </a:solidFill>
              </a:rPr>
              <a:t> 2 597 · </a:t>
            </a:r>
            <a:br>
              <a:rPr lang="de-DE" sz="1600" b="1" i="1" dirty="0">
                <a:solidFill>
                  <a:srgbClr val="008891"/>
                </a:solidFill>
              </a:rPr>
            </a:br>
            <a:r>
              <a:rPr sz="1600" b="1" i="1" dirty="0">
                <a:solidFill>
                  <a:srgbClr val="008891"/>
                </a:solidFill>
              </a:rPr>
              <a:t>GPT-2 50 257 · </a:t>
            </a:r>
            <a:br>
              <a:rPr lang="de-DE" sz="1600" b="1" i="1" dirty="0">
                <a:solidFill>
                  <a:srgbClr val="008891"/>
                </a:solidFill>
              </a:rPr>
            </a:br>
            <a:r>
              <a:rPr sz="1600" b="1" i="1" dirty="0">
                <a:solidFill>
                  <a:srgbClr val="008891"/>
                </a:solidFill>
              </a:rPr>
              <a:t>Original-Transformer (EN-DE) ≈ 37 000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139004"/>
              </p:ext>
            </p:extLst>
          </p:nvPr>
        </p:nvGraphicFramePr>
        <p:xfrm>
          <a:off x="5092861" y="3842014"/>
          <a:ext cx="5977385" cy="20666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59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3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3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631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374151"/>
                          </a:solidFill>
                        </a:rPr>
                        <a:t>Text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74151"/>
                          </a:solidFill>
                        </a:rPr>
                        <a:t>Tokens (GuppyLM-BPE)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74151"/>
                          </a:solidFill>
                        </a:rPr>
                        <a:t>Anzahl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999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374151"/>
                          </a:solidFill>
                        </a:rPr>
                        <a:t>hello guppy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74151"/>
                          </a:solidFill>
                        </a:rPr>
                        <a:t>hello | ␣guppy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74151"/>
                          </a:solidFill>
                        </a:rPr>
                        <a:t>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99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74151"/>
                          </a:solidFill>
                        </a:rPr>
                        <a:t>guppy likes bubbles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74151"/>
                          </a:solidFill>
                        </a:rPr>
                        <a:t>guppy | ␣li | k | es | ␣bubbles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151"/>
                          </a:solidFill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99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74151"/>
                          </a:solidFill>
                        </a:rPr>
                        <a:t>Gut Ding braucht Weile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74151"/>
                          </a:solidFill>
                        </a:rPr>
                        <a:t>G | </a:t>
                      </a:r>
                      <a:r>
                        <a:rPr sz="1400" dirty="0" err="1">
                          <a:solidFill>
                            <a:srgbClr val="374151"/>
                          </a:solidFill>
                        </a:rPr>
                        <a:t>ut</a:t>
                      </a:r>
                      <a:r>
                        <a:rPr sz="1400" dirty="0">
                          <a:solidFill>
                            <a:srgbClr val="374151"/>
                          </a:solidFill>
                        </a:rPr>
                        <a:t> | ␣ | D | </a:t>
                      </a:r>
                      <a:r>
                        <a:rPr sz="1400" dirty="0" err="1">
                          <a:solidFill>
                            <a:srgbClr val="374151"/>
                          </a:solidFill>
                        </a:rPr>
                        <a:t>ing</a:t>
                      </a:r>
                      <a:r>
                        <a:rPr sz="1400" dirty="0">
                          <a:solidFill>
                            <a:srgbClr val="374151"/>
                          </a:solidFill>
                        </a:rPr>
                        <a:t> | ␣b | </a:t>
                      </a:r>
                      <a:r>
                        <a:rPr sz="1400" dirty="0" err="1">
                          <a:solidFill>
                            <a:srgbClr val="374151"/>
                          </a:solidFill>
                        </a:rPr>
                        <a:t>ra</a:t>
                      </a:r>
                      <a:r>
                        <a:rPr sz="1400" dirty="0">
                          <a:solidFill>
                            <a:srgbClr val="374151"/>
                          </a:solidFill>
                        </a:rPr>
                        <a:t> | u | ch | t | ␣ | W | e | </a:t>
                      </a:r>
                      <a:r>
                        <a:rPr sz="1400" dirty="0" err="1">
                          <a:solidFill>
                            <a:srgbClr val="374151"/>
                          </a:solidFill>
                        </a:rPr>
                        <a:t>i</a:t>
                      </a:r>
                      <a:r>
                        <a:rPr sz="1400" dirty="0">
                          <a:solidFill>
                            <a:srgbClr val="374151"/>
                          </a:solidFill>
                        </a:rPr>
                        <a:t> | le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374151"/>
                          </a:solidFill>
                        </a:rPr>
                        <a:t>15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0242" y="5226236"/>
            <a:ext cx="4311268" cy="670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dirty="0">
                <a:solidFill>
                  <a:srgbClr val="374151"/>
                </a:solidFill>
              </a:rPr>
              <a:t>Guppy </a:t>
            </a:r>
            <a:r>
              <a:rPr sz="1300" b="0" dirty="0" err="1">
                <a:solidFill>
                  <a:srgbClr val="374151"/>
                </a:solidFill>
              </a:rPr>
              <a:t>wurde</a:t>
            </a:r>
            <a:r>
              <a:rPr sz="1300" b="0" dirty="0">
                <a:solidFill>
                  <a:srgbClr val="374151"/>
                </a:solidFill>
              </a:rPr>
              <a:t> </a:t>
            </a:r>
            <a:r>
              <a:rPr sz="1300" b="0" dirty="0" err="1">
                <a:solidFill>
                  <a:srgbClr val="374151"/>
                </a:solidFill>
              </a:rPr>
              <a:t>nur</a:t>
            </a:r>
            <a:r>
              <a:rPr sz="1300" b="0" dirty="0">
                <a:solidFill>
                  <a:srgbClr val="374151"/>
                </a:solidFill>
              </a:rPr>
              <a:t> auf </a:t>
            </a:r>
            <a:r>
              <a:rPr sz="1300" b="0" dirty="0" err="1">
                <a:solidFill>
                  <a:srgbClr val="374151"/>
                </a:solidFill>
              </a:rPr>
              <a:t>englischen</a:t>
            </a:r>
            <a:r>
              <a:rPr sz="1300" b="0" dirty="0">
                <a:solidFill>
                  <a:srgbClr val="374151"/>
                </a:solidFill>
              </a:rPr>
              <a:t> </a:t>
            </a:r>
            <a:r>
              <a:rPr sz="1300" b="0" dirty="0" err="1">
                <a:solidFill>
                  <a:srgbClr val="374151"/>
                </a:solidFill>
              </a:rPr>
              <a:t>Dialogen</a:t>
            </a:r>
            <a:r>
              <a:rPr sz="1300" b="0" dirty="0">
                <a:solidFill>
                  <a:srgbClr val="374151"/>
                </a:solidFill>
              </a:rPr>
              <a:t> </a:t>
            </a:r>
            <a:r>
              <a:rPr sz="1300" b="0" dirty="0" err="1">
                <a:solidFill>
                  <a:srgbClr val="374151"/>
                </a:solidFill>
              </a:rPr>
              <a:t>trainiert</a:t>
            </a:r>
            <a:r>
              <a:rPr sz="1300" b="0" dirty="0">
                <a:solidFill>
                  <a:srgbClr val="374151"/>
                </a:solidFill>
              </a:rPr>
              <a:t>: </a:t>
            </a:r>
            <a:br>
              <a:rPr lang="de-DE" sz="1300" b="0" dirty="0">
                <a:solidFill>
                  <a:srgbClr val="374151"/>
                </a:solidFill>
              </a:rPr>
            </a:br>
            <a:r>
              <a:rPr sz="1300" b="0" dirty="0">
                <a:solidFill>
                  <a:srgbClr val="374151"/>
                </a:solidFill>
              </a:rPr>
              <a:t>Deutsch </a:t>
            </a:r>
            <a:r>
              <a:rPr sz="1300" b="0" dirty="0" err="1">
                <a:solidFill>
                  <a:srgbClr val="374151"/>
                </a:solidFill>
              </a:rPr>
              <a:t>zerfällt</a:t>
            </a:r>
            <a:r>
              <a:rPr sz="1300" b="0" dirty="0">
                <a:solidFill>
                  <a:srgbClr val="374151"/>
                </a:solidFill>
              </a:rPr>
              <a:t> in </a:t>
            </a:r>
            <a:r>
              <a:rPr sz="1300" b="0" dirty="0" err="1">
                <a:solidFill>
                  <a:srgbClr val="374151"/>
                </a:solidFill>
              </a:rPr>
              <a:t>viele</a:t>
            </a:r>
            <a:r>
              <a:rPr sz="1300" b="0" dirty="0">
                <a:solidFill>
                  <a:srgbClr val="374151"/>
                </a:solidFill>
              </a:rPr>
              <a:t> </a:t>
            </a:r>
            <a:r>
              <a:rPr sz="1300" b="0" dirty="0" err="1">
                <a:solidFill>
                  <a:srgbClr val="374151"/>
                </a:solidFill>
              </a:rPr>
              <a:t>kleine</a:t>
            </a:r>
            <a:r>
              <a:rPr sz="1300" b="0" dirty="0">
                <a:solidFill>
                  <a:srgbClr val="374151"/>
                </a:solidFill>
              </a:rPr>
              <a:t> </a:t>
            </a:r>
            <a:r>
              <a:rPr sz="1300" b="0" dirty="0" err="1">
                <a:solidFill>
                  <a:srgbClr val="374151"/>
                </a:solidFill>
              </a:rPr>
              <a:t>Stücke</a:t>
            </a:r>
            <a:r>
              <a:rPr sz="1300" b="0" dirty="0">
                <a:solidFill>
                  <a:srgbClr val="374151"/>
                </a:solidFill>
              </a:rPr>
              <a:t>. </a:t>
            </a:r>
            <a:br>
              <a:rPr lang="de-DE" sz="1300" b="0" dirty="0">
                <a:solidFill>
                  <a:srgbClr val="374151"/>
                </a:solidFill>
              </a:rPr>
            </a:br>
            <a:r>
              <a:rPr sz="1300" b="0" dirty="0">
                <a:solidFill>
                  <a:srgbClr val="374151"/>
                </a:solidFill>
              </a:rPr>
              <a:t>„</a:t>
            </a:r>
            <a:r>
              <a:rPr sz="1300" b="0" dirty="0" err="1">
                <a:solidFill>
                  <a:srgbClr val="374151"/>
                </a:solidFill>
              </a:rPr>
              <a:t>Kodierbar</a:t>
            </a:r>
            <a:r>
              <a:rPr sz="1300" b="0" dirty="0">
                <a:solidFill>
                  <a:srgbClr val="374151"/>
                </a:solidFill>
              </a:rPr>
              <a:t>“ </a:t>
            </a:r>
            <a:r>
              <a:rPr sz="1300" b="0" dirty="0" err="1">
                <a:solidFill>
                  <a:srgbClr val="374151"/>
                </a:solidFill>
              </a:rPr>
              <a:t>heißt</a:t>
            </a:r>
            <a:r>
              <a:rPr sz="1300" b="0" dirty="0">
                <a:solidFill>
                  <a:srgbClr val="374151"/>
                </a:solidFill>
              </a:rPr>
              <a:t> </a:t>
            </a:r>
            <a:r>
              <a:rPr lang="de-DE" sz="1300" b="0" dirty="0">
                <a:solidFill>
                  <a:srgbClr val="374151"/>
                </a:solidFill>
              </a:rPr>
              <a:t>deshalb </a:t>
            </a:r>
            <a:r>
              <a:rPr sz="1300" b="0" dirty="0">
                <a:solidFill>
                  <a:srgbClr val="374151"/>
                </a:solidFill>
              </a:rPr>
              <a:t>nicht </a:t>
            </a:r>
            <a:r>
              <a:rPr lang="de-DE" sz="1300" b="0" dirty="0">
                <a:solidFill>
                  <a:srgbClr val="374151"/>
                </a:solidFill>
              </a:rPr>
              <a:t>automatisch </a:t>
            </a:r>
            <a:r>
              <a:rPr sz="1300" b="0" dirty="0">
                <a:solidFill>
                  <a:srgbClr val="374151"/>
                </a:solidFill>
              </a:rPr>
              <a:t>„</a:t>
            </a:r>
            <a:r>
              <a:rPr sz="1300" b="0" dirty="0" err="1">
                <a:solidFill>
                  <a:srgbClr val="374151"/>
                </a:solidFill>
              </a:rPr>
              <a:t>verstanden</a:t>
            </a:r>
            <a:r>
              <a:rPr sz="1300" b="0" dirty="0">
                <a:solidFill>
                  <a:srgbClr val="374151"/>
                </a:solidFill>
              </a:rPr>
              <a:t>“.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2000" y="6137313"/>
            <a:ext cx="10584000" cy="576000"/>
          </a:xfrm>
          <a:prstGeom prst="roundRect">
            <a:avLst/>
          </a:prstGeom>
          <a:solidFill>
            <a:srgbClr val="CE1619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600" b="1">
                <a:solidFill>
                  <a:srgbClr val="CE1619"/>
                </a:solidFill>
              </a:rPr>
              <a:t>Vereinfachung: </a:t>
            </a:r>
            <a:r>
              <a:rPr sz="1600" b="1">
                <a:solidFill>
                  <a:srgbClr val="374151"/>
                </a:solidFill>
              </a:rPr>
              <a:t>Auf den folgenden Folien steht oft „Wort“ – gemeint ist immer ein Token.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000" y="6750000"/>
            <a:ext cx="10620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Tokens ermittelt mit Data/tokenizer.json des Lehrnotebooks; ␣ = Leerzeichen (im Tokenizer als Ġ dargestellt). GPT-2: Radford et al. (2019). Original: Vaswani et al. (2017), Abschn. 5.1.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hteck 40">
            <a:extLst>
              <a:ext uri="{FF2B5EF4-FFF2-40B4-BE49-F238E27FC236}">
                <a16:creationId xmlns:a16="http://schemas.microsoft.com/office/drawing/2014/main" id="{117B116B-91C3-B2D0-9D59-A92BAA3E285E}"/>
              </a:ext>
            </a:extLst>
          </p:cNvPr>
          <p:cNvSpPr/>
          <p:nvPr/>
        </p:nvSpPr>
        <p:spPr>
          <a:xfrm>
            <a:off x="593665" y="5077598"/>
            <a:ext cx="10636674" cy="1257851"/>
          </a:xfrm>
          <a:prstGeom prst="rect">
            <a:avLst/>
          </a:prstGeom>
          <a:solidFill>
            <a:schemeClr val="bg2">
              <a:lumMod val="75000"/>
              <a:alpha val="7843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456FDE4C-2401-7801-CEB9-A93BB30972B9}"/>
              </a:ext>
            </a:extLst>
          </p:cNvPr>
          <p:cNvSpPr/>
          <p:nvPr/>
        </p:nvSpPr>
        <p:spPr>
          <a:xfrm>
            <a:off x="574740" y="2419349"/>
            <a:ext cx="10636674" cy="1349206"/>
          </a:xfrm>
          <a:prstGeom prst="rect">
            <a:avLst/>
          </a:prstGeom>
          <a:solidFill>
            <a:schemeClr val="bg2">
              <a:lumMod val="75000"/>
              <a:alpha val="7843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7859DE2-D490-428A-7914-46E91BBA433C}"/>
              </a:ext>
            </a:extLst>
          </p:cNvPr>
          <p:cNvSpPr txBox="1"/>
          <p:nvPr/>
        </p:nvSpPr>
        <p:spPr>
          <a:xfrm>
            <a:off x="541120" y="1063891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rgbClr val="545454"/>
                </a:solidFill>
                <a:effectLst/>
                <a:latin typeface="Noto Sans Semibold"/>
              </a:rPr>
              <a:t>Grundlage: Skalarprodukt </a:t>
            </a:r>
            <a:r>
              <a:rPr lang="de-DE" sz="1800" b="1" kern="1200" spc="-90" dirty="0">
                <a:solidFill>
                  <a:srgbClr val="008891"/>
                </a:solidFill>
                <a:latin typeface="Noto Sans Semibold"/>
              </a:rPr>
              <a:t>| Länge und Richtung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355758-32D5-1F90-347B-91E0E43E0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738" y="1820791"/>
            <a:ext cx="10494418" cy="5128321"/>
          </a:xfrm>
        </p:spPr>
        <p:txBody>
          <a:bodyPr lIns="0" tIns="0" rIns="0" bIns="0" anchor="t" anchorCtr="0">
            <a:noAutofit/>
          </a:bodyPr>
          <a:lstStyle/>
          <a:p>
            <a:pPr marL="0" lvl="0" indent="0">
              <a:lnSpc>
                <a:spcPct val="130000"/>
              </a:lnSpc>
              <a:buNone/>
            </a:pPr>
            <a:r>
              <a:rPr lang="de-DE" sz="1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Das Skalarprodukt misst Länge und Richtung zugleich:</a:t>
            </a:r>
            <a:br>
              <a:rPr lang="de-DE" sz="1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sz="1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3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Gleiche Richtung (cos θ = 1): </a:t>
            </a:r>
            <a:br>
              <a:rPr lang="de-DE" sz="1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sz="1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bei fester Länge maximal positiv.</a:t>
            </a:r>
            <a:br>
              <a:rPr lang="de-DE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e-DE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Entgegengesetzt (cos θ = −1): </a:t>
            </a:r>
            <a:br>
              <a:rPr lang="de-DE" sz="1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sz="1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bei fester Länge maximal negativ.</a:t>
            </a:r>
            <a:br>
              <a:rPr lang="de-DE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e-DE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Rechtwinklig (cos θ = 0): </a:t>
            </a:r>
            <a:br>
              <a:rPr lang="de-DE" sz="1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sz="1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Skalarprodukt null.</a:t>
            </a:r>
          </a:p>
          <a:p>
            <a:pPr marL="0" lvl="0" indent="0">
              <a:lnSpc>
                <a:spcPct val="130000"/>
              </a:lnSpc>
              <a:spcAft>
                <a:spcPts val="800"/>
              </a:spcAft>
              <a:buNone/>
            </a:pPr>
            <a:br>
              <a:rPr lang="de-DE" sz="1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sz="1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Reines Richtungsmaß, Länge herausgerechnet: Kosinusähnlichkeit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50CA0AD-5C83-846D-29D1-7802D4C480A8}"/>
              </a:ext>
            </a:extLst>
          </p:cNvPr>
          <p:cNvSpPr txBox="1"/>
          <p:nvPr/>
        </p:nvSpPr>
        <p:spPr>
          <a:xfrm>
            <a:off x="505937" y="1554525"/>
            <a:ext cx="4632190" cy="36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dk1"/>
              </a:buClr>
              <a:buSzPts val="2000"/>
              <a:defRPr sz="1512" i="1" u="sng">
                <a:solidFill>
                  <a:schemeClr val="tx1">
                    <a:lumMod val="65000"/>
                    <a:lumOff val="35000"/>
                  </a:schemeClr>
                </a:solidFill>
                <a:latin typeface="Frutiger LT 45 Light" panose="020B0500000000000000" pitchFamily="34" charset="0"/>
                <a:ea typeface="Corbel"/>
                <a:cs typeface="Corbel"/>
              </a:defRPr>
            </a:lvl1pPr>
          </a:lstStyle>
          <a:p>
            <a:r>
              <a:rPr lang="de-DE" sz="1800" i="0" dirty="0">
                <a:solidFill>
                  <a:schemeClr val="tx1"/>
                </a:solidFill>
                <a:latin typeface="Noto Sans Semibol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https://iludis.de/vektorMult/index.html</a:t>
            </a:r>
            <a:endParaRPr lang="de-DE" sz="1800" i="0" dirty="0">
              <a:solidFill>
                <a:schemeClr val="tx1"/>
              </a:solidFill>
              <a:latin typeface="Noto Sans Semibold"/>
            </a:endParaRP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C64E2877-F2DD-7572-14CD-E9A28A36C67D}"/>
              </a:ext>
            </a:extLst>
          </p:cNvPr>
          <p:cNvCxnSpPr>
            <a:cxnSpLocks/>
          </p:cNvCxnSpPr>
          <p:nvPr/>
        </p:nvCxnSpPr>
        <p:spPr>
          <a:xfrm flipV="1">
            <a:off x="7259112" y="2541753"/>
            <a:ext cx="758454" cy="1094730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EFB01351-56D6-0895-E333-3AE2570721C9}"/>
              </a:ext>
            </a:extLst>
          </p:cNvPr>
          <p:cNvCxnSpPr>
            <a:cxnSpLocks/>
          </p:cNvCxnSpPr>
          <p:nvPr/>
        </p:nvCxnSpPr>
        <p:spPr>
          <a:xfrm flipV="1">
            <a:off x="7259112" y="2721153"/>
            <a:ext cx="900703" cy="915330"/>
          </a:xfrm>
          <a:prstGeom prst="straightConnector1">
            <a:avLst/>
          </a:prstGeom>
          <a:ln w="76200">
            <a:solidFill>
              <a:srgbClr val="0056A4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3A0F0F4F-82B2-264A-9C7A-4271D3AA027C}"/>
              </a:ext>
            </a:extLst>
          </p:cNvPr>
          <p:cNvCxnSpPr>
            <a:cxnSpLocks/>
          </p:cNvCxnSpPr>
          <p:nvPr/>
        </p:nvCxnSpPr>
        <p:spPr>
          <a:xfrm flipV="1">
            <a:off x="7607710" y="3720628"/>
            <a:ext cx="552105" cy="719945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10A4184-10EB-E72C-036B-76EF062EE1DA}"/>
              </a:ext>
            </a:extLst>
          </p:cNvPr>
          <p:cNvCxnSpPr>
            <a:cxnSpLocks/>
          </p:cNvCxnSpPr>
          <p:nvPr/>
        </p:nvCxnSpPr>
        <p:spPr>
          <a:xfrm flipH="1">
            <a:off x="7095281" y="4440573"/>
            <a:ext cx="512429" cy="637025"/>
          </a:xfrm>
          <a:prstGeom prst="straightConnector1">
            <a:avLst/>
          </a:prstGeom>
          <a:ln w="76200">
            <a:solidFill>
              <a:srgbClr val="0056A4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A313EF5A-04FC-DD59-ECB8-0BC3C64890DD}"/>
              </a:ext>
            </a:extLst>
          </p:cNvPr>
          <p:cNvCxnSpPr>
            <a:cxnSpLocks/>
          </p:cNvCxnSpPr>
          <p:nvPr/>
        </p:nvCxnSpPr>
        <p:spPr>
          <a:xfrm flipV="1">
            <a:off x="7638793" y="5077598"/>
            <a:ext cx="730833" cy="1189269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A8A33FA0-DA4D-2719-1F45-652369A1262D}"/>
              </a:ext>
            </a:extLst>
          </p:cNvPr>
          <p:cNvCxnSpPr>
            <a:cxnSpLocks/>
          </p:cNvCxnSpPr>
          <p:nvPr/>
        </p:nvCxnSpPr>
        <p:spPr>
          <a:xfrm flipH="1" flipV="1">
            <a:off x="6840139" y="5749616"/>
            <a:ext cx="798654" cy="517251"/>
          </a:xfrm>
          <a:prstGeom prst="straightConnector1">
            <a:avLst/>
          </a:prstGeom>
          <a:ln w="76200">
            <a:solidFill>
              <a:srgbClr val="0056A4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BE9892A4-47A3-46C0-D56C-6AECD7E046EF}"/>
              </a:ext>
            </a:extLst>
          </p:cNvPr>
          <p:cNvSpPr txBox="1"/>
          <p:nvPr/>
        </p:nvSpPr>
        <p:spPr>
          <a:xfrm>
            <a:off x="9137600" y="2896154"/>
            <a:ext cx="18081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CE151A"/>
                </a:solidFill>
                <a:latin typeface="Noto Sans Semibold"/>
              </a:rPr>
              <a:t>a</a:t>
            </a:r>
            <a:r>
              <a:rPr lang="de-DE" sz="2000" b="1" dirty="0">
                <a:solidFill>
                  <a:schemeClr val="tx1"/>
                </a:solidFill>
                <a:latin typeface="Noto Sans Semibold"/>
              </a:rPr>
              <a:t> · </a:t>
            </a:r>
            <a:r>
              <a:rPr lang="de-DE" sz="2000" b="1" dirty="0">
                <a:solidFill>
                  <a:srgbClr val="003C72"/>
                </a:solidFill>
                <a:latin typeface="Noto Sans Semibold"/>
              </a:rPr>
              <a:t>b</a:t>
            </a:r>
            <a:r>
              <a:rPr lang="de-DE" sz="2000" b="1" dirty="0">
                <a:solidFill>
                  <a:srgbClr val="CE151A"/>
                </a:solidFill>
                <a:latin typeface="Noto Sans Semibold"/>
              </a:rPr>
              <a:t> </a:t>
            </a:r>
            <a:r>
              <a:rPr lang="de-DE" sz="2000" b="1" dirty="0">
                <a:solidFill>
                  <a:schemeClr val="tx1"/>
                </a:solidFill>
                <a:latin typeface="Noto Sans Semibold"/>
              </a:rPr>
              <a:t>= +</a:t>
            </a:r>
            <a:r>
              <a:rPr lang="de-DE" sz="2000" b="1" dirty="0" err="1">
                <a:solidFill>
                  <a:schemeClr val="tx1"/>
                </a:solidFill>
                <a:latin typeface="Noto Sans Semibold"/>
              </a:rPr>
              <a:t>max</a:t>
            </a:r>
            <a:endParaRPr lang="de-DE" sz="2000" dirty="0">
              <a:solidFill>
                <a:schemeClr val="tx1"/>
              </a:solidFill>
              <a:latin typeface="Noto Sans Semibold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B0AC65D-18AC-032C-5511-45A37844B3DE}"/>
              </a:ext>
            </a:extLst>
          </p:cNvPr>
          <p:cNvSpPr txBox="1"/>
          <p:nvPr/>
        </p:nvSpPr>
        <p:spPr>
          <a:xfrm>
            <a:off x="9137600" y="4205197"/>
            <a:ext cx="18081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CE151A"/>
                </a:solidFill>
                <a:latin typeface="Noto Sans Semibold"/>
              </a:rPr>
              <a:t>a</a:t>
            </a:r>
            <a:r>
              <a:rPr lang="de-DE" sz="2000" b="1" dirty="0">
                <a:solidFill>
                  <a:schemeClr val="tx1"/>
                </a:solidFill>
                <a:latin typeface="Noto Sans Semibold"/>
              </a:rPr>
              <a:t> · </a:t>
            </a:r>
            <a:r>
              <a:rPr lang="de-DE" sz="2000" b="1" dirty="0">
                <a:solidFill>
                  <a:srgbClr val="003C72"/>
                </a:solidFill>
                <a:latin typeface="Noto Sans Semibold"/>
              </a:rPr>
              <a:t>b</a:t>
            </a:r>
            <a:r>
              <a:rPr lang="de-DE" sz="2000" b="1" dirty="0">
                <a:solidFill>
                  <a:srgbClr val="CE151A"/>
                </a:solidFill>
                <a:latin typeface="Noto Sans Semibold"/>
              </a:rPr>
              <a:t> </a:t>
            </a:r>
            <a:r>
              <a:rPr lang="de-DE" sz="2000" b="1" dirty="0">
                <a:solidFill>
                  <a:schemeClr val="tx1"/>
                </a:solidFill>
                <a:latin typeface="Noto Sans Semibold"/>
              </a:rPr>
              <a:t>= -</a:t>
            </a:r>
            <a:r>
              <a:rPr lang="de-DE" sz="2000" b="1" dirty="0" err="1">
                <a:solidFill>
                  <a:schemeClr val="tx1"/>
                </a:solidFill>
                <a:latin typeface="Noto Sans Semibold"/>
              </a:rPr>
              <a:t>max</a:t>
            </a:r>
            <a:endParaRPr lang="de-DE" sz="2000" dirty="0">
              <a:solidFill>
                <a:schemeClr val="tx1"/>
              </a:solidFill>
              <a:latin typeface="Noto Sans Semibold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98DF5BD-9656-5C12-E3F9-10D7A2F77C82}"/>
              </a:ext>
            </a:extLst>
          </p:cNvPr>
          <p:cNvSpPr txBox="1"/>
          <p:nvPr/>
        </p:nvSpPr>
        <p:spPr>
          <a:xfrm>
            <a:off x="9177774" y="5549561"/>
            <a:ext cx="18081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CE151A"/>
                </a:solidFill>
                <a:latin typeface="Noto Sans Semibold"/>
              </a:rPr>
              <a:t>a</a:t>
            </a:r>
            <a:r>
              <a:rPr lang="de-DE" sz="2000" b="1" dirty="0">
                <a:solidFill>
                  <a:schemeClr val="tx1"/>
                </a:solidFill>
                <a:latin typeface="Noto Sans Semibold"/>
              </a:rPr>
              <a:t> · </a:t>
            </a:r>
            <a:r>
              <a:rPr lang="de-DE" sz="2000" b="1" dirty="0">
                <a:solidFill>
                  <a:srgbClr val="003C72"/>
                </a:solidFill>
                <a:latin typeface="Noto Sans Semibold"/>
              </a:rPr>
              <a:t>b</a:t>
            </a:r>
            <a:r>
              <a:rPr lang="de-DE" sz="2000" b="1" dirty="0">
                <a:solidFill>
                  <a:srgbClr val="CE151A"/>
                </a:solidFill>
                <a:latin typeface="Noto Sans Semibold"/>
              </a:rPr>
              <a:t> </a:t>
            </a:r>
            <a:r>
              <a:rPr lang="de-DE" sz="2000" b="1" dirty="0">
                <a:solidFill>
                  <a:schemeClr val="tx1"/>
                </a:solidFill>
                <a:latin typeface="Noto Sans Semibold"/>
              </a:rPr>
              <a:t>= 0</a:t>
            </a:r>
            <a:endParaRPr lang="de-DE" sz="2000" dirty="0">
              <a:solidFill>
                <a:schemeClr val="tx1"/>
              </a:solidFill>
              <a:latin typeface="Noto Sans Semibold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92C85B3-18DC-6329-84B5-E6EF6C8548DB}"/>
              </a:ext>
            </a:extLst>
          </p:cNvPr>
          <p:cNvSpPr txBox="1"/>
          <p:nvPr/>
        </p:nvSpPr>
        <p:spPr>
          <a:xfrm>
            <a:off x="7469050" y="2567645"/>
            <a:ext cx="338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b="1" dirty="0">
                <a:solidFill>
                  <a:srgbClr val="CE151A"/>
                </a:solidFill>
                <a:latin typeface="Noto Sans Semibold"/>
              </a:rPr>
              <a:t>a</a:t>
            </a:r>
            <a:endParaRPr lang="de-DE" sz="2000" dirty="0">
              <a:solidFill>
                <a:schemeClr val="tx1"/>
              </a:solidFill>
              <a:latin typeface="Noto Sans Semibold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7B087C5-4700-175C-9BF6-48508A3CB616}"/>
              </a:ext>
            </a:extLst>
          </p:cNvPr>
          <p:cNvSpPr txBox="1"/>
          <p:nvPr/>
        </p:nvSpPr>
        <p:spPr>
          <a:xfrm>
            <a:off x="7798747" y="2967755"/>
            <a:ext cx="4281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b="1" dirty="0">
                <a:solidFill>
                  <a:srgbClr val="003C72"/>
                </a:solidFill>
                <a:latin typeface="Noto Sans Semibold"/>
              </a:rPr>
              <a:t>b</a:t>
            </a:r>
            <a:endParaRPr lang="de-DE" sz="2000" dirty="0">
              <a:solidFill>
                <a:schemeClr val="tx1"/>
              </a:solidFill>
              <a:latin typeface="Noto Sans Semibold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0F670FC-D4E7-1F11-8732-427DFBB1E4C7}"/>
              </a:ext>
            </a:extLst>
          </p:cNvPr>
          <p:cNvSpPr txBox="1"/>
          <p:nvPr/>
        </p:nvSpPr>
        <p:spPr>
          <a:xfrm>
            <a:off x="7469050" y="3918685"/>
            <a:ext cx="338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b="1" dirty="0">
                <a:solidFill>
                  <a:srgbClr val="CE151A"/>
                </a:solidFill>
                <a:latin typeface="Noto Sans Semibold"/>
              </a:rPr>
              <a:t>a</a:t>
            </a:r>
            <a:endParaRPr lang="de-DE" sz="2000" dirty="0">
              <a:solidFill>
                <a:schemeClr val="tx1"/>
              </a:solidFill>
              <a:latin typeface="Noto Sans Semibold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04F301C-AE5F-386C-C012-367B79DFF394}"/>
              </a:ext>
            </a:extLst>
          </p:cNvPr>
          <p:cNvSpPr txBox="1"/>
          <p:nvPr/>
        </p:nvSpPr>
        <p:spPr>
          <a:xfrm>
            <a:off x="7424306" y="4543669"/>
            <a:ext cx="4281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b="1" dirty="0">
                <a:solidFill>
                  <a:srgbClr val="003C72"/>
                </a:solidFill>
                <a:latin typeface="Noto Sans Semibold"/>
              </a:rPr>
              <a:t>b</a:t>
            </a:r>
            <a:endParaRPr lang="de-DE" sz="2000" dirty="0">
              <a:solidFill>
                <a:schemeClr val="tx1"/>
              </a:solidFill>
              <a:latin typeface="Noto Sans Semibold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F4509C8-8FDA-47CB-012D-9BA300B6C82B}"/>
              </a:ext>
            </a:extLst>
          </p:cNvPr>
          <p:cNvSpPr txBox="1"/>
          <p:nvPr/>
        </p:nvSpPr>
        <p:spPr>
          <a:xfrm>
            <a:off x="7843491" y="5124632"/>
            <a:ext cx="338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b="1" dirty="0">
                <a:solidFill>
                  <a:srgbClr val="CE151A"/>
                </a:solidFill>
                <a:latin typeface="Noto Sans Semibold"/>
              </a:rPr>
              <a:t>a</a:t>
            </a:r>
            <a:endParaRPr lang="de-DE" sz="2000" dirty="0">
              <a:solidFill>
                <a:schemeClr val="tx1"/>
              </a:solidFill>
              <a:latin typeface="Noto Sans Semibold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2755BAB-98AC-C91C-202C-FC5D6F1587D2}"/>
              </a:ext>
            </a:extLst>
          </p:cNvPr>
          <p:cNvSpPr txBox="1"/>
          <p:nvPr/>
        </p:nvSpPr>
        <p:spPr>
          <a:xfrm>
            <a:off x="7099716" y="5618502"/>
            <a:ext cx="4281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b="1" dirty="0">
                <a:solidFill>
                  <a:srgbClr val="003C72"/>
                </a:solidFill>
                <a:latin typeface="Noto Sans Semibold"/>
              </a:rPr>
              <a:t>b</a:t>
            </a:r>
            <a:endParaRPr lang="de-DE" sz="2000" dirty="0">
              <a:solidFill>
                <a:schemeClr val="tx1"/>
              </a:solidFill>
              <a:latin typeface="Noto Sans Semibold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A61FB05-80AA-CA5B-B3CA-4AFBA6E8CD5B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Formel 42"/>
              <p:cNvSpPr txBox="1"/>
              <p:nvPr/>
            </p:nvSpPr>
            <p:spPr>
              <a:xfrm>
                <a:off x="7038786" y="1548000"/>
                <a:ext cx="2842428" cy="55016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18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de-DE" sz="18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de-DE" sz="18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lang="de-DE" sz="18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18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de-DE" sz="18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8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</m:e>
                      </m:d>
                      <m:r>
                        <a:rPr lang="de-DE" sz="18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d>
                        <m:dPr>
                          <m:begChr m:val="|"/>
                          <m:endChr m:val="|"/>
                          <m:ctrlPr>
                            <a:rPr lang="de-DE" sz="18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8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</m:d>
                      <m:r>
                        <m:rPr>
                          <m:sty m:val="p"/>
                        </m:rPr>
                        <a:rPr lang="de-DE" sz="18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de-DE" sz="18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de-DE" sz="1800"/>
              </a:p>
            </p:txBody>
          </p:sp>
        </mc:Choice>
        <mc:Fallback xmlns="" xmlns:m="http://schemas.openxmlformats.org/officeDocument/2006/math">
          <p:sp>
            <p:nvSpPr>
              <p:cNvPr id="42" name="Formel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786" y="1548000"/>
                <a:ext cx="2662428" cy="5501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Formel 43"/>
              <p:cNvSpPr txBox="1"/>
              <p:nvPr/>
            </p:nvSpPr>
            <p:spPr>
              <a:xfrm>
                <a:off x="9097920" y="6318000"/>
                <a:ext cx="1460160" cy="53035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DE" sz="16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de-DE" sz="16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de-DE" sz="16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6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6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  <m:r>
                            <a:rPr lang="de-DE" sz="16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de-DE" sz="16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de-DE" sz="16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6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</m:d>
                          <m:r>
                            <a:rPr lang="de-DE" sz="16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 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de-DE" sz="16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6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de-DE" sz="1600"/>
              </a:p>
            </p:txBody>
          </p:sp>
        </mc:Choice>
        <mc:Fallback xmlns="" xmlns:m="http://schemas.openxmlformats.org/officeDocument/2006/math">
          <p:sp>
            <p:nvSpPr>
              <p:cNvPr id="43" name="Formel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920" y="6318000"/>
                <a:ext cx="1280160" cy="5303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9734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743348E-9C73-77D2-F0DC-6BBD8EF7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39" y="1566428"/>
            <a:ext cx="6661748" cy="361501"/>
          </a:xfrm>
        </p:spPr>
        <p:txBody>
          <a:bodyPr anchor="t" anchorCtr="0">
            <a:noAutofit/>
          </a:bodyPr>
          <a:lstStyle/>
          <a:p>
            <a:r>
              <a:rPr lang="de-DE" sz="1100" dirty="0"/>
              <a:t>Firth (1957): A synopsis of linguistic theory 1930–1955. Oxford: Philological Society.</a:t>
            </a:r>
            <a:endParaRPr lang="de-DE" sz="18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7859DE2-D490-428A-7914-46E91BBA433C}"/>
              </a:ext>
            </a:extLst>
          </p:cNvPr>
          <p:cNvSpPr txBox="1"/>
          <p:nvPr/>
        </p:nvSpPr>
        <p:spPr>
          <a:xfrm>
            <a:off x="513736" y="1068847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1. “You shall know a word by the company it keeps”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J.R. Firth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355758-32D5-1F90-347B-91E0E43E0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6439" y="2161311"/>
            <a:ext cx="8461716" cy="1771183"/>
          </a:xfrm>
        </p:spPr>
        <p:txBody>
          <a:bodyPr lIns="0" tIns="0" rIns="0" bIns="0" anchor="t" anchorCtr="0">
            <a:no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de-DE" sz="1800" b="1" dirty="0">
                <a:solidFill>
                  <a:srgbClr val="374151"/>
                </a:solidFill>
              </a:rPr>
              <a:t>Ein Text im etablierten Sprachgebrauch enthält Sätze wie: </a:t>
            </a:r>
            <a:br>
              <a:rPr lang="de-DE" sz="1800" b="1" dirty="0">
                <a:solidFill>
                  <a:srgbClr val="374151"/>
                </a:solidFill>
              </a:rPr>
            </a:br>
            <a:br>
              <a:rPr lang="de-DE" sz="1800" b="1" dirty="0">
                <a:solidFill>
                  <a:srgbClr val="374151"/>
                </a:solidFill>
              </a:rPr>
            </a:br>
            <a:r>
              <a:rPr lang="de-DE" sz="1800" b="1" dirty="0">
                <a:solidFill>
                  <a:srgbClr val="6001AD"/>
                </a:solidFill>
              </a:rPr>
              <a:t>"Sei nicht so ein Esel!"   ,    "Du dummer Esel!"    ,     "Was für ein Esel er ist!" </a:t>
            </a:r>
            <a:br>
              <a:rPr lang="de-DE" sz="1800" b="1" i="1" dirty="0">
                <a:solidFill>
                  <a:srgbClr val="374151"/>
                </a:solidFill>
              </a:rPr>
            </a:br>
            <a:br>
              <a:rPr lang="de-DE" sz="1800" b="1" dirty="0">
                <a:solidFill>
                  <a:srgbClr val="374151"/>
                </a:solidFill>
              </a:rPr>
            </a:br>
            <a:r>
              <a:rPr lang="de-DE" sz="1800" b="1" dirty="0">
                <a:solidFill>
                  <a:srgbClr val="374151"/>
                </a:solidFill>
              </a:rPr>
              <a:t>In diesen Sätzen findet sich das Wort </a:t>
            </a:r>
            <a:r>
              <a:rPr lang="de-DE" sz="1800" b="1" dirty="0">
                <a:solidFill>
                  <a:srgbClr val="6001AD"/>
                </a:solidFill>
              </a:rPr>
              <a:t>„Esel“ </a:t>
            </a:r>
            <a:r>
              <a:rPr lang="de-DE" sz="1800" b="1" dirty="0">
                <a:solidFill>
                  <a:srgbClr val="374151"/>
                </a:solidFill>
              </a:rPr>
              <a:t>in vertrauter Gesellschaft.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40A599D-0288-E8A9-AABA-50CB00CD638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 l="8521" t="9619" r="4084" b="42656"/>
          <a:stretch/>
        </p:blipFill>
        <p:spPr>
          <a:xfrm>
            <a:off x="8741723" y="1902290"/>
            <a:ext cx="2160000" cy="2160000"/>
          </a:xfrm>
          <a:prstGeom prst="ellipse">
            <a:avLst/>
          </a:prstGeom>
          <a:ln w="63500" cap="rnd">
            <a:noFill/>
          </a:ln>
          <a:effectLst>
            <a:outerShdw blurRad="228600" dir="13500000" sy="23000" kx="1200000" algn="br" rotWithShape="0">
              <a:srgbClr val="003C72">
                <a:alpha val="34000"/>
              </a:srgbClr>
            </a:outerShdw>
          </a:effectLst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8229FCF4-1AA4-DA43-27AD-2063EC6D9150}"/>
              </a:ext>
            </a:extLst>
          </p:cNvPr>
          <p:cNvSpPr/>
          <p:nvPr/>
        </p:nvSpPr>
        <p:spPr>
          <a:xfrm>
            <a:off x="0" y="4599991"/>
            <a:ext cx="11520488" cy="788067"/>
          </a:xfrm>
          <a:prstGeom prst="rect">
            <a:avLst/>
          </a:prstGeom>
          <a:solidFill>
            <a:srgbClr val="CE1619">
              <a:alpha val="7843"/>
            </a:srgb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9ED1507B-B754-5F50-B2BA-E3DE7DA70B97}"/>
              </a:ext>
            </a:extLst>
          </p:cNvPr>
          <p:cNvSpPr txBox="1">
            <a:spLocks/>
          </p:cNvSpPr>
          <p:nvPr/>
        </p:nvSpPr>
        <p:spPr>
          <a:xfrm>
            <a:off x="1895401" y="4657866"/>
            <a:ext cx="8461716" cy="605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0"/>
              </a:spcBef>
              <a:buFont typeface="Noto Sans Symbols"/>
              <a:buNone/>
            </a:pPr>
            <a:r>
              <a:rPr lang="de-DE" sz="1800" b="1" dirty="0">
                <a:solidFill>
                  <a:srgbClr val="CE1719"/>
                </a:solidFill>
                <a:latin typeface="Noto Sans Semibold"/>
              </a:rPr>
              <a:t>Du sollst ein Wort an der Gesellschaft erkennen, in der es sich befindet!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BB3A852-F280-233C-E9A2-2944DE66F2F2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</p:spTree>
    <p:extLst>
      <p:ext uri="{BB962C8B-B14F-4D97-AF65-F5344CB8AC3E}">
        <p14:creationId xmlns:p14="http://schemas.microsoft.com/office/powerpoint/2010/main" val="807182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743348E-9C73-77D2-F0DC-6BBD8EF7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189" y="6519760"/>
            <a:ext cx="917858" cy="451228"/>
          </a:xfrm>
        </p:spPr>
        <p:txBody>
          <a:bodyPr anchor="t" anchorCtr="0">
            <a:noAutofit/>
          </a:bodyPr>
          <a:lstStyle/>
          <a:p>
            <a:r>
              <a:rPr lang="de-DE" sz="1600" i="1" dirty="0"/>
              <a:t>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7859DE2-D490-428A-7914-46E91BBA433C}"/>
              </a:ext>
            </a:extLst>
          </p:cNvPr>
          <p:cNvSpPr txBox="1"/>
          <p:nvPr/>
        </p:nvSpPr>
        <p:spPr>
          <a:xfrm>
            <a:off x="520458" y="1062123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1. “You shall know a word by the company it keeps”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J.R. Firth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355758-32D5-1F90-347B-91E0E43E0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6439" y="1921141"/>
            <a:ext cx="9980224" cy="2554147"/>
          </a:xfrm>
        </p:spPr>
        <p:txBody>
          <a:bodyPr lIns="0" tIns="0" rIns="0" bIns="0" anchor="t" anchorCtr="0">
            <a:noAutofit/>
          </a:bodyPr>
          <a:lstStyle/>
          <a:p>
            <a:pPr marL="285750" indent="-285750">
              <a:lnSpc>
                <a:spcPct val="130000"/>
              </a:lnSpc>
              <a:spcBef>
                <a:spcPts val="0"/>
              </a:spcBef>
              <a:buBlip>
                <a:blip r:embed="rId4"/>
              </a:buBlip>
            </a:pPr>
            <a:r>
              <a:rPr lang="de-DE" sz="1800" b="1" dirty="0">
                <a:solidFill>
                  <a:srgbClr val="6001AD"/>
                </a:solidFill>
              </a:rPr>
              <a:t>Die Verteilungshypothese</a:t>
            </a:r>
            <a:r>
              <a:rPr lang="de-DE" sz="1800" b="1" dirty="0">
                <a:solidFill>
                  <a:srgbClr val="374151"/>
                </a:solidFill>
              </a:rPr>
              <a:t>, („distributional </a:t>
            </a:r>
            <a:r>
              <a:rPr lang="de-DE" sz="1800" b="1" dirty="0" err="1">
                <a:solidFill>
                  <a:srgbClr val="374151"/>
                </a:solidFill>
              </a:rPr>
              <a:t>hypothesis</a:t>
            </a:r>
            <a:r>
              <a:rPr lang="de-DE" sz="1800" b="1" dirty="0">
                <a:solidFill>
                  <a:srgbClr val="374151"/>
                </a:solidFill>
              </a:rPr>
              <a:t>“) </a:t>
            </a:r>
            <a:br>
              <a:rPr lang="de-DE" sz="1800" b="1" dirty="0">
                <a:solidFill>
                  <a:srgbClr val="374151"/>
                </a:solidFill>
              </a:rPr>
            </a:br>
            <a:r>
              <a:rPr lang="de-DE" sz="1800" b="1" dirty="0">
                <a:solidFill>
                  <a:srgbClr val="374151"/>
                </a:solidFill>
              </a:rPr>
              <a:t>ist ein Grundprinzip der Linguistik.</a:t>
            </a:r>
            <a:br>
              <a:rPr lang="de-DE" sz="1800" b="1" dirty="0">
                <a:solidFill>
                  <a:srgbClr val="374151"/>
                </a:solidFill>
              </a:rPr>
            </a:br>
            <a:endParaRPr lang="de-DE" sz="1800" b="1" dirty="0">
              <a:solidFill>
                <a:srgbClr val="374151"/>
              </a:solidFill>
            </a:endParaRP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buBlip>
                <a:blip r:embed="rId4"/>
              </a:buBlip>
            </a:pPr>
            <a:r>
              <a:rPr lang="de-DE" sz="1800" b="1" dirty="0">
                <a:solidFill>
                  <a:srgbClr val="374151"/>
                </a:solidFill>
              </a:rPr>
              <a:t>Sie besagt, dass:</a:t>
            </a:r>
            <a:br>
              <a:rPr lang="de-DE" sz="1800" b="1" dirty="0">
                <a:solidFill>
                  <a:srgbClr val="374151"/>
                </a:solidFill>
              </a:rPr>
            </a:br>
            <a:r>
              <a:rPr lang="de-DE" sz="1800" b="1" dirty="0">
                <a:solidFill>
                  <a:srgbClr val="6001AD"/>
                </a:solidFill>
              </a:rPr>
              <a:t>Wörter, die in ähnlichen Kontexten auftreten, </a:t>
            </a:r>
            <a:br>
              <a:rPr lang="de-DE" sz="1800" b="1" dirty="0">
                <a:solidFill>
                  <a:srgbClr val="6001AD"/>
                </a:solidFill>
              </a:rPr>
            </a:br>
            <a:r>
              <a:rPr lang="de-DE" sz="1800" b="1" dirty="0">
                <a:solidFill>
                  <a:srgbClr val="6001AD"/>
                </a:solidFill>
              </a:rPr>
              <a:t>tendenziell ähnliche Bedeutungen haben. 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229FCF4-1AA4-DA43-27AD-2063EC6D9150}"/>
              </a:ext>
            </a:extLst>
          </p:cNvPr>
          <p:cNvSpPr/>
          <p:nvPr/>
        </p:nvSpPr>
        <p:spPr>
          <a:xfrm>
            <a:off x="0" y="4599991"/>
            <a:ext cx="11520488" cy="788067"/>
          </a:xfrm>
          <a:prstGeom prst="rect">
            <a:avLst/>
          </a:prstGeom>
          <a:solidFill>
            <a:srgbClr val="CE1619">
              <a:alpha val="7843"/>
            </a:srgb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D6784B29-FA76-E10A-4C45-12D750ADF2AA}"/>
              </a:ext>
            </a:extLst>
          </p:cNvPr>
          <p:cNvSpPr txBox="1">
            <a:spLocks/>
          </p:cNvSpPr>
          <p:nvPr/>
        </p:nvSpPr>
        <p:spPr>
          <a:xfrm>
            <a:off x="1895401" y="4657866"/>
            <a:ext cx="8461716" cy="605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0"/>
              </a:spcBef>
              <a:buFont typeface="Noto Sans Symbols"/>
              <a:buNone/>
            </a:pPr>
            <a:r>
              <a:rPr lang="de-DE" sz="1800" b="1" dirty="0">
                <a:solidFill>
                  <a:srgbClr val="CE1719"/>
                </a:solidFill>
                <a:latin typeface="Noto Sans Semibold"/>
              </a:rPr>
              <a:t>Du sollst ein Wort an der Gesellschaft erkennen, in der es sich befindet!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A82BFD5-9C7B-484C-49B0-06E864BD181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 l="8521" t="9619" r="4084" b="42656"/>
          <a:stretch/>
        </p:blipFill>
        <p:spPr>
          <a:xfrm>
            <a:off x="8741723" y="1902290"/>
            <a:ext cx="2160000" cy="2160000"/>
          </a:xfrm>
          <a:prstGeom prst="ellipse">
            <a:avLst/>
          </a:prstGeom>
          <a:ln w="63500" cap="rnd">
            <a:noFill/>
          </a:ln>
          <a:effectLst>
            <a:outerShdw blurRad="228600" dir="13500000" sy="23000" kx="1200000" algn="br" rotWithShape="0">
              <a:srgbClr val="003C72">
                <a:alpha val="34000"/>
              </a:srgbClr>
            </a:outerShdw>
          </a:effec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5803A9D9-2008-0AD5-47AA-25CCEF6E7E9F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800" y="5508000"/>
            <a:ext cx="10440000" cy="79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374151"/>
                </a:solidFill>
              </a:rPr>
              <a:t>Formuliert u. a. von Harris (1954) und Firth (1957).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08891"/>
                </a:solidFill>
              </a:rPr>
              <a:t>→ Auch ein GPT lernt aus Kontext: Es sagt jedes Token aus seiner „Gesellschaft“ vorher (Kap. 6).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000" y="6750000"/>
            <a:ext cx="10620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Harris, Z. S. (1954): Distributional structure. Word 10 (2–3), 146–162.  ·  Firth, J. R. (1957), s. vorige Folie.</a:t>
            </a:r>
          </a:p>
        </p:txBody>
      </p:sp>
    </p:spTree>
    <p:extLst>
      <p:ext uri="{BB962C8B-B14F-4D97-AF65-F5344CB8AC3E}">
        <p14:creationId xmlns:p14="http://schemas.microsoft.com/office/powerpoint/2010/main" val="1345351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743348E-9C73-77D2-F0DC-6BBD8EF70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355758-32D5-1F90-347B-91E0E43E0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04287"/>
            <a:ext cx="10809318" cy="1894242"/>
          </a:xfrm>
        </p:spPr>
        <p:txBody>
          <a:bodyPr lIns="0" tIns="0" rIns="0" bIns="0" anchor="t" anchorCtr="0">
            <a:noAutofit/>
          </a:bodyPr>
          <a:lstStyle/>
          <a:p>
            <a:pPr marL="342900" indent="-342900">
              <a:lnSpc>
                <a:spcPct val="20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2000" b="1" dirty="0">
                <a:solidFill>
                  <a:srgbClr val="374151"/>
                </a:solidFill>
              </a:rPr>
              <a:t>„Wir pflücken die __________ frisch aus dem Garten, um süße Marmelade zuzubereiten.“</a:t>
            </a:r>
          </a:p>
          <a:p>
            <a:pPr marL="342900" indent="-342900">
              <a:lnSpc>
                <a:spcPct val="20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2000" b="1" dirty="0">
                <a:solidFill>
                  <a:srgbClr val="374151"/>
                </a:solidFill>
              </a:rPr>
              <a:t>„Direkt vom Feld werden die __________ vom Strauch für einen Joghurt-Smoothie verwendet.“</a:t>
            </a:r>
          </a:p>
          <a:p>
            <a:pPr marL="342900" indent="-342900">
              <a:lnSpc>
                <a:spcPct val="20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2000" b="1" dirty="0">
                <a:solidFill>
                  <a:srgbClr val="374151"/>
                </a:solidFill>
              </a:rPr>
              <a:t>„Das rote __________ -Dessert ist nicht nur lecker, sondern auch gesund und vitaminreich.“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endParaRPr lang="de-DE" sz="2000" b="1" dirty="0">
              <a:solidFill>
                <a:srgbClr val="535151"/>
              </a:solidFill>
            </a:endParaRPr>
          </a:p>
        </p:txBody>
      </p:sp>
      <p:pic>
        <p:nvPicPr>
          <p:cNvPr id="7" name="Grafik 6" descr="Ein Bild, das Stilllebenfotografie, Stillleben, Blau enthält.&#10;&#10;Automatisch generierte Beschreibung">
            <a:extLst>
              <a:ext uri="{FF2B5EF4-FFF2-40B4-BE49-F238E27FC236}">
                <a16:creationId xmlns:a16="http://schemas.microsoft.com/office/drawing/2014/main" id="{840A599D-0288-E8A9-AABA-50CB00CD638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rcRect l="15733" t="21312" r="16161" b="10582"/>
          <a:stretch/>
        </p:blipFill>
        <p:spPr>
          <a:xfrm>
            <a:off x="6364501" y="4182348"/>
            <a:ext cx="2160000" cy="2160000"/>
          </a:xfrm>
          <a:prstGeom prst="ellipse">
            <a:avLst/>
          </a:prstGeom>
          <a:ln w="63500" cap="rnd">
            <a:noFill/>
          </a:ln>
          <a:effectLst>
            <a:outerShdw blurRad="228600" dir="13500000" sy="23000" kx="1200000" algn="br" rotWithShape="0">
              <a:srgbClr val="003C72">
                <a:alpha val="34000"/>
              </a:srgbClr>
            </a:outerShdw>
          </a:effectLst>
        </p:spPr>
      </p:pic>
      <p:pic>
        <p:nvPicPr>
          <p:cNvPr id="9" name="Grafik 8" descr="Ein Bild, das Kleidung, Schuhwerk, Schuh, Im Haus enthält.&#10;&#10;Automatisch generierte Beschreibung">
            <a:extLst>
              <a:ext uri="{FF2B5EF4-FFF2-40B4-BE49-F238E27FC236}">
                <a16:creationId xmlns:a16="http://schemas.microsoft.com/office/drawing/2014/main" id="{F8BDB6DB-F3C1-27D0-9CC6-162EB8A6B58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5359" t="14374" r="437" b="11327"/>
          <a:stretch/>
        </p:blipFill>
        <p:spPr>
          <a:xfrm>
            <a:off x="4509848" y="4182348"/>
            <a:ext cx="2157210" cy="2160000"/>
          </a:xfrm>
          <a:prstGeom prst="ellipse">
            <a:avLst/>
          </a:prstGeom>
          <a:ln w="63500" cap="rnd">
            <a:noFill/>
          </a:ln>
          <a:effectLst>
            <a:outerShdw blurRad="228600" dir="13500000" sy="23000" kx="1200000" algn="br" rotWithShape="0">
              <a:srgbClr val="003C72">
                <a:alpha val="34000"/>
              </a:srgbClr>
            </a:outerShdw>
          </a:effectLst>
        </p:spPr>
      </p:pic>
      <p:pic>
        <p:nvPicPr>
          <p:cNvPr id="11" name="Grafik 10" descr="Ein Bild, das Frucht, Erdbeere, Beeren, Erdbeeren enthält.&#10;&#10;Automatisch generierte Beschreibung">
            <a:extLst>
              <a:ext uri="{FF2B5EF4-FFF2-40B4-BE49-F238E27FC236}">
                <a16:creationId xmlns:a16="http://schemas.microsoft.com/office/drawing/2014/main" id="{CEFEB0B4-9D60-056D-495B-4BDC53A19E8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1092" t="17965" r="8751" b="2581"/>
          <a:stretch/>
        </p:blipFill>
        <p:spPr>
          <a:xfrm>
            <a:off x="2595113" y="4182348"/>
            <a:ext cx="2179139" cy="2160000"/>
          </a:xfrm>
          <a:prstGeom prst="ellipse">
            <a:avLst/>
          </a:prstGeom>
          <a:ln w="63500" cap="rnd">
            <a:noFill/>
          </a:ln>
          <a:effectLst>
            <a:outerShdw blurRad="228600" dir="13500000" sy="23000" kx="1200000" algn="br" rotWithShape="0">
              <a:srgbClr val="003C72">
                <a:alpha val="34000"/>
              </a:srgbClr>
            </a:outerShdw>
          </a:effectLst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C7BAA583-BF1F-F865-5E38-C73AD8CF192D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rcRect l="11820" t="22273" r="10604"/>
          <a:stretch/>
        </p:blipFill>
        <p:spPr>
          <a:xfrm>
            <a:off x="717810" y="4182348"/>
            <a:ext cx="2155783" cy="2160000"/>
          </a:xfrm>
          <a:prstGeom prst="ellipse">
            <a:avLst/>
          </a:prstGeom>
          <a:ln w="63500" cap="rnd">
            <a:noFill/>
          </a:ln>
          <a:effectLst>
            <a:outerShdw blurRad="228600" dir="13500000" sy="23000" kx="1200000" algn="br" rotWithShape="0">
              <a:srgbClr val="003C72">
                <a:alpha val="34000"/>
              </a:srgbClr>
            </a:outerShdw>
          </a:effec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C226660-1AA5-9244-B8B4-C0204F16E20D}"/>
              </a:ext>
            </a:extLst>
          </p:cNvPr>
          <p:cNvSpPr txBox="1"/>
          <p:nvPr/>
        </p:nvSpPr>
        <p:spPr>
          <a:xfrm>
            <a:off x="513736" y="1068847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1. “You shall know a word by the company it keeps”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J.R. Firth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6391F37-4BF5-5358-7E47-721D6584344A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</p:spTree>
    <p:extLst>
      <p:ext uri="{BB962C8B-B14F-4D97-AF65-F5344CB8AC3E}">
        <p14:creationId xmlns:p14="http://schemas.microsoft.com/office/powerpoint/2010/main" val="3936309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id="{F77CECC7-19C7-648E-E1E5-37239D9DC3B9}"/>
              </a:ext>
            </a:extLst>
          </p:cNvPr>
          <p:cNvSpPr/>
          <p:nvPr/>
        </p:nvSpPr>
        <p:spPr>
          <a:xfrm>
            <a:off x="1798320" y="3551856"/>
            <a:ext cx="1403315" cy="523219"/>
          </a:xfrm>
          <a:prstGeom prst="rect">
            <a:avLst/>
          </a:prstGeom>
          <a:solidFill>
            <a:srgbClr val="BFBFBF">
              <a:alpha val="25098"/>
            </a:srgbClr>
          </a:solidFill>
          <a:ln w="38100">
            <a:solidFill>
              <a:srgbClr val="003C7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F1A1517-10BF-5FFE-BB3D-E52F867CB493}"/>
              </a:ext>
            </a:extLst>
          </p:cNvPr>
          <p:cNvSpPr/>
          <p:nvPr/>
        </p:nvSpPr>
        <p:spPr>
          <a:xfrm>
            <a:off x="3250402" y="4431566"/>
            <a:ext cx="641315" cy="523219"/>
          </a:xfrm>
          <a:prstGeom prst="rect">
            <a:avLst/>
          </a:prstGeom>
          <a:solidFill>
            <a:srgbClr val="BFBFBF">
              <a:alpha val="25098"/>
            </a:srgbClr>
          </a:solidFill>
          <a:ln w="38100">
            <a:solidFill>
              <a:srgbClr val="003C7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DA00387-936E-27AC-1787-09A5F798C54D}"/>
              </a:ext>
            </a:extLst>
          </p:cNvPr>
          <p:cNvSpPr/>
          <p:nvPr/>
        </p:nvSpPr>
        <p:spPr>
          <a:xfrm>
            <a:off x="1018962" y="4428660"/>
            <a:ext cx="779357" cy="523219"/>
          </a:xfrm>
          <a:prstGeom prst="rect">
            <a:avLst/>
          </a:prstGeom>
          <a:solidFill>
            <a:srgbClr val="BFBFBF">
              <a:alpha val="25098"/>
            </a:srgbClr>
          </a:solidFill>
          <a:ln w="38100">
            <a:solidFill>
              <a:srgbClr val="003C7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F4D95BBB-05A3-1B7A-10B2-6F507FB40EBA}"/>
              </a:ext>
            </a:extLst>
          </p:cNvPr>
          <p:cNvSpPr/>
          <p:nvPr/>
        </p:nvSpPr>
        <p:spPr>
          <a:xfrm>
            <a:off x="1798319" y="5328956"/>
            <a:ext cx="1452083" cy="523219"/>
          </a:xfrm>
          <a:prstGeom prst="rect">
            <a:avLst/>
          </a:prstGeom>
          <a:solidFill>
            <a:srgbClr val="BFBFBF">
              <a:alpha val="25098"/>
            </a:srgbClr>
          </a:solidFill>
          <a:ln w="38100">
            <a:solidFill>
              <a:srgbClr val="003C7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23059F79-F043-6C14-629E-E188EE16E752}"/>
              </a:ext>
            </a:extLst>
          </p:cNvPr>
          <p:cNvSpPr/>
          <p:nvPr/>
        </p:nvSpPr>
        <p:spPr>
          <a:xfrm>
            <a:off x="3891717" y="5328956"/>
            <a:ext cx="1743456" cy="523219"/>
          </a:xfrm>
          <a:prstGeom prst="rect">
            <a:avLst/>
          </a:prstGeom>
          <a:solidFill>
            <a:srgbClr val="BFBFBF">
              <a:alpha val="25098"/>
            </a:srgbClr>
          </a:solidFill>
          <a:ln w="38100">
            <a:solidFill>
              <a:srgbClr val="003C7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728582AD-6C2C-2E2A-22BE-9A767AA271AE}"/>
              </a:ext>
            </a:extLst>
          </p:cNvPr>
          <p:cNvSpPr/>
          <p:nvPr/>
        </p:nvSpPr>
        <p:spPr>
          <a:xfrm>
            <a:off x="3254029" y="6199147"/>
            <a:ext cx="641315" cy="523219"/>
          </a:xfrm>
          <a:prstGeom prst="rect">
            <a:avLst/>
          </a:prstGeom>
          <a:solidFill>
            <a:srgbClr val="BFBFBF">
              <a:alpha val="25098"/>
            </a:srgbClr>
          </a:solidFill>
          <a:ln w="38100">
            <a:solidFill>
              <a:srgbClr val="003C7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0AFF3F0-B1C4-A471-4DBE-7B04074CB00F}"/>
              </a:ext>
            </a:extLst>
          </p:cNvPr>
          <p:cNvSpPr/>
          <p:nvPr/>
        </p:nvSpPr>
        <p:spPr>
          <a:xfrm>
            <a:off x="5640653" y="6205688"/>
            <a:ext cx="1003987" cy="523219"/>
          </a:xfrm>
          <a:prstGeom prst="rect">
            <a:avLst/>
          </a:prstGeom>
          <a:solidFill>
            <a:srgbClr val="BFBFBF">
              <a:alpha val="25098"/>
            </a:srgbClr>
          </a:solidFill>
          <a:ln w="38100">
            <a:solidFill>
              <a:srgbClr val="003C7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9EBC3ED5-3B48-8C3A-72DE-3E27EBC82704}"/>
              </a:ext>
            </a:extLst>
          </p:cNvPr>
          <p:cNvGrpSpPr/>
          <p:nvPr/>
        </p:nvGrpSpPr>
        <p:grpSpPr>
          <a:xfrm>
            <a:off x="1018963" y="3551856"/>
            <a:ext cx="9482560" cy="3193129"/>
            <a:chOff x="1018963" y="3318176"/>
            <a:chExt cx="9482560" cy="3193129"/>
          </a:xfrm>
        </p:grpSpPr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3FB737A8-1D69-3C32-B96B-542CA0F71508}"/>
                </a:ext>
              </a:extLst>
            </p:cNvPr>
            <p:cNvSpPr txBox="1"/>
            <p:nvPr/>
          </p:nvSpPr>
          <p:spPr>
            <a:xfrm>
              <a:off x="1018964" y="3318176"/>
              <a:ext cx="948255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3000" u="sng" dirty="0">
                  <a:solidFill>
                    <a:srgbClr val="C00000"/>
                  </a:solidFill>
                  <a:latin typeface="Noto Sans Semibold"/>
                </a:rPr>
                <a:t>Wir</a:t>
              </a:r>
              <a:r>
                <a:rPr lang="de-DE" sz="3000" dirty="0">
                  <a:latin typeface="Noto Sans Semibold"/>
                </a:rPr>
                <a:t>  pflücken  die  Erdbeeren  frisch  aus  dem  Garten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D8F52440-6965-2026-72E7-B2EC0355A47D}"/>
                </a:ext>
              </a:extLst>
            </p:cNvPr>
            <p:cNvSpPr txBox="1"/>
            <p:nvPr/>
          </p:nvSpPr>
          <p:spPr>
            <a:xfrm>
              <a:off x="1018963" y="4197886"/>
              <a:ext cx="948255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3000" dirty="0">
                  <a:latin typeface="Noto Sans Semibold"/>
                </a:rPr>
                <a:t>Wir  </a:t>
              </a:r>
              <a:r>
                <a:rPr lang="de-DE" sz="3000" u="sng" dirty="0">
                  <a:solidFill>
                    <a:srgbClr val="C00000"/>
                  </a:solidFill>
                  <a:latin typeface="Noto Sans Semibold"/>
                </a:rPr>
                <a:t>pflücken</a:t>
              </a:r>
              <a:r>
                <a:rPr lang="de-DE" sz="3000" dirty="0">
                  <a:latin typeface="Noto Sans Semibold"/>
                </a:rPr>
                <a:t>  die  Erdbeeren  frisch  aus  dem  Garten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949678A6-7947-2B07-1994-0CFB7A326228}"/>
                </a:ext>
              </a:extLst>
            </p:cNvPr>
            <p:cNvSpPr txBox="1"/>
            <p:nvPr/>
          </p:nvSpPr>
          <p:spPr>
            <a:xfrm>
              <a:off x="1018963" y="5077596"/>
              <a:ext cx="948255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3000" dirty="0">
                  <a:latin typeface="Noto Sans Semibold"/>
                </a:rPr>
                <a:t>Wir  pflücken  </a:t>
              </a:r>
              <a:r>
                <a:rPr lang="de-DE" sz="3000" u="sng" dirty="0">
                  <a:solidFill>
                    <a:srgbClr val="C00000"/>
                  </a:solidFill>
                  <a:latin typeface="Noto Sans Semibold"/>
                </a:rPr>
                <a:t>die</a:t>
              </a:r>
              <a:r>
                <a:rPr lang="de-DE" sz="3000" dirty="0">
                  <a:latin typeface="Noto Sans Semibold"/>
                </a:rPr>
                <a:t>  Erdbeeren  frisch  aus  dem  Garten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49F340D3-27F7-41EB-37D1-9F4AE0F07247}"/>
                </a:ext>
              </a:extLst>
            </p:cNvPr>
            <p:cNvSpPr txBox="1"/>
            <p:nvPr/>
          </p:nvSpPr>
          <p:spPr>
            <a:xfrm>
              <a:off x="1018963" y="5957307"/>
              <a:ext cx="948255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3000" dirty="0">
                  <a:latin typeface="Noto Sans Semibold"/>
                </a:rPr>
                <a:t>Wir  pflücken  die  </a:t>
              </a:r>
              <a:r>
                <a:rPr lang="de-DE" sz="3000" u="sng" dirty="0">
                  <a:solidFill>
                    <a:srgbClr val="C00000"/>
                  </a:solidFill>
                  <a:latin typeface="Noto Sans Semibold"/>
                </a:rPr>
                <a:t>Erdbeeren</a:t>
              </a:r>
              <a:r>
                <a:rPr lang="de-DE" sz="3000" dirty="0">
                  <a:latin typeface="Noto Sans Semibold"/>
                </a:rPr>
                <a:t>  frisch  aus  dem  Garten</a:t>
              </a:r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27859DE2-D490-428A-7914-46E91BBA433C}"/>
              </a:ext>
            </a:extLst>
          </p:cNvPr>
          <p:cNvSpPr txBox="1"/>
          <p:nvPr/>
        </p:nvSpPr>
        <p:spPr>
          <a:xfrm>
            <a:off x="520948" y="1063891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1. Exkurs: word2vec (2013)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Statische Embeddings – vor dem Transformer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355758-32D5-1F90-347B-91E0E43E0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0708" y="2021785"/>
            <a:ext cx="10670791" cy="869143"/>
          </a:xfrm>
        </p:spPr>
        <p:txBody>
          <a:bodyPr lIns="0" tIns="0" rIns="0" bIns="0" anchor="t" anchorCtr="0">
            <a:noAutofit/>
          </a:bodyPr>
          <a:lstStyle/>
          <a:p>
            <a:pPr marL="342900" indent="-342900">
              <a:lnSpc>
                <a:spcPct val="13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800" b="1" dirty="0">
                <a:solidFill>
                  <a:srgbClr val="535151"/>
                </a:solidFill>
              </a:rPr>
              <a:t>Skip-Gram: Aus einem Text werden Paare (Wort, Nachbarwort) im Fenster gebildet; </a:t>
            </a:r>
            <a:br>
              <a:rPr lang="de-DE" sz="1800" b="1" dirty="0">
                <a:solidFill>
                  <a:srgbClr val="535151"/>
                </a:solidFill>
              </a:rPr>
            </a:br>
            <a:r>
              <a:rPr lang="de-DE" sz="1800" b="1" dirty="0">
                <a:solidFill>
                  <a:srgbClr val="535151"/>
                </a:solidFill>
              </a:rPr>
              <a:t>ein flaches Netz lernt, die Nachbarn vorherzusagen (Mikolov et al. 2013).</a:t>
            </a:r>
            <a:br>
              <a:rPr lang="de-DE" sz="1800" b="1" dirty="0">
                <a:solidFill>
                  <a:srgbClr val="535151"/>
                </a:solidFill>
              </a:rPr>
            </a:br>
            <a:endParaRPr lang="de-DE" sz="1050" b="1" dirty="0">
              <a:solidFill>
                <a:srgbClr val="535151"/>
              </a:solidFill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800" b="1" dirty="0">
                <a:solidFill>
                  <a:srgbClr val="535151"/>
                </a:solidFill>
              </a:rPr>
              <a:t>Ergebnis: ein fester Vektor pro Wort („statische Word-Embeddings“), trainiert außerhalb jedes Transformers.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3FB57B4-90FC-8B36-6DD4-D76296874138}"/>
              </a:ext>
            </a:extLst>
          </p:cNvPr>
          <p:cNvSpPr txBox="1"/>
          <p:nvPr/>
        </p:nvSpPr>
        <p:spPr>
          <a:xfrm>
            <a:off x="535409" y="1484154"/>
            <a:ext cx="5694430" cy="36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>
                <a:schemeClr val="dk1"/>
              </a:buClr>
              <a:buSzPts val="2000"/>
              <a:defRPr sz="1512" i="1" u="sng">
                <a:solidFill>
                  <a:schemeClr val="tx1"/>
                </a:solidFill>
                <a:latin typeface="Frutiger LT 45 Light" panose="020B0500000000000000" pitchFamily="34" charset="0"/>
                <a:ea typeface="Corbel"/>
                <a:cs typeface="Corbel"/>
              </a:defRPr>
            </a:lvl1pPr>
          </a:lstStyle>
          <a:p>
            <a:r>
              <a:rPr lang="de-DE" sz="1800" b="1" i="0" dirty="0">
                <a:solidFill>
                  <a:srgbClr val="C00000"/>
                </a:solidFill>
                <a:latin typeface="Noto Sans Semibold"/>
              </a:rPr>
              <a:t>https://</a:t>
            </a:r>
            <a:r>
              <a:rPr lang="de-DE" sz="1800" b="1" i="0" dirty="0" err="1">
                <a:solidFill>
                  <a:srgbClr val="C00000"/>
                </a:solidFill>
                <a:latin typeface="Noto Sans Semibold"/>
              </a:rPr>
              <a:t>iludis.de</a:t>
            </a:r>
            <a:r>
              <a:rPr lang="de-DE" sz="1800" b="1" i="0" dirty="0">
                <a:solidFill>
                  <a:srgbClr val="C00000"/>
                </a:solidFill>
                <a:latin typeface="Noto Sans Semibold"/>
              </a:rPr>
              <a:t>/?p=1659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6E729B8-8173-BDA9-5A81-EA60E377987C}"/>
              </a:ext>
            </a:extLst>
          </p:cNvPr>
          <p:cNvSpPr/>
          <p:nvPr/>
        </p:nvSpPr>
        <p:spPr>
          <a:xfrm>
            <a:off x="3254029" y="5328956"/>
            <a:ext cx="641315" cy="523219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D5B8F56-AAA6-DFB4-A0AC-8D2E29AA41AD}"/>
              </a:ext>
            </a:extLst>
          </p:cNvPr>
          <p:cNvSpPr/>
          <p:nvPr/>
        </p:nvSpPr>
        <p:spPr>
          <a:xfrm>
            <a:off x="1018963" y="3551856"/>
            <a:ext cx="779357" cy="523219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61FCC9A-A192-84B2-03CF-DC18A81EB9C3}"/>
              </a:ext>
            </a:extLst>
          </p:cNvPr>
          <p:cNvSpPr/>
          <p:nvPr/>
        </p:nvSpPr>
        <p:spPr>
          <a:xfrm>
            <a:off x="1798319" y="4431566"/>
            <a:ext cx="1452083" cy="523219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BAAA35F-B883-D3DE-A805-48DF1B75F0B3}"/>
              </a:ext>
            </a:extLst>
          </p:cNvPr>
          <p:cNvSpPr/>
          <p:nvPr/>
        </p:nvSpPr>
        <p:spPr>
          <a:xfrm>
            <a:off x="3895344" y="6202687"/>
            <a:ext cx="1743456" cy="523219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3AEB8C0-71DA-80E2-69E3-7D49AA304649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</p:spTree>
    <p:extLst>
      <p:ext uri="{BB962C8B-B14F-4D97-AF65-F5344CB8AC3E}">
        <p14:creationId xmlns:p14="http://schemas.microsoft.com/office/powerpoint/2010/main" val="4151360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7859DE2-D490-428A-7914-46E91BBA433C}"/>
              </a:ext>
            </a:extLst>
          </p:cNvPr>
          <p:cNvSpPr txBox="1"/>
          <p:nvPr/>
        </p:nvSpPr>
        <p:spPr>
          <a:xfrm>
            <a:off x="514224" y="1063891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1. Exkurs: word2vec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Ergebnis des Trainings: statische Vektoren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355758-32D5-1F90-347B-91E0E43E0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408" y="2249990"/>
            <a:ext cx="8572677" cy="1147422"/>
          </a:xfrm>
        </p:spPr>
        <p:txBody>
          <a:bodyPr lIns="0" tIns="0" rIns="0" bIns="0" anchor="t" anchorCtr="0"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800" b="1" dirty="0">
                <a:solidFill>
                  <a:srgbClr val="535151"/>
                </a:solidFill>
              </a:rPr>
              <a:t>Die resultierenden Vektoren haben die Form von Listen mit Zahlen.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800" b="1" dirty="0">
                <a:solidFill>
                  <a:srgbClr val="535151"/>
                </a:solidFill>
              </a:rPr>
              <a:t>Die Listenlänge ist ein frei wählbarer Hyperparameter – hier 300.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800" b="1" dirty="0">
                <a:solidFill>
                  <a:srgbClr val="535151"/>
                </a:solidFill>
              </a:rPr>
              <a:t>Zum Vergleich, Breite eines Transformers (d</a:t>
            </a:r>
            <a:r>
              <a:rPr lang="de-DE" sz="1800" b="1" baseline="-25000" dirty="0">
                <a:solidFill>
                  <a:srgbClr val="535151"/>
                </a:solidFill>
              </a:rPr>
              <a:t>model</a:t>
            </a:r>
            <a:r>
              <a:rPr lang="de-DE" sz="1800" b="1" dirty="0">
                <a:solidFill>
                  <a:srgbClr val="535151"/>
                </a:solidFill>
              </a:rPr>
              <a:t>): GPT-3 175B 12 288, Guppy 384.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de-DE" sz="1800" b="1" dirty="0">
              <a:solidFill>
                <a:srgbClr val="535151"/>
              </a:solidFill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0080288D-DF39-CD3B-F635-6420CE236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5C2C60D-65D1-894B-E90E-22BCA0ADA508}"/>
              </a:ext>
            </a:extLst>
          </p:cNvPr>
          <p:cNvSpPr txBox="1"/>
          <p:nvPr/>
        </p:nvSpPr>
        <p:spPr>
          <a:xfrm>
            <a:off x="535409" y="1485100"/>
            <a:ext cx="7516890" cy="64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>
                <a:schemeClr val="dk1"/>
              </a:buClr>
              <a:buSzPts val="2000"/>
              <a:defRPr sz="1512" i="1" u="sng">
                <a:solidFill>
                  <a:schemeClr val="tx1"/>
                </a:solidFill>
                <a:latin typeface="Frutiger LT 45 Light" panose="020B0500000000000000" pitchFamily="34" charset="0"/>
                <a:ea typeface="Corbel"/>
                <a:cs typeface="Corbel"/>
              </a:defRPr>
            </a:lvl1pPr>
          </a:lstStyle>
          <a:p>
            <a:r>
              <a:rPr lang="de-DE" sz="1800" i="0" u="none" dirty="0">
                <a:latin typeface="Noto Sans Semibol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https://www.cs.cmu.edu/~dst/WordEmbeddingDemo/index.html</a:t>
            </a:r>
            <a:endParaRPr lang="de-DE" sz="1800" i="0" u="none" dirty="0">
              <a:latin typeface="Noto Sans Semibold"/>
            </a:endParaRPr>
          </a:p>
          <a:p>
            <a:r>
              <a:rPr lang="de-DE" sz="1800" i="0" u="none" dirty="0">
                <a:latin typeface="Noto Sans Semibold"/>
                <a:hlinkClick r:id="rId6"/>
              </a:rPr>
              <a:t>https://iludis.de/WordVektor/index.html</a:t>
            </a:r>
            <a:endParaRPr lang="de-DE" sz="1800" i="0" u="none" dirty="0">
              <a:latin typeface="Noto Sans Semibold"/>
            </a:endParaRP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056CD4DA-777A-1C30-3A12-1C91D4200927}"/>
              </a:ext>
            </a:extLst>
          </p:cNvPr>
          <p:cNvGrpSpPr/>
          <p:nvPr/>
        </p:nvGrpSpPr>
        <p:grpSpPr>
          <a:xfrm>
            <a:off x="951448" y="3651100"/>
            <a:ext cx="9033380" cy="2633354"/>
            <a:chOff x="238989" y="3222358"/>
            <a:chExt cx="10972321" cy="3198582"/>
          </a:xfrm>
        </p:grpSpPr>
        <p:pic>
          <p:nvPicPr>
            <p:cNvPr id="7" name="Grafik 6" descr="Ein Bild, das Screenshot, Muster, Reihe, Rechteck enthält.&#10;&#10;Automatisch generierte Beschreibung">
              <a:extLst>
                <a:ext uri="{FF2B5EF4-FFF2-40B4-BE49-F238E27FC236}">
                  <a16:creationId xmlns:a16="http://schemas.microsoft.com/office/drawing/2014/main" id="{83B8DA59-080D-AE9A-1D75-65345FDC12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100" t="16237" b="74549"/>
            <a:stretch/>
          </p:blipFill>
          <p:spPr>
            <a:xfrm>
              <a:off x="447040" y="4042956"/>
              <a:ext cx="10764270" cy="767268"/>
            </a:xfrm>
            <a:prstGeom prst="rect">
              <a:avLst/>
            </a:prstGeom>
          </p:spPr>
        </p:pic>
        <p:pic>
          <p:nvPicPr>
            <p:cNvPr id="9" name="Grafik 8" descr="Ein Bild, das Screenshot, Muster, Reihe, Rechteck enthält.&#10;&#10;Automatisch generierte Beschreibung">
              <a:extLst>
                <a:ext uri="{FF2B5EF4-FFF2-40B4-BE49-F238E27FC236}">
                  <a16:creationId xmlns:a16="http://schemas.microsoft.com/office/drawing/2014/main" id="{A96D7C4C-9851-50AD-B1D3-0E7E5C566D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266" t="76438" b="14348"/>
            <a:stretch/>
          </p:blipFill>
          <p:spPr>
            <a:xfrm>
              <a:off x="238989" y="3222358"/>
              <a:ext cx="10972320" cy="767268"/>
            </a:xfrm>
            <a:prstGeom prst="rect">
              <a:avLst/>
            </a:prstGeom>
          </p:spPr>
        </p:pic>
        <p:pic>
          <p:nvPicPr>
            <p:cNvPr id="10" name="Grafik 9" descr="Ein Bild, das Screenshot, Muster, Reihe, Rechteck enthält.&#10;&#10;Automatisch generierte Beschreibung">
              <a:extLst>
                <a:ext uri="{FF2B5EF4-FFF2-40B4-BE49-F238E27FC236}">
                  <a16:creationId xmlns:a16="http://schemas.microsoft.com/office/drawing/2014/main" id="{39DC94CB-0A2A-C573-32FE-D6767DAC3E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114" t="241" b="90545"/>
            <a:stretch/>
          </p:blipFill>
          <p:spPr>
            <a:xfrm>
              <a:off x="335280" y="4853394"/>
              <a:ext cx="10876028" cy="767268"/>
            </a:xfrm>
            <a:prstGeom prst="rect">
              <a:avLst/>
            </a:prstGeom>
          </p:spPr>
        </p:pic>
        <p:pic>
          <p:nvPicPr>
            <p:cNvPr id="12" name="Grafik 11" descr="Ein Bild, das Screenshot, Muster, Reihe, Rechteck enthält.&#10;&#10;Automatisch generierte Beschreibung">
              <a:extLst>
                <a:ext uri="{FF2B5EF4-FFF2-40B4-BE49-F238E27FC236}">
                  <a16:creationId xmlns:a16="http://schemas.microsoft.com/office/drawing/2014/main" id="{D3235C1D-7A84-7F57-6D95-F02AB6A89E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100" t="45722" b="45064"/>
            <a:stretch/>
          </p:blipFill>
          <p:spPr>
            <a:xfrm>
              <a:off x="447040" y="5653672"/>
              <a:ext cx="10764267" cy="767268"/>
            </a:xfrm>
            <a:prstGeom prst="rect">
              <a:avLst/>
            </a:prstGeom>
          </p:spPr>
        </p:pic>
      </p:grpSp>
      <p:pic>
        <p:nvPicPr>
          <p:cNvPr id="15" name="Grafik 14" descr="Ein Bild, das Screenshot, Text, Design enthält.&#10;&#10;Automatisch generierte Beschreibung">
            <a:extLst>
              <a:ext uri="{FF2B5EF4-FFF2-40B4-BE49-F238E27FC236}">
                <a16:creationId xmlns:a16="http://schemas.microsoft.com/office/drawing/2014/main" id="{35D5F095-5923-1A9A-217E-45C35FE0F0F8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20274" y="1325501"/>
            <a:ext cx="884633" cy="561258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D9388AFA-3AF4-F678-C44A-A56D0BE1D0CE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</p:spTree>
    <p:extLst>
      <p:ext uri="{BB962C8B-B14F-4D97-AF65-F5344CB8AC3E}">
        <p14:creationId xmlns:p14="http://schemas.microsoft.com/office/powerpoint/2010/main" val="3263104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1. Embeddings im Transformer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Eine gelernte Tabelle – Teil des Modells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2000" y="1800000"/>
            <a:ext cx="6300000" cy="3770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sz="1600" b="1" dirty="0" err="1">
                <a:solidFill>
                  <a:srgbClr val="374151"/>
                </a:solidFill>
              </a:rPr>
              <a:t>Jede</a:t>
            </a:r>
            <a:r>
              <a:rPr sz="1600" b="1" dirty="0">
                <a:solidFill>
                  <a:srgbClr val="374151"/>
                </a:solidFill>
              </a:rPr>
              <a:t> Token-ID </a:t>
            </a:r>
            <a:r>
              <a:rPr sz="1600" b="1" dirty="0" err="1">
                <a:solidFill>
                  <a:srgbClr val="374151"/>
                </a:solidFill>
              </a:rPr>
              <a:t>wählt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eine</a:t>
            </a:r>
            <a:r>
              <a:rPr sz="1600" b="1" dirty="0">
                <a:solidFill>
                  <a:srgbClr val="374151"/>
                </a:solidFill>
              </a:rPr>
              <a:t> Zeile der Matrix W</a:t>
            </a:r>
            <a:r>
              <a:rPr sz="1600" b="1" baseline="-25000" dirty="0">
                <a:solidFill>
                  <a:srgbClr val="374151"/>
                </a:solidFill>
              </a:rPr>
              <a:t>E</a:t>
            </a:r>
            <a:r>
              <a:rPr sz="1600" b="1" dirty="0">
                <a:solidFill>
                  <a:srgbClr val="374151"/>
                </a:solidFill>
              </a:rPr>
              <a:t> (V × </a:t>
            </a:r>
            <a:r>
              <a:rPr sz="1600" b="1" dirty="0" err="1">
                <a:solidFill>
                  <a:srgbClr val="374151"/>
                </a:solidFill>
              </a:rPr>
              <a:t>d</a:t>
            </a:r>
            <a:r>
              <a:rPr sz="1600" b="1" baseline="-25000" dirty="0" err="1">
                <a:solidFill>
                  <a:srgbClr val="374151"/>
                </a:solidFill>
              </a:rPr>
              <a:t>model</a:t>
            </a:r>
            <a:r>
              <a:rPr sz="1600" b="1" dirty="0">
                <a:solidFill>
                  <a:srgbClr val="374151"/>
                </a:solidFill>
              </a:rPr>
              <a:t>).</a:t>
            </a:r>
            <a:br>
              <a:rPr lang="de-DE" sz="1600" b="1" dirty="0">
                <a:solidFill>
                  <a:srgbClr val="374151"/>
                </a:solidFill>
              </a:rPr>
            </a:br>
            <a:endParaRPr sz="1600" b="1" dirty="0">
              <a:solidFill>
                <a:srgbClr val="374151"/>
              </a:solidFill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sz="1600" b="1" dirty="0">
                <a:solidFill>
                  <a:srgbClr val="374151"/>
                </a:solidFill>
              </a:rPr>
              <a:t>W</a:t>
            </a:r>
            <a:r>
              <a:rPr sz="1600" b="1" baseline="-25000" dirty="0">
                <a:solidFill>
                  <a:srgbClr val="374151"/>
                </a:solidFill>
              </a:rPr>
              <a:t>E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startet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zufällig</a:t>
            </a:r>
            <a:r>
              <a:rPr sz="1600" b="1" dirty="0">
                <a:solidFill>
                  <a:srgbClr val="374151"/>
                </a:solidFill>
              </a:rPr>
              <a:t> (Guppy: </a:t>
            </a:r>
            <a:r>
              <a:rPr sz="1600" b="1" dirty="0" err="1">
                <a:solidFill>
                  <a:srgbClr val="374151"/>
                </a:solidFill>
              </a:rPr>
              <a:t>Normalverteilung</a:t>
            </a:r>
            <a:r>
              <a:rPr sz="1600" b="1" dirty="0">
                <a:solidFill>
                  <a:srgbClr val="374151"/>
                </a:solidFill>
              </a:rPr>
              <a:t>, </a:t>
            </a:r>
            <a:r>
              <a:rPr sz="1600" b="1" dirty="0" err="1">
                <a:solidFill>
                  <a:srgbClr val="374151"/>
                </a:solidFill>
              </a:rPr>
              <a:t>σ</a:t>
            </a:r>
            <a:r>
              <a:rPr sz="1600" b="1" dirty="0">
                <a:solidFill>
                  <a:srgbClr val="374151"/>
                </a:solidFill>
              </a:rPr>
              <a:t> = 0,02) und </a:t>
            </a:r>
            <a:r>
              <a:rPr sz="1600" b="1" dirty="0" err="1">
                <a:solidFill>
                  <a:srgbClr val="374151"/>
                </a:solidFill>
              </a:rPr>
              <a:t>wird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mit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allen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anderen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Gewichten</a:t>
            </a:r>
            <a:r>
              <a:rPr sz="1600" b="1" dirty="0">
                <a:solidFill>
                  <a:srgbClr val="374151"/>
                </a:solidFill>
              </a:rPr>
              <a:t> per Backpropagation auf das </a:t>
            </a:r>
            <a:r>
              <a:rPr sz="1600" b="1" dirty="0" err="1">
                <a:solidFill>
                  <a:srgbClr val="374151"/>
                </a:solidFill>
              </a:rPr>
              <a:t>Trainingsziel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optimiert</a:t>
            </a:r>
            <a:r>
              <a:rPr sz="1600" b="1" dirty="0">
                <a:solidFill>
                  <a:srgbClr val="374151"/>
                </a:solidFill>
              </a:rPr>
              <a:t>.</a:t>
            </a:r>
            <a:br>
              <a:rPr lang="de-DE" sz="1600" b="1" dirty="0">
                <a:solidFill>
                  <a:srgbClr val="374151"/>
                </a:solidFill>
              </a:rPr>
            </a:br>
            <a:endParaRPr sz="1600" b="1" dirty="0">
              <a:solidFill>
                <a:srgbClr val="374151"/>
              </a:solidFill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sz="1600" b="1" dirty="0">
                <a:solidFill>
                  <a:srgbClr val="CE1619"/>
                </a:solidFill>
              </a:rPr>
              <a:t>Kein word2vec-Vortraining: </a:t>
            </a:r>
            <a:r>
              <a:rPr sz="1600" b="1" dirty="0">
                <a:solidFill>
                  <a:srgbClr val="374151"/>
                </a:solidFill>
              </a:rPr>
              <a:t>„we use learned embeddings“ (Vaswani et al. 2017); GPT-1</a:t>
            </a:r>
            <a:r>
              <a:rPr lang="de-DE" sz="1600" b="1" dirty="0">
                <a:solidFill>
                  <a:srgbClr val="374151"/>
                </a:solidFill>
              </a:rPr>
              <a:t> </a:t>
            </a:r>
            <a:r>
              <a:rPr lang="en-GB" sz="1600" i="1" dirty="0">
                <a:solidFill>
                  <a:srgbClr val="374151"/>
                </a:solidFill>
              </a:rPr>
              <a:t>(Radford et al. 2018)</a:t>
            </a:r>
            <a:r>
              <a:rPr sz="1600" b="1" dirty="0">
                <a:solidFill>
                  <a:srgbClr val="374151"/>
                </a:solidFill>
              </a:rPr>
              <a:t>: </a:t>
            </a:r>
            <a:br>
              <a:rPr lang="de-DE" sz="1600" b="1" dirty="0">
                <a:solidFill>
                  <a:srgbClr val="374151"/>
                </a:solidFill>
              </a:rPr>
            </a:br>
            <a:r>
              <a:rPr sz="1600" b="1" dirty="0">
                <a:solidFill>
                  <a:srgbClr val="374151"/>
                </a:solidFill>
              </a:rPr>
              <a:t>h₀ = </a:t>
            </a:r>
            <a:r>
              <a:rPr sz="1600" b="1" dirty="0" err="1">
                <a:solidFill>
                  <a:srgbClr val="374151"/>
                </a:solidFill>
              </a:rPr>
              <a:t>U·W_e</a:t>
            </a:r>
            <a:r>
              <a:rPr sz="1600" b="1" dirty="0">
                <a:solidFill>
                  <a:srgbClr val="374151"/>
                </a:solidFill>
              </a:rPr>
              <a:t> + </a:t>
            </a:r>
            <a:r>
              <a:rPr sz="1600" b="1" dirty="0" err="1">
                <a:solidFill>
                  <a:srgbClr val="374151"/>
                </a:solidFill>
              </a:rPr>
              <a:t>W_p</a:t>
            </a:r>
            <a:br>
              <a:rPr lang="de-DE" sz="1600" b="1" dirty="0">
                <a:solidFill>
                  <a:srgbClr val="374151"/>
                </a:solidFill>
              </a:rPr>
            </a:br>
            <a:endParaRPr sz="1600" b="1" dirty="0">
              <a:solidFill>
                <a:srgbClr val="374151"/>
              </a:solidFill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sz="1600" b="1" dirty="0">
                <a:solidFill>
                  <a:srgbClr val="008891"/>
                </a:solidFill>
              </a:rPr>
              <a:t>Guppy: 2 597 × 384 = 997 248 Parameter (8,5 % des </a:t>
            </a:r>
            <a:r>
              <a:rPr sz="1600" b="1" dirty="0" err="1">
                <a:solidFill>
                  <a:srgbClr val="008891"/>
                </a:solidFill>
              </a:rPr>
              <a:t>Modells</a:t>
            </a:r>
            <a:r>
              <a:rPr sz="1600" b="1" dirty="0">
                <a:solidFill>
                  <a:srgbClr val="008891"/>
                </a:solidFill>
              </a:rPr>
              <a:t>).</a:t>
            </a:r>
            <a:br>
              <a:rPr lang="de-DE" sz="1600" b="1" dirty="0">
                <a:solidFill>
                  <a:srgbClr val="008891"/>
                </a:solidFill>
              </a:rPr>
            </a:br>
            <a:endParaRPr sz="1600" b="1" dirty="0">
              <a:solidFill>
                <a:srgbClr val="008891"/>
              </a:solidFill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sz="1600" b="1" dirty="0">
                <a:solidFill>
                  <a:srgbClr val="374151"/>
                </a:solidFill>
              </a:rPr>
              <a:t>Weight Tying: </a:t>
            </a:r>
            <a:br>
              <a:rPr lang="de-DE" sz="1600" b="1" dirty="0">
                <a:solidFill>
                  <a:srgbClr val="374151"/>
                </a:solidFill>
              </a:rPr>
            </a:br>
            <a:r>
              <a:rPr sz="1600" b="1" dirty="0" err="1">
                <a:solidFill>
                  <a:srgbClr val="374151"/>
                </a:solidFill>
              </a:rPr>
              <a:t>Dieselbe</a:t>
            </a:r>
            <a:r>
              <a:rPr sz="1600" b="1" dirty="0">
                <a:solidFill>
                  <a:srgbClr val="374151"/>
                </a:solidFill>
              </a:rPr>
              <a:t> Matrix </a:t>
            </a:r>
            <a:r>
              <a:rPr sz="1600" b="1" dirty="0" err="1">
                <a:solidFill>
                  <a:srgbClr val="374151"/>
                </a:solidFill>
              </a:rPr>
              <a:t>wird</a:t>
            </a:r>
            <a:r>
              <a:rPr sz="1600" b="1" dirty="0">
                <a:solidFill>
                  <a:srgbClr val="374151"/>
                </a:solidFill>
              </a:rPr>
              <a:t> am </a:t>
            </a:r>
            <a:r>
              <a:rPr sz="1600" b="1" dirty="0" err="1">
                <a:solidFill>
                  <a:srgbClr val="374151"/>
                </a:solidFill>
              </a:rPr>
              <a:t>Ausgang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wiederverwendet</a:t>
            </a:r>
            <a:r>
              <a:rPr sz="1600" b="1" dirty="0">
                <a:solidFill>
                  <a:srgbClr val="374151"/>
                </a:solidFill>
              </a:rPr>
              <a:t> (Kap. 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28000" y="1872000"/>
            <a:ext cx="3960000" cy="1872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08000" y="1962000"/>
            <a:ext cx="360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6001AD"/>
                </a:solidFill>
              </a:rPr>
              <a:t>Eingabe des ersten Blocks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Formel 8"/>
              <p:cNvSpPr txBox="1"/>
              <p:nvPr/>
            </p:nvSpPr>
            <p:spPr>
              <a:xfrm>
                <a:off x="7905480" y="2412000"/>
                <a:ext cx="2405040" cy="36423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d>
                            <m:dPr>
                              <m:ctrlP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bSup>
                      <m: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0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0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tok</m:t>
                              </m:r>
                            </m:e>
                            <m:sub>
                              <m: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de-DE" sz="2000"/>
              </a:p>
            </p:txBody>
          </p:sp>
        </mc:Choice>
        <mc:Fallback xmlns="" xmlns:m="http://schemas.openxmlformats.org/officeDocument/2006/math">
          <p:sp>
            <p:nvSpPr>
              <p:cNvPr id="8" name="Formel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480" y="2412000"/>
                <a:ext cx="2225040" cy="3642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7308000" y="3024000"/>
            <a:ext cx="3600000" cy="6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</a:rPr>
              <a:t>tok</a:t>
            </a:r>
            <a:r>
              <a:rPr sz="1200" b="0" baseline="-25000">
                <a:solidFill>
                  <a:srgbClr val="374151"/>
                </a:solidFill>
              </a:rPr>
              <a:t>t</a:t>
            </a:r>
            <a:r>
              <a:rPr sz="1200" b="0">
                <a:solidFill>
                  <a:srgbClr val="374151"/>
                </a:solidFill>
              </a:rPr>
              <a:t>: Token-ID an Position t; p</a:t>
            </a:r>
            <a:r>
              <a:rPr sz="1200" b="0" baseline="-25000">
                <a:solidFill>
                  <a:srgbClr val="374151"/>
                </a:solidFill>
              </a:rPr>
              <a:t>t</a:t>
            </a:r>
            <a:r>
              <a:rPr sz="1200" b="0">
                <a:solidFill>
                  <a:srgbClr val="374151"/>
                </a:solidFill>
              </a:rPr>
              <a:t>: Positionsvektor (Kap. 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Formel 10"/>
              <p:cNvSpPr txBox="1"/>
              <p:nvPr/>
            </p:nvSpPr>
            <p:spPr>
              <a:xfrm>
                <a:off x="8307054" y="3960000"/>
                <a:ext cx="1601892" cy="25450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de-DE" sz="18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de-DE" sz="18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8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de-DE" sz="18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18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model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de-DE" sz="1800"/>
              </a:p>
            </p:txBody>
          </p:sp>
        </mc:Choice>
        <mc:Fallback xmlns="" xmlns:m="http://schemas.openxmlformats.org/officeDocument/2006/math">
          <p:sp>
            <p:nvSpPr>
              <p:cNvPr id="10" name="Formel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054" y="3960000"/>
                <a:ext cx="1421892" cy="2545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7128000" y="4608000"/>
            <a:ext cx="3960000" cy="129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374151"/>
                </a:solidFill>
              </a:rPr>
              <a:t>Lookup = Multiplikation eines One-hot-Vektors mit W</a:t>
            </a:r>
            <a:r>
              <a:rPr sz="1300" b="0" baseline="-25000">
                <a:solidFill>
                  <a:srgbClr val="374151"/>
                </a:solidFill>
              </a:rPr>
              <a:t>E</a:t>
            </a:r>
            <a:r>
              <a:rPr sz="1300" b="0">
                <a:solidFill>
                  <a:srgbClr val="374151"/>
                </a:solidFill>
              </a:rPr>
              <a:t>: Über den Eingang erhalten nur die Zeilen vorkommender Tokens einen Gradienten; mit Weight Tying kommt über den Ausgang ein Gradient für alle Zeilen hinzu.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000" y="6750000"/>
            <a:ext cx="10620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Vaswani et al. (2017), Abschn. 3.4  ·  Radford et al. (2018), Gl. 2  ·  Press &amp; Wolf (2017)  ·  Guppy: Parameterzählung im Notebook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1. Embeddings im Transformer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Statisch vs. kontextuell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22000" y="1800001"/>
            <a:ext cx="5112000" cy="159138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0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600" b="1">
                <a:solidFill>
                  <a:srgbClr val="6001AD"/>
                </a:solidFill>
              </a:rPr>
              <a:t>Zeile von W</a:t>
            </a:r>
            <a:r>
              <a:rPr sz="1600" b="1" baseline="-25000">
                <a:solidFill>
                  <a:srgbClr val="6001AD"/>
                </a:solidFill>
              </a:rPr>
              <a:t>E</a:t>
            </a:r>
            <a:r>
              <a:rPr sz="1600" b="1">
                <a:solidFill>
                  <a:srgbClr val="6001AD"/>
                </a:solidFill>
              </a:rPr>
              <a:t> (statisch)</a:t>
            </a:r>
          </a:p>
          <a:p>
            <a:pPr algn="ctr"/>
            <a:r>
              <a:rPr sz="1600" b="0">
                <a:solidFill>
                  <a:srgbClr val="374151"/>
                </a:solidFill>
              </a:rPr>
              <a:t>ein Vektor pro Token, unabhängig vom Satz</a:t>
            </a:r>
          </a:p>
          <a:p>
            <a:pPr algn="ctr"/>
            <a:r>
              <a:rPr sz="1600" b="0">
                <a:solidFill>
                  <a:srgbClr val="374151"/>
                </a:solidFill>
              </a:rPr>
              <a:t>„Bank“ (Sitzbank) = „Bank“ (Geldinstitut)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76000" y="1800001"/>
            <a:ext cx="5112000" cy="159138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8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600" b="1">
                <a:solidFill>
                  <a:srgbClr val="008891"/>
                </a:solidFill>
              </a:rPr>
              <a:t>Residualstrom nach Block ℓ (kontextuell)</a:t>
            </a:r>
          </a:p>
          <a:p>
            <a:pPr algn="ctr"/>
            <a:r>
              <a:rPr sz="1600" b="0">
                <a:solidFill>
                  <a:srgbClr val="374151"/>
                </a:solidFill>
              </a:rPr>
              <a:t>hängt vom gesamten bisherigen Text ab</a:t>
            </a:r>
          </a:p>
          <a:p>
            <a:pPr algn="ctr"/>
            <a:r>
              <a:rPr sz="1600" b="0">
                <a:solidFill>
                  <a:srgbClr val="374151"/>
                </a:solidFill>
              </a:rPr>
              <a:t>„Bank“ im Park ≠ „Bank“ mit Konto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52000" y="2808000"/>
            <a:ext cx="288000" cy="0"/>
          </a:xfrm>
          <a:prstGeom prst="line">
            <a:avLst/>
          </a:prstGeom>
          <a:ln w="317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22000" y="3736618"/>
            <a:ext cx="10584000" cy="2416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3"/>
              </a:buBlip>
            </a:pPr>
            <a:r>
              <a:rPr sz="1600" b="1" dirty="0" err="1">
                <a:solidFill>
                  <a:srgbClr val="374151"/>
                </a:solidFill>
              </a:rPr>
              <a:t>Ähnlichkeit</a:t>
            </a:r>
            <a:r>
              <a:rPr sz="1600" b="1" dirty="0">
                <a:solidFill>
                  <a:srgbClr val="374151"/>
                </a:solidFill>
              </a:rPr>
              <a:t> per </a:t>
            </a:r>
            <a:r>
              <a:rPr sz="1600" b="1" dirty="0" err="1">
                <a:solidFill>
                  <a:srgbClr val="374151"/>
                </a:solidFill>
              </a:rPr>
              <a:t>Skalarprodukt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ist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kein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Trainingsziel</a:t>
            </a:r>
            <a:r>
              <a:rPr sz="1600" b="1" dirty="0">
                <a:solidFill>
                  <a:srgbClr val="374151"/>
                </a:solidFill>
              </a:rPr>
              <a:t> – Embedding </a:t>
            </a:r>
            <a:r>
              <a:rPr sz="1600" b="1" dirty="0" err="1">
                <a:solidFill>
                  <a:srgbClr val="374151"/>
                </a:solidFill>
              </a:rPr>
              <a:t>ist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nur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eingeschränkt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interpretierbar</a:t>
            </a:r>
            <a:r>
              <a:rPr sz="1600" b="1" dirty="0">
                <a:solidFill>
                  <a:srgbClr val="374151"/>
                </a:solidFill>
              </a:rPr>
              <a:t>.</a:t>
            </a:r>
            <a:br>
              <a:rPr lang="de-DE" sz="1600" b="1" dirty="0">
                <a:solidFill>
                  <a:srgbClr val="374151"/>
                </a:solidFill>
              </a:rPr>
            </a:br>
            <a:endParaRPr sz="1600" b="1" dirty="0">
              <a:solidFill>
                <a:srgbClr val="374151"/>
              </a:solidFill>
            </a:endParaRPr>
          </a:p>
          <a:p>
            <a:pPr marL="285750" indent="-285750">
              <a:lnSpc>
                <a:spcPct val="110000"/>
              </a:lnSpc>
              <a:buBlip>
                <a:blip r:embed="rId3"/>
              </a:buBlip>
            </a:pPr>
            <a:r>
              <a:rPr sz="1600" b="1" dirty="0" err="1">
                <a:solidFill>
                  <a:srgbClr val="374151"/>
                </a:solidFill>
              </a:rPr>
              <a:t>Kontextuelle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Repräsentationen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sind</a:t>
            </a:r>
            <a:r>
              <a:rPr sz="1600" b="1" dirty="0">
                <a:solidFill>
                  <a:srgbClr val="374151"/>
                </a:solidFill>
              </a:rPr>
              <a:t> stark </a:t>
            </a:r>
            <a:r>
              <a:rPr sz="1600" b="1" dirty="0" err="1">
                <a:solidFill>
                  <a:srgbClr val="374151"/>
                </a:solidFill>
              </a:rPr>
              <a:t>anisotrop</a:t>
            </a:r>
            <a:r>
              <a:rPr sz="1600" b="1" dirty="0">
                <a:solidFill>
                  <a:srgbClr val="374151"/>
                </a:solidFill>
              </a:rPr>
              <a:t>: </a:t>
            </a:r>
            <a:br>
              <a:rPr lang="de-DE" sz="1600" b="1" dirty="0">
                <a:solidFill>
                  <a:srgbClr val="374151"/>
                </a:solidFill>
              </a:rPr>
            </a:br>
            <a:r>
              <a:rPr sz="1600" b="1" dirty="0">
                <a:solidFill>
                  <a:srgbClr val="374151"/>
                </a:solidFill>
              </a:rPr>
              <a:t>In der </a:t>
            </a:r>
            <a:r>
              <a:rPr sz="1600" b="1" dirty="0" err="1">
                <a:solidFill>
                  <a:srgbClr val="374151"/>
                </a:solidFill>
              </a:rPr>
              <a:t>letzten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Schicht</a:t>
            </a:r>
            <a:r>
              <a:rPr sz="1600" b="1" dirty="0">
                <a:solidFill>
                  <a:srgbClr val="374151"/>
                </a:solidFill>
              </a:rPr>
              <a:t> von GPT-2 </a:t>
            </a:r>
            <a:r>
              <a:rPr sz="1600" b="1" dirty="0" err="1">
                <a:solidFill>
                  <a:srgbClr val="374151"/>
                </a:solidFill>
              </a:rPr>
              <a:t>haben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beliebige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Wörter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im</a:t>
            </a:r>
            <a:r>
              <a:rPr sz="1600" b="1" dirty="0">
                <a:solidFill>
                  <a:srgbClr val="374151"/>
                </a:solidFill>
              </a:rPr>
              <a:t> Mittel </a:t>
            </a:r>
            <a:r>
              <a:rPr sz="1600" b="1" dirty="0" err="1">
                <a:solidFill>
                  <a:srgbClr val="374151"/>
                </a:solidFill>
              </a:rPr>
              <a:t>eine</a:t>
            </a:r>
            <a:r>
              <a:rPr sz="1600" b="1" dirty="0">
                <a:solidFill>
                  <a:srgbClr val="374151"/>
                </a:solidFill>
              </a:rPr>
              <a:t> fast </a:t>
            </a:r>
            <a:r>
              <a:rPr sz="1600" b="1" dirty="0" err="1">
                <a:solidFill>
                  <a:srgbClr val="374151"/>
                </a:solidFill>
              </a:rPr>
              <a:t>perfekte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Kosinusähnlichkeit</a:t>
            </a:r>
            <a:r>
              <a:rPr sz="1600" b="1" dirty="0">
                <a:solidFill>
                  <a:srgbClr val="374151"/>
                </a:solidFill>
              </a:rPr>
              <a:t> (</a:t>
            </a:r>
            <a:r>
              <a:rPr sz="1600" i="1" dirty="0" err="1">
                <a:solidFill>
                  <a:srgbClr val="374151"/>
                </a:solidFill>
              </a:rPr>
              <a:t>Ethayarajh</a:t>
            </a:r>
            <a:r>
              <a:rPr sz="1600" i="1" dirty="0">
                <a:solidFill>
                  <a:srgbClr val="374151"/>
                </a:solidFill>
              </a:rPr>
              <a:t> 2019</a:t>
            </a:r>
            <a:r>
              <a:rPr sz="1600" b="1" dirty="0">
                <a:solidFill>
                  <a:srgbClr val="374151"/>
                </a:solidFill>
              </a:rPr>
              <a:t>).</a:t>
            </a:r>
            <a:br>
              <a:rPr lang="de-DE" sz="1600" b="1" dirty="0">
                <a:solidFill>
                  <a:srgbClr val="374151"/>
                </a:solidFill>
              </a:rPr>
            </a:br>
            <a:endParaRPr sz="1600" b="1" dirty="0">
              <a:solidFill>
                <a:srgbClr val="374151"/>
              </a:solidFill>
            </a:endParaRPr>
          </a:p>
          <a:p>
            <a:pPr marL="285750" indent="-285750">
              <a:lnSpc>
                <a:spcPct val="110000"/>
              </a:lnSpc>
              <a:buBlip>
                <a:blip r:embed="rId3"/>
              </a:buBlip>
            </a:pPr>
            <a:r>
              <a:rPr sz="1600" b="1" dirty="0">
                <a:solidFill>
                  <a:srgbClr val="374151"/>
                </a:solidFill>
              </a:rPr>
              <a:t>Ein </a:t>
            </a:r>
            <a:r>
              <a:rPr sz="1600" b="1" dirty="0" err="1">
                <a:solidFill>
                  <a:srgbClr val="374151"/>
                </a:solidFill>
              </a:rPr>
              <a:t>statisches</a:t>
            </a:r>
            <a:r>
              <a:rPr sz="1600" b="1" dirty="0">
                <a:solidFill>
                  <a:srgbClr val="374151"/>
                </a:solidFill>
              </a:rPr>
              <a:t> Embedding </a:t>
            </a:r>
            <a:r>
              <a:rPr sz="1600" b="1" dirty="0" err="1">
                <a:solidFill>
                  <a:srgbClr val="374151"/>
                </a:solidFill>
              </a:rPr>
              <a:t>erklärt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weniger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als</a:t>
            </a:r>
            <a:r>
              <a:rPr sz="1600" b="1" dirty="0">
                <a:solidFill>
                  <a:srgbClr val="374151"/>
                </a:solidFill>
              </a:rPr>
              <a:t> 5 % der </a:t>
            </a:r>
            <a:r>
              <a:rPr sz="1600" b="1" dirty="0" err="1">
                <a:solidFill>
                  <a:srgbClr val="374151"/>
                </a:solidFill>
              </a:rPr>
              <a:t>Varianz</a:t>
            </a:r>
            <a:r>
              <a:rPr sz="1600" b="1" dirty="0">
                <a:solidFill>
                  <a:srgbClr val="374151"/>
                </a:solidFill>
              </a:rPr>
              <a:t> der </a:t>
            </a:r>
            <a:r>
              <a:rPr sz="1600" b="1" dirty="0" err="1">
                <a:solidFill>
                  <a:srgbClr val="374151"/>
                </a:solidFill>
              </a:rPr>
              <a:t>kontextuellen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Vektoren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eines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Wortes</a:t>
            </a:r>
            <a:r>
              <a:rPr sz="1600" b="1" dirty="0">
                <a:solidFill>
                  <a:srgbClr val="374151"/>
                </a:solidFill>
              </a:rPr>
              <a:t>.</a:t>
            </a:r>
            <a:br>
              <a:rPr lang="de-DE" sz="1600" b="1" dirty="0">
                <a:solidFill>
                  <a:srgbClr val="374151"/>
                </a:solidFill>
              </a:rPr>
            </a:br>
            <a:endParaRPr sz="1600" b="1" dirty="0">
              <a:solidFill>
                <a:srgbClr val="374151"/>
              </a:solidFill>
            </a:endParaRPr>
          </a:p>
          <a:p>
            <a:pPr marL="285750" indent="-285750">
              <a:lnSpc>
                <a:spcPct val="110000"/>
              </a:lnSpc>
              <a:buBlip>
                <a:blip r:embed="rId3"/>
              </a:buBlip>
            </a:pPr>
            <a:r>
              <a:rPr sz="1600" b="1" dirty="0">
                <a:solidFill>
                  <a:srgbClr val="6001AD"/>
                </a:solidFill>
              </a:rPr>
              <a:t>In der Attention </a:t>
            </a:r>
            <a:r>
              <a:rPr sz="1600" b="1" dirty="0" err="1">
                <a:solidFill>
                  <a:srgbClr val="6001AD"/>
                </a:solidFill>
              </a:rPr>
              <a:t>wird</a:t>
            </a:r>
            <a:r>
              <a:rPr sz="1600" b="1" dirty="0">
                <a:solidFill>
                  <a:srgbClr val="6001AD"/>
                </a:solidFill>
              </a:rPr>
              <a:t> nicht „</a:t>
            </a:r>
            <a:r>
              <a:rPr sz="1600" b="1" dirty="0" err="1">
                <a:solidFill>
                  <a:srgbClr val="6001AD"/>
                </a:solidFill>
              </a:rPr>
              <a:t>Ähnlichkeit</a:t>
            </a:r>
            <a:r>
              <a:rPr sz="1600" b="1" dirty="0">
                <a:solidFill>
                  <a:srgbClr val="6001AD"/>
                </a:solidFill>
              </a:rPr>
              <a:t>“ </a:t>
            </a:r>
            <a:r>
              <a:rPr sz="1600" b="1" dirty="0" err="1">
                <a:solidFill>
                  <a:srgbClr val="6001AD"/>
                </a:solidFill>
              </a:rPr>
              <a:t>gemessen</a:t>
            </a:r>
            <a:r>
              <a:rPr sz="1600" b="1" dirty="0">
                <a:solidFill>
                  <a:srgbClr val="6001AD"/>
                </a:solidFill>
              </a:rPr>
              <a:t>, </a:t>
            </a:r>
            <a:r>
              <a:rPr sz="1600" b="1" dirty="0" err="1">
                <a:solidFill>
                  <a:srgbClr val="6001AD"/>
                </a:solidFill>
              </a:rPr>
              <a:t>sondern</a:t>
            </a:r>
            <a:r>
              <a:rPr sz="1600" b="1" dirty="0">
                <a:solidFill>
                  <a:srgbClr val="6001AD"/>
                </a:solidFill>
              </a:rPr>
              <a:t> </a:t>
            </a:r>
            <a:r>
              <a:rPr sz="1600" b="1" dirty="0" err="1">
                <a:solidFill>
                  <a:srgbClr val="6001AD"/>
                </a:solidFill>
              </a:rPr>
              <a:t>eine</a:t>
            </a:r>
            <a:r>
              <a:rPr sz="1600" b="1" dirty="0">
                <a:solidFill>
                  <a:srgbClr val="6001AD"/>
                </a:solidFill>
              </a:rPr>
              <a:t> </a:t>
            </a:r>
            <a:r>
              <a:rPr sz="1600" b="1" dirty="0" err="1">
                <a:solidFill>
                  <a:srgbClr val="6001AD"/>
                </a:solidFill>
              </a:rPr>
              <a:t>gelernte</a:t>
            </a:r>
            <a:r>
              <a:rPr sz="1600" b="1" dirty="0">
                <a:solidFill>
                  <a:srgbClr val="6001AD"/>
                </a:solidFill>
              </a:rPr>
              <a:t> </a:t>
            </a:r>
            <a:r>
              <a:rPr sz="1600" b="1" dirty="0" err="1">
                <a:solidFill>
                  <a:srgbClr val="6001AD"/>
                </a:solidFill>
              </a:rPr>
              <a:t>Passung</a:t>
            </a:r>
            <a:r>
              <a:rPr sz="1600" b="1" dirty="0">
                <a:solidFill>
                  <a:srgbClr val="6001AD"/>
                </a:solidFill>
              </a:rPr>
              <a:t> q</a:t>
            </a:r>
            <a:r>
              <a:rPr sz="1600" b="1" baseline="-25000" dirty="0">
                <a:solidFill>
                  <a:srgbClr val="6001AD"/>
                </a:solidFill>
              </a:rPr>
              <a:t>i</a:t>
            </a:r>
            <a:r>
              <a:rPr sz="1600" b="1" dirty="0">
                <a:solidFill>
                  <a:srgbClr val="6001AD"/>
                </a:solidFill>
              </a:rPr>
              <a:t> · </a:t>
            </a:r>
            <a:r>
              <a:rPr sz="1600" b="1" dirty="0" err="1">
                <a:solidFill>
                  <a:srgbClr val="6001AD"/>
                </a:solidFill>
              </a:rPr>
              <a:t>k</a:t>
            </a:r>
            <a:r>
              <a:rPr sz="1600" b="1" baseline="-25000" dirty="0" err="1">
                <a:solidFill>
                  <a:srgbClr val="6001AD"/>
                </a:solidFill>
              </a:rPr>
              <a:t>j</a:t>
            </a:r>
            <a:r>
              <a:rPr sz="1600" b="1" dirty="0">
                <a:solidFill>
                  <a:srgbClr val="6001AD"/>
                </a:solidFill>
              </a:rPr>
              <a:t> (Kap. 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000" y="6750000"/>
            <a:ext cx="10620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Ethayarajh (2019): How Contextual are Contextualized Word Representations? EMNLP  ·  Gao et al. (2019): Representation Degeneration Problem, ICLR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 txBox="1">
            <a:spLocks noGrp="1"/>
          </p:cNvSpPr>
          <p:nvPr>
            <p:ph type="title"/>
          </p:nvPr>
        </p:nvSpPr>
        <p:spPr>
          <a:xfrm>
            <a:off x="406137" y="2368228"/>
            <a:ext cx="2785140" cy="434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ctr" anchorCtr="0">
            <a:normAutofit/>
          </a:bodyPr>
          <a:lstStyle/>
          <a:p>
            <a:pPr>
              <a:buSzPts val="3600"/>
            </a:pPr>
            <a:r>
              <a:rPr lang="de-DE" dirty="0"/>
              <a:t>  </a:t>
            </a:r>
            <a:endParaRPr dirty="0"/>
          </a:p>
        </p:txBody>
      </p:sp>
      <p:sp>
        <p:nvSpPr>
          <p:cNvPr id="177" name="Google Shape;177;p8"/>
          <p:cNvSpPr txBox="1">
            <a:spLocks noGrp="1"/>
          </p:cNvSpPr>
          <p:nvPr>
            <p:ph type="body" idx="1"/>
          </p:nvPr>
        </p:nvSpPr>
        <p:spPr>
          <a:xfrm>
            <a:off x="700985" y="1957870"/>
            <a:ext cx="10718506" cy="77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/>
          <a:p>
            <a:pPr marL="0" indent="0">
              <a:spcBef>
                <a:spcPts val="0"/>
              </a:spcBef>
              <a:buSzPts val="2000"/>
              <a:buNone/>
            </a:pPr>
            <a:br>
              <a:rPr lang="en-US" b="1" i="0" dirty="0">
                <a:solidFill>
                  <a:srgbClr val="202123"/>
                </a:solidFill>
                <a:ea typeface="Arial"/>
                <a:cs typeface="Arial"/>
                <a:sym typeface="Arial"/>
              </a:rPr>
            </a:br>
            <a:r>
              <a:rPr lang="de-DE" sz="2000" b="1" dirty="0">
                <a:solidFill>
                  <a:srgbClr val="202123"/>
                </a:solidFill>
                <a:ea typeface="Arial"/>
                <a:cs typeface="Arial"/>
                <a:sym typeface="Arial"/>
              </a:rPr>
              <a:t>„</a:t>
            </a:r>
            <a:r>
              <a:rPr lang="de-DE" sz="2000" b="1" i="0" dirty="0">
                <a:solidFill>
                  <a:srgbClr val="202123"/>
                </a:solidFill>
                <a:ea typeface="Arial"/>
                <a:cs typeface="Arial"/>
                <a:sym typeface="Arial"/>
              </a:rPr>
              <a:t>Die, die die Bücher schrieben, sind die, die die Geschichten am besten kennen.“</a:t>
            </a:r>
            <a:endParaRPr lang="en-US" sz="2000" b="1" dirty="0">
              <a:sym typeface="Corbel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4883D4E-2269-3481-8FD7-C25C4030B706}"/>
              </a:ext>
            </a:extLst>
          </p:cNvPr>
          <p:cNvSpPr txBox="1"/>
          <p:nvPr/>
        </p:nvSpPr>
        <p:spPr>
          <a:xfrm>
            <a:off x="533213" y="1069091"/>
            <a:ext cx="8815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>
                    <a:lumMod val="50000"/>
                  </a:schemeClr>
                </a:solidFill>
                <a:effectLst/>
                <a:latin typeface="Noto Sans Semibold"/>
              </a:rPr>
              <a:t>2. Positionskodierung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Warum die Stellung im Satz relevant ist</a:t>
            </a:r>
          </a:p>
        </p:txBody>
      </p:sp>
      <p:sp>
        <p:nvSpPr>
          <p:cNvPr id="8" name="Google Shape;177;p8">
            <a:extLst>
              <a:ext uri="{FF2B5EF4-FFF2-40B4-BE49-F238E27FC236}">
                <a16:creationId xmlns:a16="http://schemas.microsoft.com/office/drawing/2014/main" id="{E811BAFE-0374-1FDB-AF07-9CA132115CA2}"/>
              </a:ext>
            </a:extLst>
          </p:cNvPr>
          <p:cNvSpPr txBox="1">
            <a:spLocks/>
          </p:cNvSpPr>
          <p:nvPr/>
        </p:nvSpPr>
        <p:spPr>
          <a:xfrm>
            <a:off x="455304" y="2936408"/>
            <a:ext cx="1043080" cy="326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b="1" dirty="0">
                <a:solidFill>
                  <a:srgbClr val="6001AD"/>
                </a:solidFill>
                <a:latin typeface="Noto Sans Semibold"/>
                <a:ea typeface="Arial"/>
                <a:cs typeface="Arial"/>
                <a:sym typeface="Arial"/>
              </a:rPr>
              <a:t>„Jene“</a:t>
            </a:r>
            <a:endParaRPr lang="en-US" b="1" dirty="0">
              <a:solidFill>
                <a:srgbClr val="6001AD"/>
              </a:solidFill>
              <a:latin typeface="Noto Sans Semibold"/>
            </a:endParaRPr>
          </a:p>
        </p:txBody>
      </p:sp>
      <p:sp>
        <p:nvSpPr>
          <p:cNvPr id="9" name="Google Shape;177;p8">
            <a:extLst>
              <a:ext uri="{FF2B5EF4-FFF2-40B4-BE49-F238E27FC236}">
                <a16:creationId xmlns:a16="http://schemas.microsoft.com/office/drawing/2014/main" id="{CA716048-43AA-4309-7C6D-67381FB5B465}"/>
              </a:ext>
            </a:extLst>
          </p:cNvPr>
          <p:cNvSpPr txBox="1">
            <a:spLocks/>
          </p:cNvSpPr>
          <p:nvPr/>
        </p:nvSpPr>
        <p:spPr>
          <a:xfrm>
            <a:off x="624742" y="3411903"/>
            <a:ext cx="1406201" cy="326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b="1" dirty="0">
                <a:solidFill>
                  <a:srgbClr val="6001AD"/>
                </a:solidFill>
                <a:latin typeface="Noto Sans Semibold"/>
                <a:ea typeface="Arial"/>
                <a:cs typeface="Arial"/>
                <a:sym typeface="Arial"/>
              </a:rPr>
              <a:t>„welche“</a:t>
            </a:r>
            <a:endParaRPr lang="en-US" b="1" dirty="0">
              <a:solidFill>
                <a:srgbClr val="6001AD"/>
              </a:solidFill>
              <a:latin typeface="Noto Sans Semibold"/>
            </a:endParaRPr>
          </a:p>
        </p:txBody>
      </p:sp>
      <p:sp>
        <p:nvSpPr>
          <p:cNvPr id="10" name="Google Shape;177;p8">
            <a:extLst>
              <a:ext uri="{FF2B5EF4-FFF2-40B4-BE49-F238E27FC236}">
                <a16:creationId xmlns:a16="http://schemas.microsoft.com/office/drawing/2014/main" id="{75856788-5791-DDB0-1B30-2F0F04E60BFC}"/>
              </a:ext>
            </a:extLst>
          </p:cNvPr>
          <p:cNvSpPr txBox="1">
            <a:spLocks/>
          </p:cNvSpPr>
          <p:nvPr/>
        </p:nvSpPr>
        <p:spPr>
          <a:xfrm>
            <a:off x="1228425" y="3887399"/>
            <a:ext cx="1652427" cy="326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b="1" dirty="0">
                <a:solidFill>
                  <a:srgbClr val="6001AD"/>
                </a:solidFill>
                <a:latin typeface="Noto Sans Semibold"/>
                <a:ea typeface="Arial"/>
                <a:cs typeface="Arial"/>
                <a:sym typeface="Arial"/>
              </a:rPr>
              <a:t>„mehrere“</a:t>
            </a:r>
            <a:endParaRPr lang="en-US" b="1" dirty="0">
              <a:solidFill>
                <a:srgbClr val="6001AD"/>
              </a:solidFill>
              <a:latin typeface="Noto Sans Semibold"/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67676B50-1913-07E2-8003-3BB7805ED540}"/>
              </a:ext>
            </a:extLst>
          </p:cNvPr>
          <p:cNvCxnSpPr>
            <a:cxnSpLocks/>
          </p:cNvCxnSpPr>
          <p:nvPr/>
        </p:nvCxnSpPr>
        <p:spPr>
          <a:xfrm>
            <a:off x="1936955" y="2519690"/>
            <a:ext cx="0" cy="1367709"/>
          </a:xfrm>
          <a:prstGeom prst="line">
            <a:avLst/>
          </a:prstGeom>
          <a:ln w="28575">
            <a:solidFill>
              <a:srgbClr val="0088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398052D7-E3B6-C0F5-6A0C-FD1A28465D40}"/>
              </a:ext>
            </a:extLst>
          </p:cNvPr>
          <p:cNvCxnSpPr>
            <a:cxnSpLocks/>
          </p:cNvCxnSpPr>
          <p:nvPr/>
        </p:nvCxnSpPr>
        <p:spPr>
          <a:xfrm>
            <a:off x="1007807" y="2519690"/>
            <a:ext cx="0" cy="416718"/>
          </a:xfrm>
          <a:prstGeom prst="line">
            <a:avLst/>
          </a:prstGeom>
          <a:ln w="28575">
            <a:solidFill>
              <a:srgbClr val="0088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FB65ACAD-0131-42A2-D1CA-D256997400B0}"/>
              </a:ext>
            </a:extLst>
          </p:cNvPr>
          <p:cNvCxnSpPr>
            <a:cxnSpLocks/>
          </p:cNvCxnSpPr>
          <p:nvPr/>
        </p:nvCxnSpPr>
        <p:spPr>
          <a:xfrm>
            <a:off x="1499421" y="2509294"/>
            <a:ext cx="0" cy="902609"/>
          </a:xfrm>
          <a:prstGeom prst="line">
            <a:avLst/>
          </a:prstGeom>
          <a:ln w="28575">
            <a:solidFill>
              <a:srgbClr val="0088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oogle Shape;177;p8">
            <a:extLst>
              <a:ext uri="{FF2B5EF4-FFF2-40B4-BE49-F238E27FC236}">
                <a16:creationId xmlns:a16="http://schemas.microsoft.com/office/drawing/2014/main" id="{9F685CFD-E9F1-77BC-413B-7FAB77973047}"/>
              </a:ext>
            </a:extLst>
          </p:cNvPr>
          <p:cNvSpPr txBox="1">
            <a:spLocks/>
          </p:cNvSpPr>
          <p:nvPr/>
        </p:nvSpPr>
        <p:spPr>
          <a:xfrm>
            <a:off x="3052879" y="5374777"/>
            <a:ext cx="8132622" cy="114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SzPts val="2000"/>
              <a:buNone/>
            </a:pPr>
            <a:r>
              <a:rPr lang="de-DE" b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„Obwohl sie den Preis </a:t>
            </a:r>
            <a:r>
              <a:rPr lang="de-DE" b="1" dirty="0">
                <a:solidFill>
                  <a:srgbClr val="6001AD"/>
                </a:solidFill>
                <a:latin typeface="Noto Sans Semibold"/>
                <a:ea typeface="Arial"/>
                <a:cs typeface="Arial"/>
                <a:sym typeface="Arial"/>
              </a:rPr>
              <a:t>nicht</a:t>
            </a:r>
            <a:r>
              <a:rPr lang="de-DE" b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gewonnen hatte, war sie zufrieden.“</a:t>
            </a:r>
            <a:br>
              <a:rPr lang="de-DE" b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</a:br>
            <a:br>
              <a:rPr lang="de-DE" b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</a:br>
            <a:r>
              <a:rPr lang="de-DE" b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„Obwohl sie den Preis gewonnen hatte, war sie </a:t>
            </a:r>
            <a:r>
              <a:rPr lang="de-DE" b="1" dirty="0">
                <a:solidFill>
                  <a:srgbClr val="6001AD"/>
                </a:solidFill>
                <a:latin typeface="Noto Sans Semibold"/>
                <a:ea typeface="Arial"/>
                <a:cs typeface="Arial"/>
                <a:sym typeface="Arial"/>
              </a:rPr>
              <a:t>nicht</a:t>
            </a:r>
            <a:r>
              <a:rPr lang="de-DE" b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zufrieden.“</a:t>
            </a:r>
            <a:endParaRPr lang="en-US" b="1" dirty="0">
              <a:latin typeface="Noto Sans Semibold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00"/>
              <a:buFont typeface="Noto Sans Symbols"/>
              <a:buNone/>
            </a:pPr>
            <a:endParaRPr lang="en-US" b="1" dirty="0">
              <a:latin typeface="Noto Sans Semibold"/>
            </a:endParaRPr>
          </a:p>
        </p:txBody>
      </p:sp>
      <p:sp>
        <p:nvSpPr>
          <p:cNvPr id="21" name="Geschweifte Klammer rechts 20">
            <a:extLst>
              <a:ext uri="{FF2B5EF4-FFF2-40B4-BE49-F238E27FC236}">
                <a16:creationId xmlns:a16="http://schemas.microsoft.com/office/drawing/2014/main" id="{FFE7DB60-5F48-165D-9C9F-FA8FC77F533C}"/>
              </a:ext>
            </a:extLst>
          </p:cNvPr>
          <p:cNvSpPr/>
          <p:nvPr/>
        </p:nvSpPr>
        <p:spPr>
          <a:xfrm>
            <a:off x="2880852" y="2936408"/>
            <a:ext cx="148332" cy="1153862"/>
          </a:xfrm>
          <a:prstGeom prst="rightBrace">
            <a:avLst/>
          </a:prstGeom>
          <a:ln w="28575">
            <a:solidFill>
              <a:srgbClr val="0088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Google Shape;177;p8">
            <a:extLst>
              <a:ext uri="{FF2B5EF4-FFF2-40B4-BE49-F238E27FC236}">
                <a16:creationId xmlns:a16="http://schemas.microsoft.com/office/drawing/2014/main" id="{547148D5-9E6C-6828-F69A-BBBA4A7646DF}"/>
              </a:ext>
            </a:extLst>
          </p:cNvPr>
          <p:cNvSpPr txBox="1">
            <a:spLocks/>
          </p:cNvSpPr>
          <p:nvPr/>
        </p:nvSpPr>
        <p:spPr>
          <a:xfrm>
            <a:off x="3052879" y="3343858"/>
            <a:ext cx="8254218" cy="326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b="1" dirty="0">
                <a:solidFill>
                  <a:srgbClr val="6001AD"/>
                </a:solidFill>
                <a:latin typeface="Noto Sans Semibold"/>
                <a:ea typeface="Arial"/>
                <a:cs typeface="Arial"/>
                <a:sym typeface="Arial"/>
              </a:rPr>
              <a:t>Gleiche Form „die“, verschiedene Funktion – bestimmt durch Position und Kontext.</a:t>
            </a:r>
            <a:endParaRPr lang="en-US" b="1" dirty="0">
              <a:solidFill>
                <a:srgbClr val="6001AD"/>
              </a:solidFill>
              <a:latin typeface="Noto Sans Semibold"/>
            </a:endParaRP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F224A724-5E35-AC0F-F872-20A2CDB8A96C}"/>
              </a:ext>
            </a:extLst>
          </p:cNvPr>
          <p:cNvCxnSpPr/>
          <p:nvPr/>
        </p:nvCxnSpPr>
        <p:spPr>
          <a:xfrm>
            <a:off x="727587" y="4418941"/>
            <a:ext cx="1021571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013DB4A6-49D9-B560-6D64-2B6B31229574}"/>
              </a:ext>
            </a:extLst>
          </p:cNvPr>
          <p:cNvSpPr txBox="1"/>
          <p:nvPr/>
        </p:nvSpPr>
        <p:spPr>
          <a:xfrm>
            <a:off x="519765" y="1433126"/>
            <a:ext cx="5761702" cy="36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dk1"/>
              </a:buClr>
              <a:buSzPts val="2000"/>
              <a:defRPr sz="1512" i="1" u="sng">
                <a:solidFill>
                  <a:schemeClr val="tx1">
                    <a:lumMod val="65000"/>
                    <a:lumOff val="35000"/>
                  </a:schemeClr>
                </a:solidFill>
                <a:latin typeface="Frutiger LT 45 Light" panose="020B0500000000000000" pitchFamily="34" charset="0"/>
                <a:ea typeface="Corbel"/>
                <a:cs typeface="Corbel"/>
              </a:defRPr>
            </a:lvl1pPr>
          </a:lstStyle>
          <a:p>
            <a:r>
              <a:rPr lang="de-DE" sz="1800" i="0" dirty="0">
                <a:solidFill>
                  <a:schemeClr val="tx1"/>
                </a:solidFill>
                <a:latin typeface="Noto Sans Semibol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https://iludis.de/positionalEncoding/index.html</a:t>
            </a:r>
            <a:endParaRPr lang="de-DE" sz="1800" i="0" dirty="0">
              <a:solidFill>
                <a:schemeClr val="tx1"/>
              </a:solidFill>
              <a:latin typeface="Noto Sans Semibold"/>
            </a:endParaRPr>
          </a:p>
        </p:txBody>
      </p:sp>
      <p:sp>
        <p:nvSpPr>
          <p:cNvPr id="3" name="Google Shape;177;p8">
            <a:extLst>
              <a:ext uri="{FF2B5EF4-FFF2-40B4-BE49-F238E27FC236}">
                <a16:creationId xmlns:a16="http://schemas.microsoft.com/office/drawing/2014/main" id="{DF07F217-9643-6805-A7E6-55D3A648BD57}"/>
              </a:ext>
            </a:extLst>
          </p:cNvPr>
          <p:cNvSpPr txBox="1">
            <a:spLocks/>
          </p:cNvSpPr>
          <p:nvPr/>
        </p:nvSpPr>
        <p:spPr>
          <a:xfrm>
            <a:off x="624742" y="4881111"/>
            <a:ext cx="2843672" cy="465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SzPts val="2000"/>
              <a:buNone/>
            </a:pPr>
            <a:r>
              <a:rPr lang="de-DE" b="1" dirty="0">
                <a:solidFill>
                  <a:srgbClr val="202123"/>
                </a:solidFill>
                <a:latin typeface="Noto Sans Semibold"/>
                <a:cs typeface="Arial"/>
                <a:sym typeface="Arial"/>
              </a:rPr>
              <a:t>Ein weiteres Beispiel:</a:t>
            </a:r>
            <a:endParaRPr lang="en-US" b="1" dirty="0">
              <a:latin typeface="Noto Sans Semibold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856C027-39E2-0105-E6C5-24F1EB1EE4E5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</p:spTree>
    <p:extLst>
      <p:ext uri="{BB962C8B-B14F-4D97-AF65-F5344CB8AC3E}">
        <p14:creationId xmlns:p14="http://schemas.microsoft.com/office/powerpoint/2010/main" val="866223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, Kreuzworträtsel, Quadrat, Screenshot enthält.&#10;&#10;Automatisch generierte Beschreibung">
            <a:extLst>
              <a:ext uri="{FF2B5EF4-FFF2-40B4-BE49-F238E27FC236}">
                <a16:creationId xmlns:a16="http://schemas.microsoft.com/office/drawing/2014/main" id="{F803F530-1567-FB2E-F2F2-30BE34DD118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DCDCDC"/>
              </a:clrFrom>
              <a:clrTo>
                <a:srgbClr val="DCDCDC">
                  <a:alpha val="0"/>
                </a:srgbClr>
              </a:clrTo>
            </a:clrChange>
          </a:blip>
          <a:srcRect b="40098"/>
          <a:stretch/>
        </p:blipFill>
        <p:spPr>
          <a:xfrm>
            <a:off x="2739473" y="2702365"/>
            <a:ext cx="7445051" cy="157005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4883D4E-2269-3481-8FD7-C25C4030B706}"/>
              </a:ext>
            </a:extLst>
          </p:cNvPr>
          <p:cNvSpPr txBox="1"/>
          <p:nvPr/>
        </p:nvSpPr>
        <p:spPr>
          <a:xfrm>
            <a:off x="539937" y="1069092"/>
            <a:ext cx="8815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>
                    <a:lumMod val="50000"/>
                  </a:schemeClr>
                </a:solidFill>
                <a:effectLst/>
                <a:latin typeface="Noto Sans Semibold"/>
              </a:rPr>
              <a:t>2. Positionskodierung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Warum die Stellung im Satz relevant ist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F0045A23-68D0-FE1A-43D5-C59E6B887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882" y="6524477"/>
            <a:ext cx="534844" cy="531845"/>
          </a:xfrm>
        </p:spPr>
        <p:txBody>
          <a:bodyPr/>
          <a:lstStyle/>
          <a:p>
            <a:pPr marL="108002" indent="0">
              <a:buNone/>
            </a:pPr>
            <a:r>
              <a:rPr lang="de-DE" dirty="0"/>
              <a:t> 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B1D53AC-14F0-CAE3-946A-B2D39872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117" y="6426029"/>
            <a:ext cx="768818" cy="579914"/>
          </a:xfrm>
        </p:spPr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4B196E8-D0E5-349B-EF0A-575A016BCB17}"/>
              </a:ext>
            </a:extLst>
          </p:cNvPr>
          <p:cNvSpPr/>
          <p:nvPr/>
        </p:nvSpPr>
        <p:spPr>
          <a:xfrm>
            <a:off x="2803388" y="2909887"/>
            <a:ext cx="7294179" cy="305817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002933C-A703-7CE9-13C7-3A575AF78EF6}"/>
              </a:ext>
            </a:extLst>
          </p:cNvPr>
          <p:cNvSpPr/>
          <p:nvPr/>
        </p:nvSpPr>
        <p:spPr>
          <a:xfrm>
            <a:off x="2803388" y="3418756"/>
            <a:ext cx="7294179" cy="305817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BF01C98-E64C-54E3-2632-7A5DD8768A0C}"/>
              </a:ext>
            </a:extLst>
          </p:cNvPr>
          <p:cNvSpPr/>
          <p:nvPr/>
        </p:nvSpPr>
        <p:spPr>
          <a:xfrm>
            <a:off x="2803388" y="3927626"/>
            <a:ext cx="7294179" cy="305817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E5148E11-3E58-176A-B550-B1140D886D80}"/>
              </a:ext>
            </a:extLst>
          </p:cNvPr>
          <p:cNvSpPr txBox="1">
            <a:spLocks/>
          </p:cNvSpPr>
          <p:nvPr/>
        </p:nvSpPr>
        <p:spPr>
          <a:xfrm>
            <a:off x="2803388" y="4670357"/>
            <a:ext cx="8240894" cy="165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de-DE" b="1" dirty="0" err="1">
                <a:solidFill>
                  <a:srgbClr val="535151"/>
                </a:solidFill>
                <a:latin typeface="Noto Sans Semibold"/>
              </a:rPr>
              <a:t>Self-Attention allein ist reihenfolgeblind: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de-DE" b="1" dirty="0">
                <a:solidFill>
                  <a:srgbClr val="535151"/>
                </a:solidFill>
                <a:latin typeface="Noto Sans Semibold"/>
              </a:rPr>
              <a:t>Vertauscht man die Eingabe-Tokens, werden die Ausgaben nur mitvertauscht (ohne Maske).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de-DE" b="1" dirty="0">
                <a:solidFill>
                  <a:srgbClr val="535151"/>
                </a:solidFill>
                <a:latin typeface="Noto Sans Semibold"/>
              </a:rPr>
              <a:t>Deshalb wird zu jedem Token-Embedding ein Positionsvektor addiert.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Noto Sans Symbols"/>
              <a:buNone/>
            </a:pPr>
            <a:endParaRPr lang="de-DE" b="1" dirty="0">
              <a:solidFill>
                <a:srgbClr val="535151"/>
              </a:solidFill>
              <a:latin typeface="Noto Sans Semibold"/>
            </a:endParaRPr>
          </a:p>
          <a:p>
            <a:endParaRPr lang="de-DE" dirty="0">
              <a:latin typeface="Noto Sans Semibold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6BD624B-6002-8A1D-6E11-3994E430161D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13" name="Google Shape;177;p8">
            <a:extLst>
              <a:ext uri="{FF2B5EF4-FFF2-40B4-BE49-F238E27FC236}">
                <a16:creationId xmlns:a16="http://schemas.microsoft.com/office/drawing/2014/main" id="{4D6CA455-0DCC-7771-70AA-AAE34028C30B}"/>
              </a:ext>
            </a:extLst>
          </p:cNvPr>
          <p:cNvSpPr txBox="1">
            <a:spLocks/>
          </p:cNvSpPr>
          <p:nvPr/>
        </p:nvSpPr>
        <p:spPr>
          <a:xfrm>
            <a:off x="700985" y="1957870"/>
            <a:ext cx="10718506" cy="77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323" b="0" i="0" u="none" strike="noStrike" cap="none">
                <a:solidFill>
                  <a:srgbClr val="000000"/>
                </a:solidFill>
                <a:latin typeface="Noto Sans Semibold"/>
                <a:ea typeface="Frutiger LT 45 Light" panose="020B0500000000000000" pitchFamily="34" charset="0"/>
                <a:cs typeface="Arial"/>
                <a:sym typeface="Aria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3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3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3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3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3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3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3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rgbClr val="000000"/>
              </a:buClr>
              <a:buSzPts val="1800"/>
              <a:buFont typeface="Arial"/>
              <a:buChar char="●"/>
              <a:defRPr sz="13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2000"/>
              <a:buFont typeface="Arial"/>
              <a:buNone/>
            </a:pPr>
            <a:br>
              <a:rPr lang="en-US" b="1">
                <a:solidFill>
                  <a:srgbClr val="202123"/>
                </a:solidFill>
                <a:ea typeface="Arial"/>
              </a:rPr>
            </a:br>
            <a:r>
              <a:rPr lang="de-DE" sz="2000" b="1">
                <a:solidFill>
                  <a:srgbClr val="202123"/>
                </a:solidFill>
                <a:ea typeface="Arial"/>
              </a:rPr>
              <a:t>„Die, die die Bücher schrieben, sind die, die die Geschichten am besten kennen.“</a:t>
            </a:r>
            <a:endParaRPr lang="en-US" sz="2000" b="1" dirty="0">
              <a:sym typeface="Corbel"/>
            </a:endParaRPr>
          </a:p>
        </p:txBody>
      </p:sp>
      <p:sp>
        <p:nvSpPr>
          <p:cNvPr id="14" name="Google Shape;177;p8">
            <a:extLst>
              <a:ext uri="{FF2B5EF4-FFF2-40B4-BE49-F238E27FC236}">
                <a16:creationId xmlns:a16="http://schemas.microsoft.com/office/drawing/2014/main" id="{D810954C-954E-3B6F-2102-1D21000C17D6}"/>
              </a:ext>
            </a:extLst>
          </p:cNvPr>
          <p:cNvSpPr txBox="1">
            <a:spLocks/>
          </p:cNvSpPr>
          <p:nvPr/>
        </p:nvSpPr>
        <p:spPr>
          <a:xfrm>
            <a:off x="455304" y="2936408"/>
            <a:ext cx="1043080" cy="326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b="1" dirty="0">
                <a:solidFill>
                  <a:srgbClr val="6001AD"/>
                </a:solidFill>
                <a:latin typeface="Noto Sans Semibold"/>
                <a:ea typeface="Arial"/>
                <a:cs typeface="Arial"/>
                <a:sym typeface="Arial"/>
              </a:rPr>
              <a:t>„Jene“</a:t>
            </a:r>
            <a:endParaRPr lang="en-US" b="1" dirty="0">
              <a:solidFill>
                <a:srgbClr val="6001AD"/>
              </a:solidFill>
              <a:latin typeface="Noto Sans Semibold"/>
            </a:endParaRPr>
          </a:p>
        </p:txBody>
      </p:sp>
      <p:sp>
        <p:nvSpPr>
          <p:cNvPr id="15" name="Google Shape;177;p8">
            <a:extLst>
              <a:ext uri="{FF2B5EF4-FFF2-40B4-BE49-F238E27FC236}">
                <a16:creationId xmlns:a16="http://schemas.microsoft.com/office/drawing/2014/main" id="{D6683C32-8F04-DDDB-1CE4-678594E28EEE}"/>
              </a:ext>
            </a:extLst>
          </p:cNvPr>
          <p:cNvSpPr txBox="1">
            <a:spLocks/>
          </p:cNvSpPr>
          <p:nvPr/>
        </p:nvSpPr>
        <p:spPr>
          <a:xfrm>
            <a:off x="624742" y="3411903"/>
            <a:ext cx="1406201" cy="326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b="1" dirty="0">
                <a:solidFill>
                  <a:srgbClr val="6001AD"/>
                </a:solidFill>
                <a:latin typeface="Noto Sans Semibold"/>
                <a:ea typeface="Arial"/>
                <a:cs typeface="Arial"/>
                <a:sym typeface="Arial"/>
              </a:rPr>
              <a:t>„welche“</a:t>
            </a:r>
            <a:endParaRPr lang="en-US" b="1" dirty="0">
              <a:solidFill>
                <a:srgbClr val="6001AD"/>
              </a:solidFill>
              <a:latin typeface="Noto Sans Semibold"/>
            </a:endParaRPr>
          </a:p>
        </p:txBody>
      </p:sp>
      <p:sp>
        <p:nvSpPr>
          <p:cNvPr id="16" name="Google Shape;177;p8">
            <a:extLst>
              <a:ext uri="{FF2B5EF4-FFF2-40B4-BE49-F238E27FC236}">
                <a16:creationId xmlns:a16="http://schemas.microsoft.com/office/drawing/2014/main" id="{52F8B6F0-E154-CC08-3E0E-41A345F658C8}"/>
              </a:ext>
            </a:extLst>
          </p:cNvPr>
          <p:cNvSpPr txBox="1">
            <a:spLocks/>
          </p:cNvSpPr>
          <p:nvPr/>
        </p:nvSpPr>
        <p:spPr>
          <a:xfrm>
            <a:off x="1228425" y="3887399"/>
            <a:ext cx="1652427" cy="326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b="1" dirty="0">
                <a:solidFill>
                  <a:srgbClr val="6001AD"/>
                </a:solidFill>
                <a:latin typeface="Noto Sans Semibold"/>
                <a:ea typeface="Arial"/>
                <a:cs typeface="Arial"/>
                <a:sym typeface="Arial"/>
              </a:rPr>
              <a:t>„mehrere“</a:t>
            </a:r>
            <a:endParaRPr lang="en-US" b="1" dirty="0">
              <a:solidFill>
                <a:srgbClr val="6001AD"/>
              </a:solidFill>
              <a:latin typeface="Noto Sans Semibold"/>
            </a:endParaRP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AFB1C90C-73E0-34D2-1B8B-D06D16DDBAD9}"/>
              </a:ext>
            </a:extLst>
          </p:cNvPr>
          <p:cNvCxnSpPr>
            <a:cxnSpLocks/>
          </p:cNvCxnSpPr>
          <p:nvPr/>
        </p:nvCxnSpPr>
        <p:spPr>
          <a:xfrm>
            <a:off x="1936955" y="2519690"/>
            <a:ext cx="0" cy="1367709"/>
          </a:xfrm>
          <a:prstGeom prst="line">
            <a:avLst/>
          </a:prstGeom>
          <a:ln w="28575">
            <a:solidFill>
              <a:srgbClr val="0088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6B33A7C0-A27D-8D30-1954-776DF46FB909}"/>
              </a:ext>
            </a:extLst>
          </p:cNvPr>
          <p:cNvCxnSpPr>
            <a:cxnSpLocks/>
          </p:cNvCxnSpPr>
          <p:nvPr/>
        </p:nvCxnSpPr>
        <p:spPr>
          <a:xfrm>
            <a:off x="1007807" y="2519690"/>
            <a:ext cx="0" cy="416718"/>
          </a:xfrm>
          <a:prstGeom prst="line">
            <a:avLst/>
          </a:prstGeom>
          <a:ln w="28575">
            <a:solidFill>
              <a:srgbClr val="0088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71975600-E253-4BC6-026D-8E5DFF260D8B}"/>
              </a:ext>
            </a:extLst>
          </p:cNvPr>
          <p:cNvCxnSpPr>
            <a:cxnSpLocks/>
          </p:cNvCxnSpPr>
          <p:nvPr/>
        </p:nvCxnSpPr>
        <p:spPr>
          <a:xfrm>
            <a:off x="1499421" y="2509294"/>
            <a:ext cx="0" cy="902609"/>
          </a:xfrm>
          <a:prstGeom prst="line">
            <a:avLst/>
          </a:prstGeom>
          <a:ln w="28575">
            <a:solidFill>
              <a:srgbClr val="0088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A38E20C3-E57F-69F2-F0FA-2B6400230F95}"/>
              </a:ext>
            </a:extLst>
          </p:cNvPr>
          <p:cNvSpPr txBox="1"/>
          <p:nvPr/>
        </p:nvSpPr>
        <p:spPr>
          <a:xfrm>
            <a:off x="519765" y="1433126"/>
            <a:ext cx="5761702" cy="36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dk1"/>
              </a:buClr>
              <a:buSzPts val="2000"/>
              <a:defRPr sz="1512" i="1" u="sng">
                <a:solidFill>
                  <a:schemeClr val="tx1">
                    <a:lumMod val="65000"/>
                    <a:lumOff val="35000"/>
                  </a:schemeClr>
                </a:solidFill>
                <a:latin typeface="Frutiger LT 45 Light" panose="020B0500000000000000" pitchFamily="34" charset="0"/>
                <a:ea typeface="Corbel"/>
                <a:cs typeface="Corbel"/>
              </a:defRPr>
            </a:lvl1pPr>
          </a:lstStyle>
          <a:p>
            <a:r>
              <a:rPr lang="de-DE" sz="1800" i="0" dirty="0">
                <a:solidFill>
                  <a:schemeClr val="tx1"/>
                </a:solidFill>
                <a:latin typeface="Noto Sans Semibol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https://iludis.de/positionalEncoding/index.html</a:t>
            </a:r>
            <a:endParaRPr lang="de-DE" sz="1800" i="0" dirty="0">
              <a:solidFill>
                <a:schemeClr val="tx1"/>
              </a:solidFill>
              <a:latin typeface="Noto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544172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2. Positionskodierung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Die Sinus-Tabelle (Vaswani et al. 2017)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Formel 5"/>
              <p:cNvSpPr txBox="1"/>
              <p:nvPr/>
            </p:nvSpPr>
            <p:spPr>
              <a:xfrm>
                <a:off x="861617" y="1800000"/>
                <a:ext cx="2987208" cy="44043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18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d>
                            <m:dPr>
                              <m:ctrlP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  <m:r>
                                <a:rPr lang="de-DE" sz="18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 2</m:t>
                              </m:r>
                              <m: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r>
                        <a:rPr lang="de-DE" sz="18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sz="18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de-DE" sz="18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de-DE" sz="18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18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10000</m:t>
                                  </m:r>
                                </m:e>
                                <m:sup>
                                  <m:r>
                                    <a:rPr lang="de-DE" sz="18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de-DE" sz="18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de-DE" sz="18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sSub>
                                    <m:sSubPr>
                                      <m:ctrlPr>
                                        <a:rPr lang="de-DE" sz="18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8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de-DE" sz="1800" i="0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model</m:t>
                                      </m:r>
                                    </m:sub>
                                  </m:sSub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de-DE" sz="1800" dirty="0"/>
              </a:p>
            </p:txBody>
          </p:sp>
        </mc:Choice>
        <mc:Fallback xmlns="">
          <p:sp>
            <p:nvSpPr>
              <p:cNvPr id="5" name="Formel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17" y="1800000"/>
                <a:ext cx="2987208" cy="440436"/>
              </a:xfrm>
              <a:prstGeom prst="rect">
                <a:avLst/>
              </a:prstGeom>
              <a:blipFill>
                <a:blip r:embed="rId3"/>
                <a:stretch>
                  <a:fillRect l="-8051" t="-5556" r="-2966" b="-1944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Formel 6"/>
              <p:cNvSpPr txBox="1"/>
              <p:nvPr/>
            </p:nvSpPr>
            <p:spPr>
              <a:xfrm>
                <a:off x="754937" y="2556000"/>
                <a:ext cx="3200568" cy="44043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18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d>
                            <m:dPr>
                              <m:ctrlP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  <m:r>
                                <a:rPr lang="de-DE" sz="18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 2</m:t>
                              </m:r>
                              <m: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sz="18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b>
                      </m:sSub>
                      <m:r>
                        <a:rPr lang="de-DE" sz="18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sz="18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de-DE" sz="18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de-DE" sz="18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18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10000</m:t>
                                  </m:r>
                                </m:e>
                                <m:sup>
                                  <m:r>
                                    <a:rPr lang="de-DE" sz="18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de-DE" sz="18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de-DE" sz="18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sSub>
                                    <m:sSubPr>
                                      <m:ctrlPr>
                                        <a:rPr lang="de-DE" sz="18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8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de-DE" sz="1800" i="0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model</m:t>
                                      </m:r>
                                    </m:sub>
                                  </m:sSub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de-DE" sz="1800" dirty="0"/>
              </a:p>
            </p:txBody>
          </p:sp>
        </mc:Choice>
        <mc:Fallback xmlns="">
          <p:sp>
            <p:nvSpPr>
              <p:cNvPr id="6" name="Formel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937" y="2556000"/>
                <a:ext cx="3200568" cy="440436"/>
              </a:xfrm>
              <a:prstGeom prst="rect">
                <a:avLst/>
              </a:prstGeom>
              <a:blipFill>
                <a:blip r:embed="rId4"/>
                <a:stretch>
                  <a:fillRect l="-8300" t="-5556" r="-3162" b="-1944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21999" y="5058690"/>
            <a:ext cx="10494417" cy="13422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5"/>
              </a:buBlip>
            </a:pPr>
            <a:r>
              <a:rPr sz="1500" b="1" dirty="0" err="1">
                <a:solidFill>
                  <a:srgbClr val="374151"/>
                </a:solidFill>
              </a:rPr>
              <a:t>Jedes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Dimensionspaar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schwingt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mit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eigener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Frequenz</a:t>
            </a:r>
            <a:r>
              <a:rPr sz="1500" b="1" dirty="0">
                <a:solidFill>
                  <a:srgbClr val="374151"/>
                </a:solidFill>
              </a:rPr>
              <a:t>; </a:t>
            </a:r>
            <a:endParaRPr lang="de-DE" sz="1500" b="1" dirty="0">
              <a:solidFill>
                <a:srgbClr val="374151"/>
              </a:solidFill>
            </a:endParaRPr>
          </a:p>
          <a:p>
            <a:pPr marL="285750" indent="-285750">
              <a:lnSpc>
                <a:spcPct val="150000"/>
              </a:lnSpc>
              <a:buBlip>
                <a:blip r:embed="rId5"/>
              </a:buBlip>
            </a:pPr>
            <a:r>
              <a:rPr sz="1500" b="1" dirty="0">
                <a:solidFill>
                  <a:srgbClr val="374151"/>
                </a:solidFill>
              </a:rPr>
              <a:t>die </a:t>
            </a:r>
            <a:r>
              <a:rPr sz="1500" b="1" dirty="0" err="1">
                <a:solidFill>
                  <a:srgbClr val="374151"/>
                </a:solidFill>
              </a:rPr>
              <a:t>Wellenlängen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reichen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geometrisch</a:t>
            </a:r>
            <a:r>
              <a:rPr sz="1500" b="1" dirty="0">
                <a:solidFill>
                  <a:srgbClr val="374151"/>
                </a:solidFill>
              </a:rPr>
              <a:t> von 2π bis 10000·2π.</a:t>
            </a:r>
          </a:p>
          <a:p>
            <a:pPr marL="285750" indent="-285750">
              <a:lnSpc>
                <a:spcPct val="150000"/>
              </a:lnSpc>
              <a:buBlip>
                <a:blip r:embed="rId5"/>
              </a:buBlip>
            </a:pPr>
            <a:r>
              <a:rPr sz="1500" b="1" dirty="0">
                <a:solidFill>
                  <a:srgbClr val="374151"/>
                </a:solidFill>
              </a:rPr>
              <a:t>Fest </a:t>
            </a:r>
            <a:r>
              <a:rPr sz="1500" b="1" dirty="0" err="1">
                <a:solidFill>
                  <a:srgbClr val="374151"/>
                </a:solidFill>
              </a:rPr>
              <a:t>berechnet</a:t>
            </a:r>
            <a:r>
              <a:rPr sz="1500" b="1" dirty="0">
                <a:solidFill>
                  <a:srgbClr val="374151"/>
                </a:solidFill>
              </a:rPr>
              <a:t>, nicht </a:t>
            </a:r>
            <a:r>
              <a:rPr sz="1500" b="1" dirty="0" err="1">
                <a:solidFill>
                  <a:srgbClr val="374151"/>
                </a:solidFill>
              </a:rPr>
              <a:t>trainiert</a:t>
            </a:r>
            <a:r>
              <a:rPr sz="1500" b="1" dirty="0">
                <a:solidFill>
                  <a:srgbClr val="374151"/>
                </a:solidFill>
              </a:rPr>
              <a:t>; </a:t>
            </a:r>
            <a:r>
              <a:rPr sz="1500" b="1" dirty="0" err="1">
                <a:solidFill>
                  <a:srgbClr val="374151"/>
                </a:solidFill>
              </a:rPr>
              <a:t>wird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zum</a:t>
            </a:r>
            <a:r>
              <a:rPr sz="1500" b="1" dirty="0">
                <a:solidFill>
                  <a:srgbClr val="374151"/>
                </a:solidFill>
              </a:rPr>
              <a:t> Token-Embedding </a:t>
            </a:r>
            <a:r>
              <a:rPr sz="1500" b="1" dirty="0" err="1">
                <a:solidFill>
                  <a:srgbClr val="374151"/>
                </a:solidFill>
              </a:rPr>
              <a:t>addiert</a:t>
            </a:r>
            <a:r>
              <a:rPr sz="1500" b="1" dirty="0">
                <a:solidFill>
                  <a:srgbClr val="37415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Blip>
                <a:blip r:embed="rId5"/>
              </a:buBlip>
            </a:pPr>
            <a:r>
              <a:rPr sz="1500" b="1" dirty="0" err="1">
                <a:solidFill>
                  <a:srgbClr val="374151"/>
                </a:solidFill>
              </a:rPr>
              <a:t>Begründung</a:t>
            </a:r>
            <a:r>
              <a:rPr sz="1500" b="1" dirty="0">
                <a:solidFill>
                  <a:srgbClr val="374151"/>
                </a:solidFill>
              </a:rPr>
              <a:t> der </a:t>
            </a:r>
            <a:r>
              <a:rPr sz="1500" b="1" dirty="0" err="1">
                <a:solidFill>
                  <a:srgbClr val="374151"/>
                </a:solidFill>
              </a:rPr>
              <a:t>Autoren</a:t>
            </a:r>
            <a:r>
              <a:rPr sz="1500" b="1" dirty="0">
                <a:solidFill>
                  <a:srgbClr val="374151"/>
                </a:solidFill>
              </a:rPr>
              <a:t>: relative </a:t>
            </a:r>
            <a:r>
              <a:rPr sz="1500" b="1" dirty="0" err="1">
                <a:solidFill>
                  <a:srgbClr val="374151"/>
                </a:solidFill>
              </a:rPr>
              <a:t>Positionen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leicht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lernbar</a:t>
            </a:r>
            <a:r>
              <a:rPr sz="1500" b="1" dirty="0">
                <a:solidFill>
                  <a:srgbClr val="374151"/>
                </a:solidFill>
              </a:rPr>
              <a:t>, </a:t>
            </a:r>
            <a:r>
              <a:rPr sz="1500" b="1" dirty="0" err="1">
                <a:solidFill>
                  <a:srgbClr val="374151"/>
                </a:solidFill>
              </a:rPr>
              <a:t>evtl</a:t>
            </a:r>
            <a:r>
              <a:rPr sz="1500" b="1" dirty="0">
                <a:solidFill>
                  <a:srgbClr val="374151"/>
                </a:solidFill>
              </a:rPr>
              <a:t>. Extrapolation auf </a:t>
            </a:r>
            <a:r>
              <a:rPr sz="1500" b="1" dirty="0" err="1">
                <a:solidFill>
                  <a:srgbClr val="374151"/>
                </a:solidFill>
              </a:rPr>
              <a:t>längere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Folgen</a:t>
            </a:r>
            <a:r>
              <a:rPr sz="1500" b="1" dirty="0">
                <a:solidFill>
                  <a:srgbClr val="374151"/>
                </a:solidFill>
              </a:rPr>
              <a:t>.</a:t>
            </a:r>
          </a:p>
        </p:txBody>
      </p:sp>
      <p:pic>
        <p:nvPicPr>
          <p:cNvPr id="8" name="Picture 7" descr="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8619" y="1523665"/>
            <a:ext cx="6733381" cy="3535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2000" y="6750000"/>
            <a:ext cx="10620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Vaswani et al. (2017), Abschn. 3.5: „The wavelengths form a geometric progression from 2π to 10000·2π.“  ·  Abb.: eigene Darstellung mit Guppy-Maßen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2. Positionskodierung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Gelernt, fest – oder gar nicht?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2000" y="1800000"/>
            <a:ext cx="10584000" cy="3373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15000"/>
              </a:lnSpc>
              <a:buBlip>
                <a:blip r:embed="rId3"/>
              </a:buBlip>
            </a:pPr>
            <a:r>
              <a:rPr sz="1600" b="1" dirty="0" err="1">
                <a:solidFill>
                  <a:srgbClr val="374151"/>
                </a:solidFill>
              </a:rPr>
              <a:t>Gelernte</a:t>
            </a:r>
            <a:r>
              <a:rPr sz="1600" b="1" dirty="0">
                <a:solidFill>
                  <a:srgbClr val="374151"/>
                </a:solidFill>
              </a:rPr>
              <a:t> absolute Positions-Embeddings: </a:t>
            </a:r>
            <a:r>
              <a:rPr sz="1600" b="1" dirty="0" err="1">
                <a:solidFill>
                  <a:srgbClr val="374151"/>
                </a:solidFill>
              </a:rPr>
              <a:t>eine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Tabelle</a:t>
            </a:r>
            <a:r>
              <a:rPr sz="1600" b="1" dirty="0">
                <a:solidFill>
                  <a:srgbClr val="374151"/>
                </a:solidFill>
              </a:rPr>
              <a:t> W_P </a:t>
            </a:r>
            <a:r>
              <a:rPr sz="1600" b="1" dirty="0" err="1">
                <a:solidFill>
                  <a:srgbClr val="374151"/>
                </a:solidFill>
              </a:rPr>
              <a:t>mit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einem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trainierbaren</a:t>
            </a:r>
            <a:r>
              <a:rPr sz="1600" b="1" dirty="0">
                <a:solidFill>
                  <a:srgbClr val="374151"/>
                </a:solidFill>
              </a:rPr>
              <a:t> Vektor je Position – so </a:t>
            </a:r>
            <a:r>
              <a:rPr sz="1600" b="1" dirty="0" err="1">
                <a:solidFill>
                  <a:srgbClr val="374151"/>
                </a:solidFill>
              </a:rPr>
              <a:t>bei</a:t>
            </a:r>
            <a:r>
              <a:rPr sz="1600" b="1" dirty="0">
                <a:solidFill>
                  <a:srgbClr val="374151"/>
                </a:solidFill>
              </a:rPr>
              <a:t> GPT-1 („learned position embeddings instead of the sinusoidal version“), GPT-2 und GPT-3.</a:t>
            </a:r>
            <a:br>
              <a:rPr lang="de-DE" sz="1600" b="1" dirty="0">
                <a:solidFill>
                  <a:srgbClr val="374151"/>
                </a:solidFill>
              </a:rPr>
            </a:br>
            <a:endParaRPr sz="1600" b="1" dirty="0">
              <a:solidFill>
                <a:srgbClr val="374151"/>
              </a:solidFill>
            </a:endParaRPr>
          </a:p>
          <a:p>
            <a:pPr marL="285750" indent="-285750">
              <a:lnSpc>
                <a:spcPct val="115000"/>
              </a:lnSpc>
              <a:buBlip>
                <a:blip r:embed="rId3"/>
              </a:buBlip>
            </a:pPr>
            <a:r>
              <a:rPr sz="1600" b="1" dirty="0" err="1">
                <a:solidFill>
                  <a:srgbClr val="374151"/>
                </a:solidFill>
              </a:rPr>
              <a:t>Im</a:t>
            </a:r>
            <a:r>
              <a:rPr sz="1600" b="1" dirty="0">
                <a:solidFill>
                  <a:srgbClr val="374151"/>
                </a:solidFill>
              </a:rPr>
              <a:t> Original-Transformer </a:t>
            </a:r>
            <a:r>
              <a:rPr sz="1600" b="1" dirty="0" err="1">
                <a:solidFill>
                  <a:srgbClr val="374151"/>
                </a:solidFill>
              </a:rPr>
              <a:t>lieferten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beide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Varianten</a:t>
            </a:r>
            <a:r>
              <a:rPr sz="1600" b="1" dirty="0">
                <a:solidFill>
                  <a:srgbClr val="374151"/>
                </a:solidFill>
              </a:rPr>
              <a:t> „nearly identical results“ (Vaswani et al. 2017).</a:t>
            </a:r>
            <a:br>
              <a:rPr lang="de-DE" sz="1600" b="1" dirty="0">
                <a:solidFill>
                  <a:srgbClr val="374151"/>
                </a:solidFill>
              </a:rPr>
            </a:br>
            <a:endParaRPr sz="1600" b="1" dirty="0">
              <a:solidFill>
                <a:srgbClr val="374151"/>
              </a:solidFill>
            </a:endParaRPr>
          </a:p>
          <a:p>
            <a:pPr marL="285750" indent="-285750">
              <a:lnSpc>
                <a:spcPct val="115000"/>
              </a:lnSpc>
              <a:buBlip>
                <a:blip r:embed="rId3"/>
              </a:buBlip>
            </a:pPr>
            <a:r>
              <a:rPr sz="1600" b="1" dirty="0">
                <a:solidFill>
                  <a:srgbClr val="374151"/>
                </a:solidFill>
              </a:rPr>
              <a:t>Absolute </a:t>
            </a:r>
            <a:r>
              <a:rPr sz="1600" b="1" dirty="0" err="1">
                <a:solidFill>
                  <a:srgbClr val="374151"/>
                </a:solidFill>
              </a:rPr>
              <a:t>Tabellen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begrenzen</a:t>
            </a:r>
            <a:r>
              <a:rPr sz="1600" b="1" dirty="0">
                <a:solidFill>
                  <a:srgbClr val="374151"/>
                </a:solidFill>
              </a:rPr>
              <a:t> das </a:t>
            </a:r>
            <a:r>
              <a:rPr sz="1600" b="1" dirty="0" err="1">
                <a:solidFill>
                  <a:srgbClr val="374151"/>
                </a:solidFill>
              </a:rPr>
              <a:t>Kontextfenster</a:t>
            </a:r>
            <a:r>
              <a:rPr sz="1600" b="1" dirty="0">
                <a:solidFill>
                  <a:srgbClr val="374151"/>
                </a:solidFill>
              </a:rPr>
              <a:t>: Für </a:t>
            </a:r>
            <a:r>
              <a:rPr sz="1600" b="1" dirty="0" err="1">
                <a:solidFill>
                  <a:srgbClr val="374151"/>
                </a:solidFill>
              </a:rPr>
              <a:t>Positionen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jenseits</a:t>
            </a:r>
            <a:r>
              <a:rPr sz="1600" b="1" dirty="0">
                <a:solidFill>
                  <a:srgbClr val="374151"/>
                </a:solidFill>
              </a:rPr>
              <a:t> der </a:t>
            </a:r>
            <a:r>
              <a:rPr sz="1600" b="1" dirty="0" err="1">
                <a:solidFill>
                  <a:srgbClr val="374151"/>
                </a:solidFill>
              </a:rPr>
              <a:t>Tabelle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gibt</a:t>
            </a:r>
            <a:r>
              <a:rPr sz="1600" b="1" dirty="0">
                <a:solidFill>
                  <a:srgbClr val="374151"/>
                </a:solidFill>
              </a:rPr>
              <a:t> es </a:t>
            </a:r>
            <a:r>
              <a:rPr sz="1600" b="1" dirty="0" err="1">
                <a:solidFill>
                  <a:srgbClr val="374151"/>
                </a:solidFill>
              </a:rPr>
              <a:t>keinen</a:t>
            </a:r>
            <a:r>
              <a:rPr sz="1600" b="1" dirty="0">
                <a:solidFill>
                  <a:srgbClr val="374151"/>
                </a:solidFill>
              </a:rPr>
              <a:t> Vektor (Guppy: 128 </a:t>
            </a:r>
            <a:r>
              <a:rPr sz="1600" b="1" dirty="0" err="1">
                <a:solidFill>
                  <a:srgbClr val="374151"/>
                </a:solidFill>
              </a:rPr>
              <a:t>Positionen</a:t>
            </a:r>
            <a:r>
              <a:rPr sz="1600" b="1" dirty="0">
                <a:solidFill>
                  <a:srgbClr val="374151"/>
                </a:solidFill>
              </a:rPr>
              <a:t>, GPT-3: 2 048).</a:t>
            </a:r>
            <a:br>
              <a:rPr lang="de-DE" sz="1600" b="1" dirty="0">
                <a:solidFill>
                  <a:srgbClr val="374151"/>
                </a:solidFill>
              </a:rPr>
            </a:br>
            <a:endParaRPr sz="1600" b="1" dirty="0">
              <a:solidFill>
                <a:srgbClr val="374151"/>
              </a:solidFill>
            </a:endParaRPr>
          </a:p>
          <a:p>
            <a:pPr marL="285750" indent="-285750">
              <a:lnSpc>
                <a:spcPct val="115000"/>
              </a:lnSpc>
              <a:buBlip>
                <a:blip r:embed="rId3"/>
              </a:buBlip>
            </a:pPr>
            <a:r>
              <a:rPr sz="1600" b="1" dirty="0" err="1">
                <a:solidFill>
                  <a:srgbClr val="374151"/>
                </a:solidFill>
              </a:rPr>
              <a:t>Kausale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Sprachmodelle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lernen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Positionsinformation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sogar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ganz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ohne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Positionskodierung</a:t>
            </a:r>
            <a:r>
              <a:rPr sz="1600" b="1" dirty="0">
                <a:solidFill>
                  <a:srgbClr val="374151"/>
                </a:solidFill>
              </a:rPr>
              <a:t> – </a:t>
            </a:r>
            <a:r>
              <a:rPr sz="1600" b="1" dirty="0" err="1">
                <a:solidFill>
                  <a:srgbClr val="374151"/>
                </a:solidFill>
              </a:rPr>
              <a:t>vermutlich</a:t>
            </a:r>
            <a:r>
              <a:rPr sz="1600" b="1" dirty="0">
                <a:solidFill>
                  <a:srgbClr val="374151"/>
                </a:solidFill>
              </a:rPr>
              <a:t>, </a:t>
            </a:r>
            <a:r>
              <a:rPr sz="1600" b="1" dirty="0" err="1">
                <a:solidFill>
                  <a:srgbClr val="374151"/>
                </a:solidFill>
              </a:rPr>
              <a:t>weil</a:t>
            </a:r>
            <a:r>
              <a:rPr sz="1600" b="1" dirty="0">
                <a:solidFill>
                  <a:srgbClr val="374151"/>
                </a:solidFill>
              </a:rPr>
              <a:t> die Maske </a:t>
            </a:r>
            <a:r>
              <a:rPr sz="1600" b="1" dirty="0" err="1">
                <a:solidFill>
                  <a:srgbClr val="374151"/>
                </a:solidFill>
              </a:rPr>
              <a:t>verrät</a:t>
            </a:r>
            <a:r>
              <a:rPr sz="1600" b="1" dirty="0">
                <a:solidFill>
                  <a:srgbClr val="374151"/>
                </a:solidFill>
              </a:rPr>
              <a:t>, </a:t>
            </a:r>
            <a:r>
              <a:rPr sz="1600" b="1" dirty="0" err="1">
                <a:solidFill>
                  <a:srgbClr val="374151"/>
                </a:solidFill>
              </a:rPr>
              <a:t>wie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viele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Vorgänger</a:t>
            </a:r>
            <a:r>
              <a:rPr sz="1600" b="1" dirty="0">
                <a:solidFill>
                  <a:srgbClr val="374151"/>
                </a:solidFill>
              </a:rPr>
              <a:t> </a:t>
            </a:r>
            <a:r>
              <a:rPr sz="1600" b="1" dirty="0" err="1">
                <a:solidFill>
                  <a:srgbClr val="374151"/>
                </a:solidFill>
              </a:rPr>
              <a:t>ein</a:t>
            </a:r>
            <a:r>
              <a:rPr sz="1600" b="1" dirty="0">
                <a:solidFill>
                  <a:srgbClr val="374151"/>
                </a:solidFill>
              </a:rPr>
              <a:t> Token hat (Haviv et al. 2022).</a:t>
            </a:r>
            <a:br>
              <a:rPr lang="de-DE" sz="1600" b="1" dirty="0">
                <a:solidFill>
                  <a:srgbClr val="374151"/>
                </a:solidFill>
              </a:rPr>
            </a:br>
            <a:endParaRPr sz="1600" b="1" dirty="0">
              <a:solidFill>
                <a:srgbClr val="374151"/>
              </a:solidFill>
            </a:endParaRPr>
          </a:p>
          <a:p>
            <a:pPr marL="285750" indent="-285750">
              <a:lnSpc>
                <a:spcPct val="115000"/>
              </a:lnSpc>
              <a:buBlip>
                <a:blip r:embed="rId3"/>
              </a:buBlip>
            </a:pPr>
            <a:r>
              <a:rPr sz="1600" b="1" dirty="0">
                <a:solidFill>
                  <a:srgbClr val="008891"/>
                </a:solidFill>
              </a:rPr>
              <a:t>Heute </a:t>
            </a:r>
            <a:r>
              <a:rPr sz="1600" b="1" dirty="0" err="1">
                <a:solidFill>
                  <a:srgbClr val="008891"/>
                </a:solidFill>
              </a:rPr>
              <a:t>verbreitet</a:t>
            </a:r>
            <a:r>
              <a:rPr sz="1600" b="1" dirty="0">
                <a:solidFill>
                  <a:srgbClr val="008891"/>
                </a:solidFill>
              </a:rPr>
              <a:t>: relative </a:t>
            </a:r>
            <a:r>
              <a:rPr sz="1600" b="1" dirty="0" err="1">
                <a:solidFill>
                  <a:srgbClr val="008891"/>
                </a:solidFill>
              </a:rPr>
              <a:t>bzw</a:t>
            </a:r>
            <a:r>
              <a:rPr sz="1600" b="1" dirty="0">
                <a:solidFill>
                  <a:srgbClr val="008891"/>
                </a:solidFill>
              </a:rPr>
              <a:t>. </a:t>
            </a:r>
            <a:r>
              <a:rPr sz="1600" b="1" dirty="0" err="1">
                <a:solidFill>
                  <a:srgbClr val="008891"/>
                </a:solidFill>
              </a:rPr>
              <a:t>rotierende</a:t>
            </a:r>
            <a:r>
              <a:rPr sz="1600" b="1" dirty="0">
                <a:solidFill>
                  <a:srgbClr val="008891"/>
                </a:solidFill>
              </a:rPr>
              <a:t> </a:t>
            </a:r>
            <a:r>
              <a:rPr sz="1600" b="1" dirty="0" err="1">
                <a:solidFill>
                  <a:srgbClr val="008891"/>
                </a:solidFill>
              </a:rPr>
              <a:t>Verfahren</a:t>
            </a:r>
            <a:r>
              <a:rPr sz="1600" b="1" dirty="0">
                <a:solidFill>
                  <a:srgbClr val="008891"/>
                </a:solidFill>
              </a:rPr>
              <a:t> (z. B. </a:t>
            </a:r>
            <a:r>
              <a:rPr sz="1600" b="1" dirty="0" err="1">
                <a:solidFill>
                  <a:srgbClr val="008891"/>
                </a:solidFill>
              </a:rPr>
              <a:t>RoPE</a:t>
            </a:r>
            <a:r>
              <a:rPr sz="1600" b="1" dirty="0">
                <a:solidFill>
                  <a:srgbClr val="008891"/>
                </a:solidFill>
              </a:rPr>
              <a:t>) – Thema </a:t>
            </a:r>
            <a:r>
              <a:rPr sz="1600" b="1" dirty="0" err="1">
                <a:solidFill>
                  <a:srgbClr val="008891"/>
                </a:solidFill>
              </a:rPr>
              <a:t>einer</a:t>
            </a:r>
            <a:r>
              <a:rPr sz="1600" b="1" dirty="0">
                <a:solidFill>
                  <a:srgbClr val="008891"/>
                </a:solidFill>
              </a:rPr>
              <a:t> </a:t>
            </a:r>
            <a:r>
              <a:rPr sz="1600" b="1" dirty="0" err="1">
                <a:solidFill>
                  <a:srgbClr val="008891"/>
                </a:solidFill>
              </a:rPr>
              <a:t>späteren</a:t>
            </a:r>
            <a:r>
              <a:rPr sz="1600" b="1" dirty="0">
                <a:solidFill>
                  <a:srgbClr val="008891"/>
                </a:solidFill>
              </a:rPr>
              <a:t> Einheit.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" y="6750000"/>
            <a:ext cx="10620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Radford et al. (2018)  ·  Vaswani et al. (2017), Abschn. 3.5 und Tab. 3 (E)  ·  Brown et al. (2020)  ·  Haviv et al. (2022): Transformer LMs without Positional Encodings Still Learn Positional Information, Findings of EMNLP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C4883D4E-2269-3481-8FD7-C25C4030B706}"/>
              </a:ext>
            </a:extLst>
          </p:cNvPr>
          <p:cNvSpPr txBox="1"/>
          <p:nvPr/>
        </p:nvSpPr>
        <p:spPr>
          <a:xfrm>
            <a:off x="533213" y="1062367"/>
            <a:ext cx="8815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>
                    <a:lumMod val="50000"/>
                  </a:schemeClr>
                </a:solidFill>
                <a:effectLst/>
                <a:latin typeface="Noto Sans Semibold"/>
              </a:rPr>
              <a:t>3. Attention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Wortbezüge lassen die Aussage erschließen</a:t>
            </a:r>
          </a:p>
        </p:txBody>
      </p:sp>
      <p:sp>
        <p:nvSpPr>
          <p:cNvPr id="11" name="Google Shape;177;p8">
            <a:extLst>
              <a:ext uri="{FF2B5EF4-FFF2-40B4-BE49-F238E27FC236}">
                <a16:creationId xmlns:a16="http://schemas.microsoft.com/office/drawing/2014/main" id="{4FFCDABB-23E6-75A8-884C-29E64C1D7BC3}"/>
              </a:ext>
            </a:extLst>
          </p:cNvPr>
          <p:cNvSpPr txBox="1">
            <a:spLocks/>
          </p:cNvSpPr>
          <p:nvPr/>
        </p:nvSpPr>
        <p:spPr>
          <a:xfrm>
            <a:off x="5080067" y="2077409"/>
            <a:ext cx="5952923" cy="33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b="1" i="0" dirty="0">
                <a:solidFill>
                  <a:srgbClr val="6001AD"/>
                </a:solidFill>
                <a:effectLst/>
                <a:latin typeface="Noto Sans Semibold"/>
              </a:rPr>
              <a:t>In diesem Sprichwort steckt die Aussage, dass</a:t>
            </a:r>
            <a:br>
              <a:rPr lang="de-DE" b="1" i="0" dirty="0">
                <a:solidFill>
                  <a:srgbClr val="003C72"/>
                </a:solidFill>
                <a:effectLst/>
                <a:latin typeface="Noto Sans Semibold"/>
              </a:rPr>
            </a:br>
            <a:endParaRPr lang="de-DE" sz="1000" b="1" i="0" dirty="0">
              <a:solidFill>
                <a:srgbClr val="003C72"/>
              </a:solidFill>
              <a:effectLst/>
              <a:latin typeface="Noto Sans Semibold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b="1" dirty="0">
                <a:solidFill>
                  <a:schemeClr val="bg2"/>
                </a:solidFill>
                <a:latin typeface="Noto Sans Semibold"/>
              </a:rPr>
              <a:t>etwas, das qualitativ gut werden soll, </a:t>
            </a:r>
            <a:br>
              <a:rPr lang="de-DE" b="1" dirty="0">
                <a:solidFill>
                  <a:schemeClr val="bg2"/>
                </a:solidFill>
                <a:latin typeface="Noto Sans Semibold"/>
              </a:rPr>
            </a:br>
            <a:r>
              <a:rPr lang="de-DE" b="1" dirty="0">
                <a:solidFill>
                  <a:schemeClr val="bg2"/>
                </a:solidFill>
                <a:latin typeface="Noto Sans Semibold"/>
              </a:rPr>
              <a:t>einer längeren Reifezeit bedarf.</a:t>
            </a:r>
            <a:br>
              <a:rPr lang="de-DE" b="1" dirty="0">
                <a:solidFill>
                  <a:schemeClr val="bg2"/>
                </a:solidFill>
                <a:latin typeface="Noto Sans Semibold"/>
              </a:rPr>
            </a:br>
            <a:endParaRPr lang="de-DE" b="1" dirty="0">
              <a:solidFill>
                <a:schemeClr val="bg2"/>
              </a:solidFill>
              <a:latin typeface="Noto Sans Semibold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b="1" dirty="0">
                <a:solidFill>
                  <a:schemeClr val="bg2"/>
                </a:solidFill>
                <a:latin typeface="Noto Sans Semibold"/>
              </a:rPr>
              <a:t>Implizit steckt auch der Gedanke an notwendige Mühe und Fleiß dabei,</a:t>
            </a:r>
            <a:br>
              <a:rPr lang="de-DE" b="1" dirty="0">
                <a:solidFill>
                  <a:schemeClr val="bg2"/>
                </a:solidFill>
                <a:latin typeface="Noto Sans Semibold"/>
              </a:rPr>
            </a:br>
            <a:endParaRPr lang="de-DE" b="1" dirty="0">
              <a:solidFill>
                <a:schemeClr val="bg2"/>
              </a:solidFill>
              <a:latin typeface="Noto Sans Semibold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b="1" dirty="0">
                <a:solidFill>
                  <a:schemeClr val="bg2"/>
                </a:solidFill>
                <a:latin typeface="Noto Sans Semibold"/>
              </a:rPr>
              <a:t>und dass man geduldig abwarten sollte.</a:t>
            </a:r>
            <a:endParaRPr lang="en-US" b="1" dirty="0">
              <a:solidFill>
                <a:schemeClr val="bg2"/>
              </a:solidFill>
              <a:latin typeface="Noto Sans Semibold"/>
            </a:endParaRP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F0045A23-68D0-FE1A-43D5-C59E6B887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882" y="6524477"/>
            <a:ext cx="534844" cy="531845"/>
          </a:xfrm>
        </p:spPr>
        <p:txBody>
          <a:bodyPr/>
          <a:lstStyle/>
          <a:p>
            <a:pPr marL="108002" indent="0">
              <a:buNone/>
            </a:pPr>
            <a:r>
              <a:rPr lang="de-DE" dirty="0"/>
              <a:t> 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B1D53AC-14F0-CAE3-946A-B2D39872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117" y="6426029"/>
            <a:ext cx="768818" cy="579914"/>
          </a:xfrm>
        </p:spPr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04D2CED7-5487-FBFD-7F69-AA4C21216E9F}"/>
              </a:ext>
            </a:extLst>
          </p:cNvPr>
          <p:cNvGrpSpPr/>
          <p:nvPr/>
        </p:nvGrpSpPr>
        <p:grpSpPr>
          <a:xfrm>
            <a:off x="806596" y="2176214"/>
            <a:ext cx="3452250" cy="1118920"/>
            <a:chOff x="1281115" y="3339315"/>
            <a:chExt cx="3452250" cy="1118920"/>
          </a:xfrm>
        </p:grpSpPr>
        <p:sp>
          <p:nvSpPr>
            <p:cNvPr id="16" name="Google Shape;177;p8">
              <a:extLst>
                <a:ext uri="{FF2B5EF4-FFF2-40B4-BE49-F238E27FC236}">
                  <a16:creationId xmlns:a16="http://schemas.microsoft.com/office/drawing/2014/main" id="{A6EB686B-CDB0-7182-809B-7436E59067ED}"/>
                </a:ext>
              </a:extLst>
            </p:cNvPr>
            <p:cNvSpPr txBox="1">
              <a:spLocks/>
            </p:cNvSpPr>
            <p:nvPr/>
          </p:nvSpPr>
          <p:spPr>
            <a:xfrm>
              <a:off x="1281115" y="3660983"/>
              <a:ext cx="3452250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2400" b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„Gut Ding braucht Weile“</a:t>
              </a:r>
              <a:endParaRPr lang="en-US" sz="2400" b="1" dirty="0">
                <a:latin typeface="Noto Sans Semibold"/>
              </a:endParaRPr>
            </a:p>
          </p:txBody>
        </p:sp>
        <p:sp>
          <p:nvSpPr>
            <p:cNvPr id="18" name="Google Shape;200;p10">
              <a:extLst>
                <a:ext uri="{FF2B5EF4-FFF2-40B4-BE49-F238E27FC236}">
                  <a16:creationId xmlns:a16="http://schemas.microsoft.com/office/drawing/2014/main" id="{BA3DF298-57AE-1E31-5517-C10F7AF1A778}"/>
                </a:ext>
              </a:extLst>
            </p:cNvPr>
            <p:cNvSpPr/>
            <p:nvPr/>
          </p:nvSpPr>
          <p:spPr>
            <a:xfrm rot="10415463" flipV="1">
              <a:off x="1672460" y="3348318"/>
              <a:ext cx="640597" cy="835741"/>
            </a:xfrm>
            <a:prstGeom prst="arc">
              <a:avLst>
                <a:gd name="adj1" fmla="val 10799015"/>
                <a:gd name="adj2" fmla="val 20673351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triangle" w="lg" len="lg"/>
              <a:tailEnd type="none" w="med" len="med"/>
            </a:ln>
          </p:spPr>
          <p:txBody>
            <a:bodyPr spcFirstLastPara="1" wrap="square" lIns="86389" tIns="43183" rIns="86389" bIns="43183" anchor="ctr" anchorCtr="0">
              <a:noAutofit/>
            </a:bodyPr>
            <a:lstStyle/>
            <a:p>
              <a:pPr algn="ctr"/>
              <a:endParaRPr sz="1701" dirty="0">
                <a:solidFill>
                  <a:schemeClr val="dk1"/>
                </a:solidFill>
                <a:latin typeface="Noto Sans Semibold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" name="Google Shape;200;p10">
              <a:extLst>
                <a:ext uri="{FF2B5EF4-FFF2-40B4-BE49-F238E27FC236}">
                  <a16:creationId xmlns:a16="http://schemas.microsoft.com/office/drawing/2014/main" id="{0516E564-A7DD-2760-4F18-C894F2687741}"/>
                </a:ext>
              </a:extLst>
            </p:cNvPr>
            <p:cNvSpPr/>
            <p:nvPr/>
          </p:nvSpPr>
          <p:spPr>
            <a:xfrm rot="10298217" flipV="1">
              <a:off x="3250262" y="3339315"/>
              <a:ext cx="640597" cy="835741"/>
            </a:xfrm>
            <a:prstGeom prst="arc">
              <a:avLst>
                <a:gd name="adj1" fmla="val 10799015"/>
                <a:gd name="adj2" fmla="val 20673351"/>
              </a:avLst>
            </a:prstGeom>
            <a:noFill/>
            <a:ln w="28575" cap="flat" cmpd="sng">
              <a:solidFill>
                <a:srgbClr val="003C72"/>
              </a:solidFill>
              <a:prstDash val="solid"/>
              <a:round/>
              <a:headEnd type="triangle" w="lg" len="lg"/>
              <a:tailEnd type="none" w="med" len="med"/>
            </a:ln>
          </p:spPr>
          <p:txBody>
            <a:bodyPr spcFirstLastPara="1" wrap="square" lIns="86389" tIns="43183" rIns="86389" bIns="43183" anchor="ctr" anchorCtr="0">
              <a:noAutofit/>
            </a:bodyPr>
            <a:lstStyle/>
            <a:p>
              <a:pPr algn="ctr"/>
              <a:endParaRPr sz="1701" dirty="0">
                <a:solidFill>
                  <a:schemeClr val="dk1"/>
                </a:solidFill>
                <a:latin typeface="Noto Sans Semibold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" name="Google Shape;200;p10">
              <a:extLst>
                <a:ext uri="{FF2B5EF4-FFF2-40B4-BE49-F238E27FC236}">
                  <a16:creationId xmlns:a16="http://schemas.microsoft.com/office/drawing/2014/main" id="{03D270DC-6846-34B1-D917-5BD8264F05A7}"/>
                </a:ext>
              </a:extLst>
            </p:cNvPr>
            <p:cNvSpPr/>
            <p:nvPr/>
          </p:nvSpPr>
          <p:spPr>
            <a:xfrm rot="10800000">
              <a:off x="2378392" y="3538207"/>
              <a:ext cx="869211" cy="920028"/>
            </a:xfrm>
            <a:prstGeom prst="arc">
              <a:avLst>
                <a:gd name="adj1" fmla="val 10799015"/>
                <a:gd name="adj2" fmla="val 21587456"/>
              </a:avLst>
            </a:prstGeom>
            <a:noFill/>
            <a:ln w="28575" cap="flat" cmpd="sng">
              <a:solidFill>
                <a:srgbClr val="3B9927"/>
              </a:solidFill>
              <a:prstDash val="solid"/>
              <a:round/>
              <a:headEnd type="triangle" w="lg" len="lg"/>
              <a:tailEnd type="none" w="med" len="med"/>
            </a:ln>
          </p:spPr>
          <p:txBody>
            <a:bodyPr spcFirstLastPara="1" wrap="square" lIns="86389" tIns="43183" rIns="86389" bIns="43183" anchor="ctr" anchorCtr="0">
              <a:noAutofit/>
            </a:bodyPr>
            <a:lstStyle/>
            <a:p>
              <a:pPr algn="ctr"/>
              <a:endParaRPr sz="1701" dirty="0">
                <a:solidFill>
                  <a:schemeClr val="dk1"/>
                </a:solidFill>
                <a:latin typeface="Noto Sans Semibold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5" name="Textfeld 4">
            <a:extLst>
              <a:ext uri="{FF2B5EF4-FFF2-40B4-BE49-F238E27FC236}">
                <a16:creationId xmlns:a16="http://schemas.microsoft.com/office/drawing/2014/main" id="{B3B8ED8E-C461-0D70-9D56-AC69FCCAE268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</p:spTree>
    <p:extLst>
      <p:ext uri="{BB962C8B-B14F-4D97-AF65-F5344CB8AC3E}">
        <p14:creationId xmlns:p14="http://schemas.microsoft.com/office/powerpoint/2010/main" val="3379576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C4883D4E-2269-3481-8FD7-C25C4030B706}"/>
              </a:ext>
            </a:extLst>
          </p:cNvPr>
          <p:cNvSpPr txBox="1"/>
          <p:nvPr/>
        </p:nvSpPr>
        <p:spPr>
          <a:xfrm>
            <a:off x="533213" y="1062368"/>
            <a:ext cx="8815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>
                    <a:lumMod val="50000"/>
                  </a:schemeClr>
                </a:solidFill>
                <a:effectLst/>
                <a:latin typeface="Noto Sans Semibold"/>
              </a:rPr>
              <a:t>3. Attention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Jedes Token wird mit jedem kombiniert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F0045A23-68D0-FE1A-43D5-C59E6B887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882" y="6524477"/>
            <a:ext cx="534844" cy="531845"/>
          </a:xfrm>
        </p:spPr>
        <p:txBody>
          <a:bodyPr/>
          <a:lstStyle/>
          <a:p>
            <a:pPr marL="108002" indent="0">
              <a:buNone/>
            </a:pPr>
            <a:r>
              <a:rPr lang="de-DE" dirty="0"/>
              <a:t> 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B1D53AC-14F0-CAE3-946A-B2D39872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70" y="6476408"/>
            <a:ext cx="768818" cy="579914"/>
          </a:xfrm>
        </p:spPr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3BC8B2BC-3920-5C3B-25C1-9876DDD3D144}"/>
              </a:ext>
            </a:extLst>
          </p:cNvPr>
          <p:cNvGraphicFramePr>
            <a:graphicFrameLocks noGrp="1"/>
          </p:cNvGraphicFramePr>
          <p:nvPr/>
        </p:nvGraphicFramePr>
        <p:xfrm>
          <a:off x="6302849" y="1585588"/>
          <a:ext cx="4371585" cy="4371585"/>
        </p:xfrm>
        <a:graphic>
          <a:graphicData uri="http://schemas.openxmlformats.org/drawingml/2006/table">
            <a:tbl>
              <a:tblPr/>
              <a:tblGrid>
                <a:gridCol w="874317">
                  <a:extLst>
                    <a:ext uri="{9D8B030D-6E8A-4147-A177-3AD203B41FA5}">
                      <a16:colId xmlns:a16="http://schemas.microsoft.com/office/drawing/2014/main" val="2119810140"/>
                    </a:ext>
                  </a:extLst>
                </a:gridCol>
                <a:gridCol w="874317">
                  <a:extLst>
                    <a:ext uri="{9D8B030D-6E8A-4147-A177-3AD203B41FA5}">
                      <a16:colId xmlns:a16="http://schemas.microsoft.com/office/drawing/2014/main" val="2186619292"/>
                    </a:ext>
                  </a:extLst>
                </a:gridCol>
                <a:gridCol w="874317">
                  <a:extLst>
                    <a:ext uri="{9D8B030D-6E8A-4147-A177-3AD203B41FA5}">
                      <a16:colId xmlns:a16="http://schemas.microsoft.com/office/drawing/2014/main" val="702902160"/>
                    </a:ext>
                  </a:extLst>
                </a:gridCol>
                <a:gridCol w="874317">
                  <a:extLst>
                    <a:ext uri="{9D8B030D-6E8A-4147-A177-3AD203B41FA5}">
                      <a16:colId xmlns:a16="http://schemas.microsoft.com/office/drawing/2014/main" val="2463979912"/>
                    </a:ext>
                  </a:extLst>
                </a:gridCol>
                <a:gridCol w="874317">
                  <a:extLst>
                    <a:ext uri="{9D8B030D-6E8A-4147-A177-3AD203B41FA5}">
                      <a16:colId xmlns:a16="http://schemas.microsoft.com/office/drawing/2014/main" val="2907725507"/>
                    </a:ext>
                  </a:extLst>
                </a:gridCol>
              </a:tblGrid>
              <a:tr h="874317">
                <a:tc>
                  <a:txBody>
                    <a:bodyPr/>
                    <a:lstStyle/>
                    <a:p>
                      <a:pPr algn="ctr" fontAlgn="b"/>
                      <a:endParaRPr lang="de-DE" sz="1900" b="1" dirty="0">
                        <a:effectLst/>
                        <a:latin typeface="Noto Sans Semibold"/>
                      </a:endParaRPr>
                    </a:p>
                  </a:txBody>
                  <a:tcPr marL="79312" marR="79312" marT="39657" marB="39657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500" b="1" i="1" dirty="0">
                          <a:effectLst/>
                          <a:latin typeface="Noto Sans Semibold"/>
                        </a:rPr>
                        <a:t>Gut</a:t>
                      </a:r>
                    </a:p>
                  </a:txBody>
                  <a:tcPr marL="79312" marR="79312" marT="39657" marB="39657"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500" b="1" i="1" dirty="0">
                          <a:effectLst/>
                          <a:latin typeface="Noto Sans Semibold"/>
                        </a:rPr>
                        <a:t>Ding</a:t>
                      </a:r>
                    </a:p>
                  </a:txBody>
                  <a:tcPr marL="79312" marR="79312" marT="39657" marB="39657"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500" b="1" i="1" dirty="0">
                          <a:effectLst/>
                          <a:latin typeface="Noto Sans Semibold"/>
                        </a:rPr>
                        <a:t>braucht</a:t>
                      </a:r>
                    </a:p>
                  </a:txBody>
                  <a:tcPr marL="79312" marR="79312" marT="39657" marB="39657"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500" b="1" i="1" dirty="0">
                          <a:effectLst/>
                          <a:latin typeface="Noto Sans Semibold"/>
                        </a:rPr>
                        <a:t>Weile</a:t>
                      </a:r>
                    </a:p>
                  </a:txBody>
                  <a:tcPr marL="79312" marR="79312" marT="39657" marB="39657"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304065"/>
                  </a:ext>
                </a:extLst>
              </a:tr>
              <a:tr h="874317">
                <a:tc>
                  <a:txBody>
                    <a:bodyPr/>
                    <a:lstStyle/>
                    <a:p>
                      <a:pPr algn="r" fontAlgn="base"/>
                      <a:r>
                        <a:rPr lang="de-DE" sz="1500" b="1" i="1" dirty="0">
                          <a:effectLst/>
                          <a:latin typeface="Noto Sans Semibold"/>
                        </a:rPr>
                        <a:t>Gut</a:t>
                      </a:r>
                    </a:p>
                  </a:txBody>
                  <a:tcPr marL="79312" marR="79312" marT="39657" marB="39657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0.4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0.3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0.1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2929"/>
                  </a:ext>
                </a:extLst>
              </a:tr>
              <a:tr h="874317">
                <a:tc>
                  <a:txBody>
                    <a:bodyPr/>
                    <a:lstStyle/>
                    <a:p>
                      <a:pPr algn="r" fontAlgn="base"/>
                      <a:r>
                        <a:rPr lang="de-DE" sz="1500" b="1" i="1" dirty="0">
                          <a:effectLst/>
                          <a:latin typeface="Noto Sans Semibold"/>
                        </a:rPr>
                        <a:t>Ding</a:t>
                      </a:r>
                    </a:p>
                  </a:txBody>
                  <a:tcPr marL="79312" marR="79312" marT="39657" marB="39657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b="1" dirty="0">
                          <a:solidFill>
                            <a:srgbClr val="C00000"/>
                          </a:solidFill>
                          <a:effectLst/>
                          <a:latin typeface="Noto Sans Semibold"/>
                        </a:rPr>
                        <a:t>0.6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900" dirty="0">
                          <a:effectLst/>
                          <a:latin typeface="Noto Sans Semibold"/>
                        </a:rPr>
                        <a:t>0.1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0.1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307876"/>
                  </a:ext>
                </a:extLst>
              </a:tr>
              <a:tr h="874317">
                <a:tc>
                  <a:txBody>
                    <a:bodyPr/>
                    <a:lstStyle/>
                    <a:p>
                      <a:pPr algn="r" fontAlgn="base"/>
                      <a:r>
                        <a:rPr lang="de-DE" sz="1500" b="1" i="1" dirty="0">
                          <a:effectLst/>
                          <a:latin typeface="Noto Sans Semibold"/>
                        </a:rPr>
                        <a:t>braucht</a:t>
                      </a:r>
                    </a:p>
                  </a:txBody>
                  <a:tcPr marL="79312" marR="79312" marT="39657" marB="39657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b="1" dirty="0">
                          <a:solidFill>
                            <a:srgbClr val="3B9927"/>
                          </a:solidFill>
                          <a:effectLst/>
                          <a:latin typeface="Noto Sans Semibold"/>
                        </a:rPr>
                        <a:t>0.4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789798"/>
                  </a:ext>
                </a:extLst>
              </a:tr>
              <a:tr h="874317">
                <a:tc>
                  <a:txBody>
                    <a:bodyPr/>
                    <a:lstStyle/>
                    <a:p>
                      <a:pPr algn="r" fontAlgn="base"/>
                      <a:r>
                        <a:rPr lang="de-DE" sz="1500" b="1" i="1" dirty="0">
                          <a:effectLst/>
                          <a:latin typeface="Noto Sans Semibold"/>
                        </a:rPr>
                        <a:t>Weile</a:t>
                      </a:r>
                    </a:p>
                  </a:txBody>
                  <a:tcPr marL="79312" marR="79312" marT="39657" marB="39657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0.1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b="1" dirty="0">
                          <a:solidFill>
                            <a:srgbClr val="003C72"/>
                          </a:solidFill>
                          <a:effectLst/>
                          <a:latin typeface="Noto Sans Semibold"/>
                        </a:rPr>
                        <a:t>0.5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574757"/>
                  </a:ext>
                </a:extLst>
              </a:tr>
            </a:tbl>
          </a:graphicData>
        </a:graphic>
      </p:graphicFrame>
      <p:sp>
        <p:nvSpPr>
          <p:cNvPr id="22" name="Google Shape;200;p10">
            <a:extLst>
              <a:ext uri="{FF2B5EF4-FFF2-40B4-BE49-F238E27FC236}">
                <a16:creationId xmlns:a16="http://schemas.microsoft.com/office/drawing/2014/main" id="{F0871274-8E0C-2BDD-8E9E-1EFF70B6A121}"/>
              </a:ext>
            </a:extLst>
          </p:cNvPr>
          <p:cNvSpPr/>
          <p:nvPr/>
        </p:nvSpPr>
        <p:spPr>
          <a:xfrm rot="10402102">
            <a:off x="3822532" y="2714709"/>
            <a:ext cx="3744939" cy="903818"/>
          </a:xfrm>
          <a:prstGeom prst="arc">
            <a:avLst>
              <a:gd name="adj1" fmla="val 10897077"/>
              <a:gd name="adj2" fmla="val 17490730"/>
            </a:avLst>
          </a:prstGeom>
          <a:noFill/>
          <a:ln w="28575" cap="flat" cmpd="sng">
            <a:solidFill>
              <a:srgbClr val="CE1619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0546F77-DCAC-0EE9-71F4-A505F319D10F}"/>
              </a:ext>
            </a:extLst>
          </p:cNvPr>
          <p:cNvSpPr txBox="1"/>
          <p:nvPr/>
        </p:nvSpPr>
        <p:spPr>
          <a:xfrm rot="21136568">
            <a:off x="3522881" y="3369617"/>
            <a:ext cx="2839239" cy="92333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rgbClr val="CE1619"/>
                </a:solidFill>
                <a:latin typeface="Smash" pitchFamily="2" charset="0"/>
              </a:rPr>
              <a:t>„Gewicht“</a:t>
            </a:r>
          </a:p>
          <a:p>
            <a:r>
              <a:rPr lang="de-DE" sz="1800" dirty="0">
                <a:solidFill>
                  <a:srgbClr val="CE1619"/>
                </a:solidFill>
                <a:latin typeface="Smash" pitchFamily="2" charset="0"/>
              </a:rPr>
              <a:t>nach Softmax:</a:t>
            </a:r>
          </a:p>
          <a:p>
            <a:r>
              <a:rPr lang="de-DE" sz="1800" dirty="0">
                <a:solidFill>
                  <a:srgbClr val="CE1619"/>
                </a:solidFill>
                <a:latin typeface="Smash" pitchFamily="2" charset="0"/>
              </a:rPr>
              <a:t>Zeilensumme = 1</a:t>
            </a:r>
          </a:p>
        </p:txBody>
      </p:sp>
      <p:sp>
        <p:nvSpPr>
          <p:cNvPr id="24" name="Google Shape;177;p8">
            <a:extLst>
              <a:ext uri="{FF2B5EF4-FFF2-40B4-BE49-F238E27FC236}">
                <a16:creationId xmlns:a16="http://schemas.microsoft.com/office/drawing/2014/main" id="{FF3589D8-2CC9-786F-9D45-90510FBA6993}"/>
              </a:ext>
            </a:extLst>
          </p:cNvPr>
          <p:cNvSpPr txBox="1">
            <a:spLocks/>
          </p:cNvSpPr>
          <p:nvPr/>
        </p:nvSpPr>
        <p:spPr>
          <a:xfrm>
            <a:off x="722726" y="4870207"/>
            <a:ext cx="4629203" cy="1094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SzPts val="2000"/>
              <a:buFont typeface="Noto Sans Symbols"/>
              <a:buNone/>
            </a:pPr>
            <a:endParaRPr lang="de-DE" sz="1000" b="1" i="0" dirty="0">
              <a:solidFill>
                <a:srgbClr val="003C72"/>
              </a:solidFill>
              <a:effectLst/>
              <a:latin typeface="Noto Sans Semibold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 r:embed="rId3"/>
              </a:buBlip>
            </a:pPr>
            <a:r>
              <a:rPr lang="de-DE" b="1" dirty="0">
                <a:solidFill>
                  <a:schemeClr val="bg2"/>
                </a:solidFill>
                <a:latin typeface="Noto Sans Semibold"/>
              </a:rPr>
              <a:t>Alle Tokens werden kombiniert,</a:t>
            </a: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 r:embed="rId3"/>
              </a:buBlip>
            </a:pPr>
            <a:r>
              <a:rPr lang="de-DE" b="1" dirty="0">
                <a:solidFill>
                  <a:schemeClr val="bg2"/>
                </a:solidFill>
                <a:latin typeface="Noto Sans Semibold"/>
              </a:rPr>
              <a:t>Bezüge als Gewichte (ohne Maske).</a:t>
            </a:r>
          </a:p>
        </p:txBody>
      </p:sp>
      <p:sp>
        <p:nvSpPr>
          <p:cNvPr id="25" name="Google Shape;200;p10">
            <a:extLst>
              <a:ext uri="{FF2B5EF4-FFF2-40B4-BE49-F238E27FC236}">
                <a16:creationId xmlns:a16="http://schemas.microsoft.com/office/drawing/2014/main" id="{AEFA8E31-C459-7F03-5D55-FAEB90222759}"/>
              </a:ext>
            </a:extLst>
          </p:cNvPr>
          <p:cNvSpPr/>
          <p:nvPr/>
        </p:nvSpPr>
        <p:spPr>
          <a:xfrm rot="856036" flipV="1">
            <a:off x="2775684" y="5728412"/>
            <a:ext cx="1778974" cy="687767"/>
          </a:xfrm>
          <a:prstGeom prst="arc">
            <a:avLst>
              <a:gd name="adj1" fmla="val 10799015"/>
              <a:gd name="adj2" fmla="val 16354502"/>
            </a:avLst>
          </a:prstGeom>
          <a:noFill/>
          <a:ln w="28575" cap="flat" cmpd="sng">
            <a:solidFill>
              <a:srgbClr val="CE1619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FBFFFA3-5CB7-7C27-D6E6-094C697FB65E}"/>
              </a:ext>
            </a:extLst>
          </p:cNvPr>
          <p:cNvSpPr txBox="1"/>
          <p:nvPr/>
        </p:nvSpPr>
        <p:spPr>
          <a:xfrm rot="21136568">
            <a:off x="3526515" y="6126174"/>
            <a:ext cx="242676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1800" dirty="0">
                <a:solidFill>
                  <a:srgbClr val="CE1619"/>
                </a:solidFill>
                <a:latin typeface="Smash" pitchFamily="2" charset="0"/>
              </a:rPr>
              <a:t>„Gewicht“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88A3BE14-27CA-C621-0360-06DB3E5A012D}"/>
              </a:ext>
            </a:extLst>
          </p:cNvPr>
          <p:cNvGrpSpPr/>
          <p:nvPr/>
        </p:nvGrpSpPr>
        <p:grpSpPr>
          <a:xfrm>
            <a:off x="1197941" y="2176214"/>
            <a:ext cx="2218399" cy="1118920"/>
            <a:chOff x="1672460" y="3339315"/>
            <a:chExt cx="2218399" cy="1118920"/>
          </a:xfrm>
        </p:grpSpPr>
        <p:sp>
          <p:nvSpPr>
            <p:cNvPr id="12" name="Google Shape;200;p10">
              <a:extLst>
                <a:ext uri="{FF2B5EF4-FFF2-40B4-BE49-F238E27FC236}">
                  <a16:creationId xmlns:a16="http://schemas.microsoft.com/office/drawing/2014/main" id="{B1AA9EA9-A00C-BFB3-C0AE-EDB5413765C9}"/>
                </a:ext>
              </a:extLst>
            </p:cNvPr>
            <p:cNvSpPr/>
            <p:nvPr/>
          </p:nvSpPr>
          <p:spPr>
            <a:xfrm rot="10415463" flipV="1">
              <a:off x="1672460" y="3348318"/>
              <a:ext cx="640597" cy="835741"/>
            </a:xfrm>
            <a:prstGeom prst="arc">
              <a:avLst>
                <a:gd name="adj1" fmla="val 10799015"/>
                <a:gd name="adj2" fmla="val 20673351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lg" len="lg"/>
            </a:ln>
          </p:spPr>
          <p:txBody>
            <a:bodyPr spcFirstLastPara="1" wrap="square" lIns="86389" tIns="43183" rIns="86389" bIns="43183" anchor="ctr" anchorCtr="0">
              <a:noAutofit/>
            </a:bodyPr>
            <a:lstStyle/>
            <a:p>
              <a:pPr algn="ctr"/>
              <a:endParaRPr sz="1701" dirty="0">
                <a:solidFill>
                  <a:schemeClr val="dk1"/>
                </a:solidFill>
                <a:latin typeface="Noto Sans Semibold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" name="Google Shape;200;p10">
              <a:extLst>
                <a:ext uri="{FF2B5EF4-FFF2-40B4-BE49-F238E27FC236}">
                  <a16:creationId xmlns:a16="http://schemas.microsoft.com/office/drawing/2014/main" id="{E2BD3051-20A1-32CD-D239-1E1793A75113}"/>
                </a:ext>
              </a:extLst>
            </p:cNvPr>
            <p:cNvSpPr/>
            <p:nvPr/>
          </p:nvSpPr>
          <p:spPr>
            <a:xfrm rot="10298217" flipV="1">
              <a:off x="3250262" y="3339315"/>
              <a:ext cx="640597" cy="835741"/>
            </a:xfrm>
            <a:prstGeom prst="arc">
              <a:avLst>
                <a:gd name="adj1" fmla="val 10799015"/>
                <a:gd name="adj2" fmla="val 20673351"/>
              </a:avLst>
            </a:prstGeom>
            <a:noFill/>
            <a:ln w="28575" cap="flat" cmpd="sng">
              <a:solidFill>
                <a:srgbClr val="003C72"/>
              </a:solidFill>
              <a:prstDash val="solid"/>
              <a:round/>
              <a:headEnd type="none" w="med" len="med"/>
              <a:tailEnd type="triangle" w="lg" len="lg"/>
            </a:ln>
          </p:spPr>
          <p:txBody>
            <a:bodyPr spcFirstLastPara="1" wrap="square" lIns="86389" tIns="43183" rIns="86389" bIns="43183" anchor="ctr" anchorCtr="0">
              <a:noAutofit/>
            </a:bodyPr>
            <a:lstStyle/>
            <a:p>
              <a:pPr algn="ctr"/>
              <a:endParaRPr sz="1701" dirty="0">
                <a:solidFill>
                  <a:schemeClr val="dk1"/>
                </a:solidFill>
                <a:latin typeface="Noto Sans Semibold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" name="Google Shape;200;p10">
              <a:extLst>
                <a:ext uri="{FF2B5EF4-FFF2-40B4-BE49-F238E27FC236}">
                  <a16:creationId xmlns:a16="http://schemas.microsoft.com/office/drawing/2014/main" id="{9BC84B2B-DCDD-4A6C-8B49-2BF30B7C11A8}"/>
                </a:ext>
              </a:extLst>
            </p:cNvPr>
            <p:cNvSpPr/>
            <p:nvPr/>
          </p:nvSpPr>
          <p:spPr>
            <a:xfrm rot="10800000">
              <a:off x="2378392" y="3538207"/>
              <a:ext cx="869211" cy="920028"/>
            </a:xfrm>
            <a:prstGeom prst="arc">
              <a:avLst>
                <a:gd name="adj1" fmla="val 10799015"/>
                <a:gd name="adj2" fmla="val 21587456"/>
              </a:avLst>
            </a:prstGeom>
            <a:noFill/>
            <a:ln w="28575" cap="flat" cmpd="sng">
              <a:solidFill>
                <a:srgbClr val="3B9927"/>
              </a:solidFill>
              <a:prstDash val="solid"/>
              <a:round/>
              <a:headEnd type="none" w="med" len="med"/>
              <a:tailEnd type="triangle" w="lg" len="lg"/>
            </a:ln>
          </p:spPr>
          <p:txBody>
            <a:bodyPr spcFirstLastPara="1" wrap="square" lIns="86389" tIns="43183" rIns="86389" bIns="43183" anchor="ctr" anchorCtr="0">
              <a:noAutofit/>
            </a:bodyPr>
            <a:lstStyle/>
            <a:p>
              <a:pPr algn="ctr"/>
              <a:endParaRPr sz="1701" dirty="0">
                <a:solidFill>
                  <a:schemeClr val="dk1"/>
                </a:solidFill>
                <a:latin typeface="Noto Sans Semibold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6" name="Textfeld 5">
            <a:extLst>
              <a:ext uri="{FF2B5EF4-FFF2-40B4-BE49-F238E27FC236}">
                <a16:creationId xmlns:a16="http://schemas.microsoft.com/office/drawing/2014/main" id="{50FF49E1-0188-BE45-626E-7A2FB073014D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8" name="Google Shape;177;p8">
            <a:extLst>
              <a:ext uri="{FF2B5EF4-FFF2-40B4-BE49-F238E27FC236}">
                <a16:creationId xmlns:a16="http://schemas.microsoft.com/office/drawing/2014/main" id="{5A21916B-401D-062E-E026-158F4A004635}"/>
              </a:ext>
            </a:extLst>
          </p:cNvPr>
          <p:cNvSpPr txBox="1">
            <a:spLocks/>
          </p:cNvSpPr>
          <p:nvPr/>
        </p:nvSpPr>
        <p:spPr>
          <a:xfrm>
            <a:off x="806596" y="2497882"/>
            <a:ext cx="3452250" cy="359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2400" b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„Gut Ding braucht Weile“</a:t>
            </a:r>
            <a:endParaRPr lang="en-US" sz="2400" b="1" dirty="0">
              <a:latin typeface="Noto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566656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C4883D4E-2269-3481-8FD7-C25C4030B706}"/>
              </a:ext>
            </a:extLst>
          </p:cNvPr>
          <p:cNvSpPr txBox="1"/>
          <p:nvPr/>
        </p:nvSpPr>
        <p:spPr>
          <a:xfrm>
            <a:off x="533213" y="1062368"/>
            <a:ext cx="8815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>
                    <a:lumMod val="50000"/>
                  </a:schemeClr>
                </a:solidFill>
                <a:effectLst/>
                <a:latin typeface="Noto Sans Semibold"/>
              </a:rPr>
              <a:t>3. Attention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Zeilen = Query, Spalten = Key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F0045A23-68D0-FE1A-43D5-C59E6B887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882" y="6524477"/>
            <a:ext cx="534844" cy="531845"/>
          </a:xfrm>
        </p:spPr>
        <p:txBody>
          <a:bodyPr/>
          <a:lstStyle/>
          <a:p>
            <a:pPr marL="108002" indent="0">
              <a:buNone/>
            </a:pPr>
            <a:r>
              <a:rPr lang="de-DE" dirty="0"/>
              <a:t> 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B1D53AC-14F0-CAE3-946A-B2D39872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70" y="6476408"/>
            <a:ext cx="768818" cy="579914"/>
          </a:xfrm>
        </p:spPr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22" name="Google Shape;200;p10">
            <a:extLst>
              <a:ext uri="{FF2B5EF4-FFF2-40B4-BE49-F238E27FC236}">
                <a16:creationId xmlns:a16="http://schemas.microsoft.com/office/drawing/2014/main" id="{F0871274-8E0C-2BDD-8E9E-1EFF70B6A121}"/>
              </a:ext>
            </a:extLst>
          </p:cNvPr>
          <p:cNvSpPr/>
          <p:nvPr/>
        </p:nvSpPr>
        <p:spPr>
          <a:xfrm rot="13660279">
            <a:off x="6031695" y="1041064"/>
            <a:ext cx="1767311" cy="903818"/>
          </a:xfrm>
          <a:prstGeom prst="arc">
            <a:avLst>
              <a:gd name="adj1" fmla="val 11227333"/>
              <a:gd name="adj2" fmla="val 13912240"/>
            </a:avLst>
          </a:prstGeom>
          <a:noFill/>
          <a:ln w="28575" cap="flat" cmpd="sng">
            <a:solidFill>
              <a:srgbClr val="CE1619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0546F77-DCAC-0EE9-71F4-A505F319D10F}"/>
              </a:ext>
            </a:extLst>
          </p:cNvPr>
          <p:cNvSpPr txBox="1"/>
          <p:nvPr/>
        </p:nvSpPr>
        <p:spPr>
          <a:xfrm rot="21136568">
            <a:off x="6254470" y="1823914"/>
            <a:ext cx="60305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rgbClr val="CE1619"/>
                </a:solidFill>
                <a:latin typeface="Smash" pitchFamily="2" charset="0"/>
              </a:rPr>
              <a:t>KEY</a:t>
            </a:r>
          </a:p>
        </p:txBody>
      </p:sp>
      <p:sp>
        <p:nvSpPr>
          <p:cNvPr id="24" name="Google Shape;177;p8">
            <a:extLst>
              <a:ext uri="{FF2B5EF4-FFF2-40B4-BE49-F238E27FC236}">
                <a16:creationId xmlns:a16="http://schemas.microsoft.com/office/drawing/2014/main" id="{FF3589D8-2CC9-786F-9D45-90510FBA6993}"/>
              </a:ext>
            </a:extLst>
          </p:cNvPr>
          <p:cNvSpPr txBox="1">
            <a:spLocks/>
          </p:cNvSpPr>
          <p:nvPr/>
        </p:nvSpPr>
        <p:spPr>
          <a:xfrm>
            <a:off x="722726" y="3343204"/>
            <a:ext cx="5158230" cy="30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SzPts val="2000"/>
              <a:buFont typeface="Noto Sans Symbols"/>
              <a:buNone/>
            </a:pPr>
            <a:endParaRPr lang="de-DE" sz="1000" b="1" i="0" dirty="0">
              <a:solidFill>
                <a:srgbClr val="003C72"/>
              </a:solidFill>
              <a:effectLst/>
              <a:latin typeface="Noto Sans Semibold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 r:embed="rId3"/>
              </a:buBlip>
            </a:pPr>
            <a:r>
              <a:rPr lang="de-DE" b="1" dirty="0">
                <a:solidFill>
                  <a:schemeClr val="bg2"/>
                </a:solidFill>
                <a:latin typeface="Noto Sans Semibold"/>
              </a:rPr>
              <a:t>Zeilen (links beschriftet): Query-Tokens – für sie werden die Gewichte* bestimmt.</a:t>
            </a: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 r:embed="rId3"/>
              </a:buBlip>
            </a:pPr>
            <a:r>
              <a:rPr lang="de-DE" b="1" dirty="0">
                <a:solidFill>
                  <a:schemeClr val="bg2"/>
                </a:solidFill>
                <a:latin typeface="Noto Sans Semibold"/>
              </a:rPr>
              <a:t>Spalten (oben beschriftet): Key-Tokens – auf sie wird geschaut.</a:t>
            </a:r>
          </a:p>
        </p:txBody>
      </p:sp>
      <p:sp>
        <p:nvSpPr>
          <p:cNvPr id="25" name="Google Shape;200;p10">
            <a:extLst>
              <a:ext uri="{FF2B5EF4-FFF2-40B4-BE49-F238E27FC236}">
                <a16:creationId xmlns:a16="http://schemas.microsoft.com/office/drawing/2014/main" id="{AEFA8E31-C459-7F03-5D55-FAEB90222759}"/>
              </a:ext>
            </a:extLst>
          </p:cNvPr>
          <p:cNvSpPr/>
          <p:nvPr/>
        </p:nvSpPr>
        <p:spPr>
          <a:xfrm rot="10800000" flipV="1">
            <a:off x="5920077" y="2411432"/>
            <a:ext cx="898082" cy="687767"/>
          </a:xfrm>
          <a:prstGeom prst="arc">
            <a:avLst>
              <a:gd name="adj1" fmla="val 10799015"/>
              <a:gd name="adj2" fmla="val 16354502"/>
            </a:avLst>
          </a:prstGeom>
          <a:noFill/>
          <a:ln w="28575" cap="flat" cmpd="sng">
            <a:solidFill>
              <a:srgbClr val="CE1619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FBFFFA3-5CB7-7C27-D6E6-094C697FB65E}"/>
              </a:ext>
            </a:extLst>
          </p:cNvPr>
          <p:cNvSpPr txBox="1"/>
          <p:nvPr/>
        </p:nvSpPr>
        <p:spPr>
          <a:xfrm rot="21136568">
            <a:off x="5538577" y="2338620"/>
            <a:ext cx="87235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rgbClr val="CE1619"/>
                </a:solidFill>
                <a:latin typeface="Smash" pitchFamily="2" charset="0"/>
              </a:rPr>
              <a:t>QUERY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88A3BE14-27CA-C621-0360-06DB3E5A012D}"/>
              </a:ext>
            </a:extLst>
          </p:cNvPr>
          <p:cNvGrpSpPr/>
          <p:nvPr/>
        </p:nvGrpSpPr>
        <p:grpSpPr>
          <a:xfrm>
            <a:off x="1197941" y="2176214"/>
            <a:ext cx="2218399" cy="1118920"/>
            <a:chOff x="1672460" y="3339315"/>
            <a:chExt cx="2218399" cy="1118920"/>
          </a:xfrm>
        </p:grpSpPr>
        <p:sp>
          <p:nvSpPr>
            <p:cNvPr id="12" name="Google Shape;200;p10">
              <a:extLst>
                <a:ext uri="{FF2B5EF4-FFF2-40B4-BE49-F238E27FC236}">
                  <a16:creationId xmlns:a16="http://schemas.microsoft.com/office/drawing/2014/main" id="{B1AA9EA9-A00C-BFB3-C0AE-EDB5413765C9}"/>
                </a:ext>
              </a:extLst>
            </p:cNvPr>
            <p:cNvSpPr/>
            <p:nvPr/>
          </p:nvSpPr>
          <p:spPr>
            <a:xfrm rot="10415463" flipV="1">
              <a:off x="1672460" y="3348318"/>
              <a:ext cx="640597" cy="835741"/>
            </a:xfrm>
            <a:prstGeom prst="arc">
              <a:avLst>
                <a:gd name="adj1" fmla="val 10799015"/>
                <a:gd name="adj2" fmla="val 20673351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lg" len="lg"/>
            </a:ln>
          </p:spPr>
          <p:txBody>
            <a:bodyPr spcFirstLastPara="1" wrap="square" lIns="86389" tIns="43183" rIns="86389" bIns="43183" anchor="ctr" anchorCtr="0">
              <a:noAutofit/>
            </a:bodyPr>
            <a:lstStyle/>
            <a:p>
              <a:pPr algn="ctr"/>
              <a:endParaRPr sz="1701" dirty="0">
                <a:solidFill>
                  <a:schemeClr val="dk1"/>
                </a:solidFill>
                <a:latin typeface="Noto Sans Semibold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" name="Google Shape;200;p10">
              <a:extLst>
                <a:ext uri="{FF2B5EF4-FFF2-40B4-BE49-F238E27FC236}">
                  <a16:creationId xmlns:a16="http://schemas.microsoft.com/office/drawing/2014/main" id="{E2BD3051-20A1-32CD-D239-1E1793A75113}"/>
                </a:ext>
              </a:extLst>
            </p:cNvPr>
            <p:cNvSpPr/>
            <p:nvPr/>
          </p:nvSpPr>
          <p:spPr>
            <a:xfrm rot="10298217" flipV="1">
              <a:off x="3250262" y="3339315"/>
              <a:ext cx="640597" cy="835741"/>
            </a:xfrm>
            <a:prstGeom prst="arc">
              <a:avLst>
                <a:gd name="adj1" fmla="val 10799015"/>
                <a:gd name="adj2" fmla="val 20673351"/>
              </a:avLst>
            </a:prstGeom>
            <a:noFill/>
            <a:ln w="28575" cap="flat" cmpd="sng">
              <a:solidFill>
                <a:srgbClr val="003C72"/>
              </a:solidFill>
              <a:prstDash val="solid"/>
              <a:round/>
              <a:headEnd type="none" w="med" len="med"/>
              <a:tailEnd type="triangle" w="lg" len="lg"/>
            </a:ln>
          </p:spPr>
          <p:txBody>
            <a:bodyPr spcFirstLastPara="1" wrap="square" lIns="86389" tIns="43183" rIns="86389" bIns="43183" anchor="ctr" anchorCtr="0">
              <a:noAutofit/>
            </a:bodyPr>
            <a:lstStyle/>
            <a:p>
              <a:pPr algn="ctr"/>
              <a:endParaRPr sz="1701" dirty="0">
                <a:solidFill>
                  <a:schemeClr val="dk1"/>
                </a:solidFill>
                <a:latin typeface="Noto Sans Semibold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" name="Google Shape;200;p10">
              <a:extLst>
                <a:ext uri="{FF2B5EF4-FFF2-40B4-BE49-F238E27FC236}">
                  <a16:creationId xmlns:a16="http://schemas.microsoft.com/office/drawing/2014/main" id="{9BC84B2B-DCDD-4A6C-8B49-2BF30B7C11A8}"/>
                </a:ext>
              </a:extLst>
            </p:cNvPr>
            <p:cNvSpPr/>
            <p:nvPr/>
          </p:nvSpPr>
          <p:spPr>
            <a:xfrm rot="10800000">
              <a:off x="2378392" y="3538207"/>
              <a:ext cx="869211" cy="920028"/>
            </a:xfrm>
            <a:prstGeom prst="arc">
              <a:avLst>
                <a:gd name="adj1" fmla="val 10799015"/>
                <a:gd name="adj2" fmla="val 21587456"/>
              </a:avLst>
            </a:prstGeom>
            <a:noFill/>
            <a:ln w="28575" cap="flat" cmpd="sng">
              <a:solidFill>
                <a:srgbClr val="3B9927"/>
              </a:solidFill>
              <a:prstDash val="solid"/>
              <a:round/>
              <a:headEnd type="none" w="med" len="med"/>
              <a:tailEnd type="triangle" w="lg" len="lg"/>
            </a:ln>
          </p:spPr>
          <p:txBody>
            <a:bodyPr spcFirstLastPara="1" wrap="square" lIns="86389" tIns="43183" rIns="86389" bIns="43183" anchor="ctr" anchorCtr="0">
              <a:noAutofit/>
            </a:bodyPr>
            <a:lstStyle/>
            <a:p>
              <a:pPr algn="ctr"/>
              <a:endParaRPr sz="1701" dirty="0">
                <a:solidFill>
                  <a:schemeClr val="dk1"/>
                </a:solidFill>
                <a:latin typeface="Noto Sans Semibold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D1DD14F6-A0D7-34CC-51C2-CB24CB11DCD6}"/>
              </a:ext>
            </a:extLst>
          </p:cNvPr>
          <p:cNvSpPr txBox="1"/>
          <p:nvPr/>
        </p:nvSpPr>
        <p:spPr>
          <a:xfrm rot="21136568">
            <a:off x="4555134" y="6188030"/>
            <a:ext cx="2839239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rgbClr val="CE1619"/>
                </a:solidFill>
                <a:latin typeface="Smash" pitchFamily="2" charset="0"/>
              </a:rPr>
              <a:t>Gewicht = Softmax(Score),</a:t>
            </a:r>
          </a:p>
          <a:p>
            <a:r>
              <a:rPr lang="de-DE" sz="1800" dirty="0">
                <a:solidFill>
                  <a:srgbClr val="CE1619"/>
                </a:solidFill>
                <a:latin typeface="Smash" pitchFamily="2" charset="0"/>
              </a:rPr>
              <a:t>Formel folgt.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D3139374-DE8C-404F-5103-5739E6284BDC}"/>
              </a:ext>
            </a:extLst>
          </p:cNvPr>
          <p:cNvGraphicFramePr>
            <a:graphicFrameLocks noGrp="1"/>
          </p:cNvGraphicFramePr>
          <p:nvPr/>
        </p:nvGraphicFramePr>
        <p:xfrm>
          <a:off x="6302849" y="1585588"/>
          <a:ext cx="4371585" cy="4371585"/>
        </p:xfrm>
        <a:graphic>
          <a:graphicData uri="http://schemas.openxmlformats.org/drawingml/2006/table">
            <a:tbl>
              <a:tblPr/>
              <a:tblGrid>
                <a:gridCol w="874317">
                  <a:extLst>
                    <a:ext uri="{9D8B030D-6E8A-4147-A177-3AD203B41FA5}">
                      <a16:colId xmlns:a16="http://schemas.microsoft.com/office/drawing/2014/main" val="2119810140"/>
                    </a:ext>
                  </a:extLst>
                </a:gridCol>
                <a:gridCol w="874317">
                  <a:extLst>
                    <a:ext uri="{9D8B030D-6E8A-4147-A177-3AD203B41FA5}">
                      <a16:colId xmlns:a16="http://schemas.microsoft.com/office/drawing/2014/main" val="2186619292"/>
                    </a:ext>
                  </a:extLst>
                </a:gridCol>
                <a:gridCol w="874317">
                  <a:extLst>
                    <a:ext uri="{9D8B030D-6E8A-4147-A177-3AD203B41FA5}">
                      <a16:colId xmlns:a16="http://schemas.microsoft.com/office/drawing/2014/main" val="702902160"/>
                    </a:ext>
                  </a:extLst>
                </a:gridCol>
                <a:gridCol w="874317">
                  <a:extLst>
                    <a:ext uri="{9D8B030D-6E8A-4147-A177-3AD203B41FA5}">
                      <a16:colId xmlns:a16="http://schemas.microsoft.com/office/drawing/2014/main" val="2463979912"/>
                    </a:ext>
                  </a:extLst>
                </a:gridCol>
                <a:gridCol w="874317">
                  <a:extLst>
                    <a:ext uri="{9D8B030D-6E8A-4147-A177-3AD203B41FA5}">
                      <a16:colId xmlns:a16="http://schemas.microsoft.com/office/drawing/2014/main" val="2907725507"/>
                    </a:ext>
                  </a:extLst>
                </a:gridCol>
              </a:tblGrid>
              <a:tr h="874317">
                <a:tc>
                  <a:txBody>
                    <a:bodyPr/>
                    <a:lstStyle/>
                    <a:p>
                      <a:pPr algn="ctr" fontAlgn="b"/>
                      <a:endParaRPr lang="de-DE" sz="1900" b="1" dirty="0">
                        <a:effectLst/>
                        <a:latin typeface="Noto Sans Semibold"/>
                      </a:endParaRPr>
                    </a:p>
                  </a:txBody>
                  <a:tcPr marL="79312" marR="79312" marT="39657" marB="39657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500" b="1" i="1" dirty="0">
                          <a:effectLst/>
                          <a:latin typeface="Noto Sans Semibold"/>
                        </a:rPr>
                        <a:t>Gut</a:t>
                      </a:r>
                    </a:p>
                  </a:txBody>
                  <a:tcPr marL="79312" marR="79312" marT="39657" marB="39657"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500" b="1" i="1" dirty="0">
                          <a:effectLst/>
                          <a:latin typeface="Noto Sans Semibold"/>
                        </a:rPr>
                        <a:t>Ding</a:t>
                      </a:r>
                    </a:p>
                  </a:txBody>
                  <a:tcPr marL="79312" marR="79312" marT="39657" marB="39657"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500" b="1" i="1" dirty="0">
                          <a:effectLst/>
                          <a:latin typeface="Noto Sans Semibold"/>
                        </a:rPr>
                        <a:t>braucht</a:t>
                      </a:r>
                    </a:p>
                  </a:txBody>
                  <a:tcPr marL="79312" marR="79312" marT="39657" marB="39657"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500" b="1" i="1" dirty="0">
                          <a:effectLst/>
                          <a:latin typeface="Noto Sans Semibold"/>
                        </a:rPr>
                        <a:t>Weile</a:t>
                      </a:r>
                    </a:p>
                  </a:txBody>
                  <a:tcPr marL="79312" marR="79312" marT="39657" marB="39657"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304065"/>
                  </a:ext>
                </a:extLst>
              </a:tr>
              <a:tr h="874317">
                <a:tc>
                  <a:txBody>
                    <a:bodyPr/>
                    <a:lstStyle/>
                    <a:p>
                      <a:pPr algn="r" fontAlgn="base"/>
                      <a:r>
                        <a:rPr lang="de-DE" sz="1500" b="1" i="1" dirty="0">
                          <a:effectLst/>
                          <a:latin typeface="Noto Sans Semibold"/>
                        </a:rPr>
                        <a:t>Gut</a:t>
                      </a:r>
                    </a:p>
                  </a:txBody>
                  <a:tcPr marL="79312" marR="79312" marT="39657" marB="39657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0.4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0.3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0.1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2929"/>
                  </a:ext>
                </a:extLst>
              </a:tr>
              <a:tr h="874317">
                <a:tc>
                  <a:txBody>
                    <a:bodyPr/>
                    <a:lstStyle/>
                    <a:p>
                      <a:pPr algn="r" fontAlgn="base"/>
                      <a:r>
                        <a:rPr lang="de-DE" sz="1500" b="1" i="1" dirty="0">
                          <a:effectLst/>
                          <a:latin typeface="Noto Sans Semibold"/>
                        </a:rPr>
                        <a:t>Ding</a:t>
                      </a:r>
                    </a:p>
                  </a:txBody>
                  <a:tcPr marL="79312" marR="79312" marT="39657" marB="39657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b="1" dirty="0">
                          <a:solidFill>
                            <a:srgbClr val="C00000"/>
                          </a:solidFill>
                          <a:effectLst/>
                          <a:latin typeface="Noto Sans Semibold"/>
                        </a:rPr>
                        <a:t>0.6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900" dirty="0">
                          <a:effectLst/>
                          <a:latin typeface="Noto Sans Semibold"/>
                        </a:rPr>
                        <a:t>0.1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0.1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307876"/>
                  </a:ext>
                </a:extLst>
              </a:tr>
              <a:tr h="874317">
                <a:tc>
                  <a:txBody>
                    <a:bodyPr/>
                    <a:lstStyle/>
                    <a:p>
                      <a:pPr algn="r" fontAlgn="base"/>
                      <a:r>
                        <a:rPr lang="de-DE" sz="1500" b="1" i="1" dirty="0">
                          <a:effectLst/>
                          <a:latin typeface="Noto Sans Semibold"/>
                        </a:rPr>
                        <a:t>braucht</a:t>
                      </a:r>
                    </a:p>
                  </a:txBody>
                  <a:tcPr marL="79312" marR="79312" marT="39657" marB="39657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b="1" dirty="0">
                          <a:solidFill>
                            <a:srgbClr val="3B9927"/>
                          </a:solidFill>
                          <a:effectLst/>
                          <a:latin typeface="Noto Sans Semibold"/>
                        </a:rPr>
                        <a:t>0.4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789798"/>
                  </a:ext>
                </a:extLst>
              </a:tr>
              <a:tr h="874317">
                <a:tc>
                  <a:txBody>
                    <a:bodyPr/>
                    <a:lstStyle/>
                    <a:p>
                      <a:pPr algn="r" fontAlgn="base"/>
                      <a:r>
                        <a:rPr lang="de-DE" sz="1500" b="1" i="1" dirty="0">
                          <a:effectLst/>
                          <a:latin typeface="Noto Sans Semibold"/>
                        </a:rPr>
                        <a:t>Weile</a:t>
                      </a:r>
                    </a:p>
                  </a:txBody>
                  <a:tcPr marL="79312" marR="79312" marT="39657" marB="39657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0.1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b="1" dirty="0">
                          <a:solidFill>
                            <a:srgbClr val="003C72"/>
                          </a:solidFill>
                          <a:effectLst/>
                          <a:latin typeface="Noto Sans Semibold"/>
                        </a:rPr>
                        <a:t>0.5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574757"/>
                  </a:ext>
                </a:extLst>
              </a:tr>
            </a:tbl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89CC3D8E-B0AA-7F3D-A2CB-E2FDECDB50BE}"/>
              </a:ext>
            </a:extLst>
          </p:cNvPr>
          <p:cNvSpPr txBox="1"/>
          <p:nvPr/>
        </p:nvSpPr>
        <p:spPr>
          <a:xfrm>
            <a:off x="4429087" y="6294537"/>
            <a:ext cx="3240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b="1" dirty="0">
                <a:solidFill>
                  <a:srgbClr val="CD1619"/>
                </a:solidFill>
              </a:rPr>
              <a:t>*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108EB8F-7EFB-1737-4E28-9F5E91509F1F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15" name="Google Shape;177;p8">
            <a:extLst>
              <a:ext uri="{FF2B5EF4-FFF2-40B4-BE49-F238E27FC236}">
                <a16:creationId xmlns:a16="http://schemas.microsoft.com/office/drawing/2014/main" id="{EA85E17A-7F2A-A72D-2450-DFC833CA55BA}"/>
              </a:ext>
            </a:extLst>
          </p:cNvPr>
          <p:cNvSpPr txBox="1">
            <a:spLocks/>
          </p:cNvSpPr>
          <p:nvPr/>
        </p:nvSpPr>
        <p:spPr>
          <a:xfrm>
            <a:off x="806596" y="2497882"/>
            <a:ext cx="3452250" cy="359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2400" b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„Gut Ding braucht Weile“</a:t>
            </a:r>
            <a:endParaRPr lang="en-US" sz="2400" b="1" dirty="0">
              <a:latin typeface="Noto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02053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C4883D4E-2269-3481-8FD7-C25C4030B706}"/>
              </a:ext>
            </a:extLst>
          </p:cNvPr>
          <p:cNvSpPr txBox="1"/>
          <p:nvPr/>
        </p:nvSpPr>
        <p:spPr>
          <a:xfrm>
            <a:off x="533213" y="1062368"/>
            <a:ext cx="8815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>
                    <a:lumMod val="50000"/>
                  </a:schemeClr>
                </a:solidFill>
                <a:effectLst/>
                <a:latin typeface="Noto Sans Semibold"/>
              </a:rPr>
              <a:t>3. Attention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Kontextvektor eines Tokens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F0045A23-68D0-FE1A-43D5-C59E6B887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882" y="6524477"/>
            <a:ext cx="534844" cy="531845"/>
          </a:xfrm>
        </p:spPr>
        <p:txBody>
          <a:bodyPr/>
          <a:lstStyle/>
          <a:p>
            <a:pPr marL="108002" indent="0">
              <a:buNone/>
            </a:pPr>
            <a:r>
              <a:rPr lang="de-DE" dirty="0"/>
              <a:t> 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B1D53AC-14F0-CAE3-946A-B2D39872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70" y="6476408"/>
            <a:ext cx="768818" cy="579914"/>
          </a:xfrm>
        </p:spPr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24" name="Google Shape;177;p8">
            <a:extLst>
              <a:ext uri="{FF2B5EF4-FFF2-40B4-BE49-F238E27FC236}">
                <a16:creationId xmlns:a16="http://schemas.microsoft.com/office/drawing/2014/main" id="{FF3589D8-2CC9-786F-9D45-90510FBA6993}"/>
              </a:ext>
            </a:extLst>
          </p:cNvPr>
          <p:cNvSpPr txBox="1">
            <a:spLocks/>
          </p:cNvSpPr>
          <p:nvPr/>
        </p:nvSpPr>
        <p:spPr>
          <a:xfrm>
            <a:off x="722726" y="4870207"/>
            <a:ext cx="6310086" cy="1606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SzPts val="2000"/>
              <a:buFont typeface="Noto Sans Symbols"/>
              <a:buNone/>
            </a:pPr>
            <a:endParaRPr lang="de-DE" sz="1000" b="1" i="0" dirty="0">
              <a:solidFill>
                <a:srgbClr val="003C72"/>
              </a:solidFill>
              <a:effectLst/>
              <a:latin typeface="Noto Sans Semibold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 r:embed="rId3"/>
              </a:buBlip>
            </a:pPr>
            <a:r>
              <a:rPr lang="de-DE" b="1" dirty="0">
                <a:solidFill>
                  <a:schemeClr val="bg2"/>
                </a:solidFill>
                <a:latin typeface="Noto Sans Semibold"/>
              </a:rPr>
              <a:t>Eine Zeile ergibt </a:t>
            </a: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 r:embed="rId3"/>
              </a:buBlip>
            </a:pPr>
            <a:r>
              <a:rPr lang="de-DE" b="1" dirty="0">
                <a:solidFill>
                  <a:schemeClr val="bg2"/>
                </a:solidFill>
                <a:latin typeface="Noto Sans Semibold"/>
              </a:rPr>
              <a:t>durch Addition aller gewichteten Anteile</a:t>
            </a: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 r:embed="rId3"/>
              </a:buBlip>
            </a:pPr>
            <a:r>
              <a:rPr lang="de-DE" b="1" dirty="0">
                <a:solidFill>
                  <a:schemeClr val="bg2"/>
                </a:solidFill>
                <a:latin typeface="Noto Sans Semibold"/>
              </a:rPr>
              <a:t>den Kontextvektor des Tokens (genauer: Values, s. u.).</a:t>
            </a:r>
            <a:endParaRPr lang="de-DE" b="1" i="1" dirty="0">
              <a:solidFill>
                <a:schemeClr val="bg2"/>
              </a:solidFill>
              <a:latin typeface="Noto Sans Semibold"/>
            </a:endParaRPr>
          </a:p>
        </p:txBody>
      </p:sp>
      <p:sp>
        <p:nvSpPr>
          <p:cNvPr id="4" name="Geschweifte Klammer links 3">
            <a:extLst>
              <a:ext uri="{FF2B5EF4-FFF2-40B4-BE49-F238E27FC236}">
                <a16:creationId xmlns:a16="http://schemas.microsoft.com/office/drawing/2014/main" id="{F1432448-FD0E-092E-F60C-EDCF019BEB99}"/>
              </a:ext>
            </a:extLst>
          </p:cNvPr>
          <p:cNvSpPr/>
          <p:nvPr/>
        </p:nvSpPr>
        <p:spPr>
          <a:xfrm rot="16200000">
            <a:off x="8640742" y="1997304"/>
            <a:ext cx="580407" cy="3486978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Google Shape;177;p8">
            <a:extLst>
              <a:ext uri="{FF2B5EF4-FFF2-40B4-BE49-F238E27FC236}">
                <a16:creationId xmlns:a16="http://schemas.microsoft.com/office/drawing/2014/main" id="{CD713D39-063C-D9B2-E7A9-8B36DB2BD1FC}"/>
              </a:ext>
            </a:extLst>
          </p:cNvPr>
          <p:cNvSpPr txBox="1">
            <a:spLocks/>
          </p:cNvSpPr>
          <p:nvPr/>
        </p:nvSpPr>
        <p:spPr>
          <a:xfrm>
            <a:off x="3583640" y="4110715"/>
            <a:ext cx="7301753" cy="359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Ding </a:t>
            </a:r>
            <a:r>
              <a:rPr lang="de-DE" b="1" baseline="-25000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Kontext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=  </a:t>
            </a:r>
            <a:r>
              <a:rPr lang="de-DE" b="1" dirty="0">
                <a:solidFill>
                  <a:srgbClr val="C00000"/>
                </a:solidFill>
                <a:latin typeface="Noto Sans Semibold"/>
                <a:ea typeface="Arial"/>
                <a:cs typeface="Arial"/>
                <a:sym typeface="Arial"/>
              </a:rPr>
              <a:t>0.6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·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Gut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+   0.2·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Ding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+   0.1·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braucht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+   0.1·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Weile</a:t>
            </a:r>
            <a:endParaRPr lang="en-US" sz="1600" b="1" i="1" dirty="0">
              <a:latin typeface="Noto Sans Semibold"/>
            </a:endParaRP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B4B9DE55-A22E-72F5-4485-BFC56C18474D}"/>
              </a:ext>
            </a:extLst>
          </p:cNvPr>
          <p:cNvGrpSpPr/>
          <p:nvPr/>
        </p:nvGrpSpPr>
        <p:grpSpPr>
          <a:xfrm>
            <a:off x="1197941" y="2176214"/>
            <a:ext cx="2218399" cy="1118920"/>
            <a:chOff x="1672460" y="3339315"/>
            <a:chExt cx="2218399" cy="1118920"/>
          </a:xfrm>
        </p:grpSpPr>
        <p:sp>
          <p:nvSpPr>
            <p:cNvPr id="22" name="Google Shape;200;p10">
              <a:extLst>
                <a:ext uri="{FF2B5EF4-FFF2-40B4-BE49-F238E27FC236}">
                  <a16:creationId xmlns:a16="http://schemas.microsoft.com/office/drawing/2014/main" id="{8DC83841-14CA-2CED-772D-780CA78800EA}"/>
                </a:ext>
              </a:extLst>
            </p:cNvPr>
            <p:cNvSpPr/>
            <p:nvPr/>
          </p:nvSpPr>
          <p:spPr>
            <a:xfrm rot="10415463" flipV="1">
              <a:off x="1672460" y="3348318"/>
              <a:ext cx="640597" cy="835741"/>
            </a:xfrm>
            <a:prstGeom prst="arc">
              <a:avLst>
                <a:gd name="adj1" fmla="val 10799015"/>
                <a:gd name="adj2" fmla="val 20673351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lg" len="lg"/>
            </a:ln>
          </p:spPr>
          <p:txBody>
            <a:bodyPr spcFirstLastPara="1" wrap="square" lIns="86389" tIns="43183" rIns="86389" bIns="43183" anchor="ctr" anchorCtr="0">
              <a:noAutofit/>
            </a:bodyPr>
            <a:lstStyle/>
            <a:p>
              <a:pPr algn="ctr"/>
              <a:endParaRPr sz="1701" dirty="0">
                <a:solidFill>
                  <a:schemeClr val="dk1"/>
                </a:solidFill>
                <a:latin typeface="Noto Sans Semibold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" name="Google Shape;200;p10">
              <a:extLst>
                <a:ext uri="{FF2B5EF4-FFF2-40B4-BE49-F238E27FC236}">
                  <a16:creationId xmlns:a16="http://schemas.microsoft.com/office/drawing/2014/main" id="{4C7DC7FB-0B2B-E3D2-B493-0807111C1532}"/>
                </a:ext>
              </a:extLst>
            </p:cNvPr>
            <p:cNvSpPr/>
            <p:nvPr/>
          </p:nvSpPr>
          <p:spPr>
            <a:xfrm rot="10298217" flipV="1">
              <a:off x="3250262" y="3339315"/>
              <a:ext cx="640597" cy="835741"/>
            </a:xfrm>
            <a:prstGeom prst="arc">
              <a:avLst>
                <a:gd name="adj1" fmla="val 10799015"/>
                <a:gd name="adj2" fmla="val 20673351"/>
              </a:avLst>
            </a:prstGeom>
            <a:noFill/>
            <a:ln w="28575" cap="flat" cmpd="sng">
              <a:solidFill>
                <a:srgbClr val="003C72"/>
              </a:solidFill>
              <a:prstDash val="solid"/>
              <a:round/>
              <a:headEnd type="none" w="med" len="med"/>
              <a:tailEnd type="triangle" w="lg" len="lg"/>
            </a:ln>
          </p:spPr>
          <p:txBody>
            <a:bodyPr spcFirstLastPara="1" wrap="square" lIns="86389" tIns="43183" rIns="86389" bIns="43183" anchor="ctr" anchorCtr="0">
              <a:noAutofit/>
            </a:bodyPr>
            <a:lstStyle/>
            <a:p>
              <a:pPr algn="ctr"/>
              <a:endParaRPr sz="1701" dirty="0">
                <a:solidFill>
                  <a:schemeClr val="dk1"/>
                </a:solidFill>
                <a:latin typeface="Noto Sans Semibold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" name="Google Shape;200;p10">
              <a:extLst>
                <a:ext uri="{FF2B5EF4-FFF2-40B4-BE49-F238E27FC236}">
                  <a16:creationId xmlns:a16="http://schemas.microsoft.com/office/drawing/2014/main" id="{ACBEC084-10C3-4D2E-1639-407384807553}"/>
                </a:ext>
              </a:extLst>
            </p:cNvPr>
            <p:cNvSpPr/>
            <p:nvPr/>
          </p:nvSpPr>
          <p:spPr>
            <a:xfrm rot="10800000">
              <a:off x="2378392" y="3538207"/>
              <a:ext cx="869211" cy="920028"/>
            </a:xfrm>
            <a:prstGeom prst="arc">
              <a:avLst>
                <a:gd name="adj1" fmla="val 10799015"/>
                <a:gd name="adj2" fmla="val 21587456"/>
              </a:avLst>
            </a:prstGeom>
            <a:noFill/>
            <a:ln w="28575" cap="flat" cmpd="sng">
              <a:solidFill>
                <a:srgbClr val="3B9927"/>
              </a:solidFill>
              <a:prstDash val="solid"/>
              <a:round/>
              <a:headEnd type="none" w="med" len="med"/>
              <a:tailEnd type="triangle" w="lg" len="lg"/>
            </a:ln>
          </p:spPr>
          <p:txBody>
            <a:bodyPr spcFirstLastPara="1" wrap="square" lIns="86389" tIns="43183" rIns="86389" bIns="43183" anchor="ctr" anchorCtr="0">
              <a:noAutofit/>
            </a:bodyPr>
            <a:lstStyle/>
            <a:p>
              <a:pPr algn="ctr"/>
              <a:endParaRPr sz="1701" dirty="0">
                <a:solidFill>
                  <a:schemeClr val="dk1"/>
                </a:solidFill>
                <a:latin typeface="Noto Sans Semibold"/>
                <a:ea typeface="Corbel"/>
                <a:cs typeface="Corbel"/>
                <a:sym typeface="Corbel"/>
              </a:endParaRPr>
            </a:p>
          </p:txBody>
        </p:sp>
      </p:grp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59C16CD4-B69A-F6CD-563D-93192CAE23D5}"/>
              </a:ext>
            </a:extLst>
          </p:cNvPr>
          <p:cNvGraphicFramePr>
            <a:graphicFrameLocks noGrp="1"/>
          </p:cNvGraphicFramePr>
          <p:nvPr/>
        </p:nvGraphicFramePr>
        <p:xfrm>
          <a:off x="6302849" y="1585588"/>
          <a:ext cx="4371585" cy="1748634"/>
        </p:xfrm>
        <a:graphic>
          <a:graphicData uri="http://schemas.openxmlformats.org/drawingml/2006/table">
            <a:tbl>
              <a:tblPr/>
              <a:tblGrid>
                <a:gridCol w="874317">
                  <a:extLst>
                    <a:ext uri="{9D8B030D-6E8A-4147-A177-3AD203B41FA5}">
                      <a16:colId xmlns:a16="http://schemas.microsoft.com/office/drawing/2014/main" val="2119810140"/>
                    </a:ext>
                  </a:extLst>
                </a:gridCol>
                <a:gridCol w="874317">
                  <a:extLst>
                    <a:ext uri="{9D8B030D-6E8A-4147-A177-3AD203B41FA5}">
                      <a16:colId xmlns:a16="http://schemas.microsoft.com/office/drawing/2014/main" val="2186619292"/>
                    </a:ext>
                  </a:extLst>
                </a:gridCol>
                <a:gridCol w="874317">
                  <a:extLst>
                    <a:ext uri="{9D8B030D-6E8A-4147-A177-3AD203B41FA5}">
                      <a16:colId xmlns:a16="http://schemas.microsoft.com/office/drawing/2014/main" val="702902160"/>
                    </a:ext>
                  </a:extLst>
                </a:gridCol>
                <a:gridCol w="874317">
                  <a:extLst>
                    <a:ext uri="{9D8B030D-6E8A-4147-A177-3AD203B41FA5}">
                      <a16:colId xmlns:a16="http://schemas.microsoft.com/office/drawing/2014/main" val="2463979912"/>
                    </a:ext>
                  </a:extLst>
                </a:gridCol>
                <a:gridCol w="874317">
                  <a:extLst>
                    <a:ext uri="{9D8B030D-6E8A-4147-A177-3AD203B41FA5}">
                      <a16:colId xmlns:a16="http://schemas.microsoft.com/office/drawing/2014/main" val="2907725507"/>
                    </a:ext>
                  </a:extLst>
                </a:gridCol>
              </a:tblGrid>
              <a:tr h="874317">
                <a:tc>
                  <a:txBody>
                    <a:bodyPr/>
                    <a:lstStyle/>
                    <a:p>
                      <a:pPr algn="ctr" fontAlgn="b"/>
                      <a:endParaRPr lang="de-DE" sz="1900" b="1" dirty="0">
                        <a:effectLst/>
                        <a:latin typeface="Noto Sans Semibold"/>
                      </a:endParaRPr>
                    </a:p>
                  </a:txBody>
                  <a:tcPr marL="79312" marR="79312" marT="39657" marB="39657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500" b="1" i="1" dirty="0">
                          <a:effectLst/>
                          <a:latin typeface="Noto Sans Semibold"/>
                        </a:rPr>
                        <a:t>Gut</a:t>
                      </a:r>
                    </a:p>
                  </a:txBody>
                  <a:tcPr marL="79312" marR="79312" marT="39657" marB="39657"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500" b="1" i="1" dirty="0">
                          <a:effectLst/>
                          <a:latin typeface="Noto Sans Semibold"/>
                        </a:rPr>
                        <a:t>Ding</a:t>
                      </a:r>
                    </a:p>
                  </a:txBody>
                  <a:tcPr marL="79312" marR="79312" marT="39657" marB="39657"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500" b="1" i="1" dirty="0">
                          <a:effectLst/>
                          <a:latin typeface="Noto Sans Semibold"/>
                        </a:rPr>
                        <a:t>braucht</a:t>
                      </a:r>
                    </a:p>
                  </a:txBody>
                  <a:tcPr marL="79312" marR="79312" marT="39657" marB="39657"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500" b="1" i="1" dirty="0">
                          <a:effectLst/>
                          <a:latin typeface="Noto Sans Semibold"/>
                        </a:rPr>
                        <a:t>Weile</a:t>
                      </a:r>
                    </a:p>
                  </a:txBody>
                  <a:tcPr marL="79312" marR="79312" marT="39657" marB="39657"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304065"/>
                  </a:ext>
                </a:extLst>
              </a:tr>
              <a:tr h="874317">
                <a:tc>
                  <a:txBody>
                    <a:bodyPr/>
                    <a:lstStyle/>
                    <a:p>
                      <a:pPr algn="r" fontAlgn="base"/>
                      <a:r>
                        <a:rPr lang="de-DE" sz="1500" b="1" i="1" dirty="0">
                          <a:effectLst/>
                          <a:latin typeface="Noto Sans Semibold"/>
                        </a:rPr>
                        <a:t>Ding</a:t>
                      </a:r>
                    </a:p>
                  </a:txBody>
                  <a:tcPr marL="79312" marR="79312" marT="39657" marB="39657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b="1" dirty="0">
                          <a:solidFill>
                            <a:srgbClr val="C00000"/>
                          </a:solidFill>
                          <a:effectLst/>
                          <a:latin typeface="Noto Sans Semibold"/>
                        </a:rPr>
                        <a:t>0.6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0.1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900" dirty="0">
                          <a:effectLst/>
                          <a:latin typeface="Noto Sans Semibold"/>
                        </a:rPr>
                        <a:t>0.1</a:t>
                      </a:r>
                    </a:p>
                  </a:txBody>
                  <a:tcPr marL="79312" marR="79312" marT="39657" marB="39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2929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46C92618-0D4C-3CBF-AC4A-A82735674E97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10" name="Google Shape;177;p8">
            <a:extLst>
              <a:ext uri="{FF2B5EF4-FFF2-40B4-BE49-F238E27FC236}">
                <a16:creationId xmlns:a16="http://schemas.microsoft.com/office/drawing/2014/main" id="{E7721604-BECC-9138-AF8B-4E87F171BD5F}"/>
              </a:ext>
            </a:extLst>
          </p:cNvPr>
          <p:cNvSpPr txBox="1">
            <a:spLocks/>
          </p:cNvSpPr>
          <p:nvPr/>
        </p:nvSpPr>
        <p:spPr>
          <a:xfrm>
            <a:off x="806596" y="2497882"/>
            <a:ext cx="3452250" cy="359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2400" b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„Gut Ding braucht Weile“</a:t>
            </a:r>
            <a:endParaRPr lang="en-US" sz="2400" b="1" dirty="0">
              <a:latin typeface="Noto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31148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C4883D4E-2269-3481-8FD7-C25C4030B706}"/>
              </a:ext>
            </a:extLst>
          </p:cNvPr>
          <p:cNvSpPr txBox="1"/>
          <p:nvPr/>
        </p:nvSpPr>
        <p:spPr>
          <a:xfrm>
            <a:off x="533214" y="1062370"/>
            <a:ext cx="7635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>
                    <a:lumMod val="50000"/>
                  </a:schemeClr>
                </a:solidFill>
                <a:effectLst/>
                <a:latin typeface="Noto Sans Semibold"/>
              </a:rPr>
              <a:t>3. Attention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Alle Zeilen: Kontextvektoren aller Tokens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F0045A23-68D0-FE1A-43D5-C59E6B887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882" y="6524477"/>
            <a:ext cx="534844" cy="531845"/>
          </a:xfrm>
        </p:spPr>
        <p:txBody>
          <a:bodyPr/>
          <a:lstStyle/>
          <a:p>
            <a:pPr marL="108002" indent="0">
              <a:buNone/>
            </a:pPr>
            <a:r>
              <a:rPr lang="de-DE" dirty="0"/>
              <a:t> 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B1D53AC-14F0-CAE3-946A-B2D39872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70" y="6476408"/>
            <a:ext cx="768818" cy="579914"/>
          </a:xfrm>
        </p:spPr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pic>
        <p:nvPicPr>
          <p:cNvPr id="2" name="Google Shape;138;p5" descr="Diagram of a Transformer">
            <a:extLst>
              <a:ext uri="{FF2B5EF4-FFF2-40B4-BE49-F238E27FC236}">
                <a16:creationId xmlns:a16="http://schemas.microsoft.com/office/drawing/2014/main" id="{E220C850-B10F-DAEF-E615-5A27BF64A48B}"/>
              </a:ext>
            </a:extLst>
          </p:cNvPr>
          <p:cNvPicPr preferRelativeResize="0"/>
          <p:nvPr/>
        </p:nvPicPr>
        <p:blipFill rotWithShape="1">
          <a:blip r:embed="rId3">
            <a:clrChange>
              <a:clrFrom>
                <a:srgbClr val="E2E2E4"/>
              </a:clrFrom>
              <a:clrTo>
                <a:srgbClr val="E2E2E4">
                  <a:alpha val="0"/>
                </a:srgbClr>
              </a:clrTo>
            </a:clrChange>
            <a:alphaModFix amt="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25645" t="55751" r="52549" b="34894"/>
          <a:stretch/>
        </p:blipFill>
        <p:spPr>
          <a:xfrm>
            <a:off x="9711548" y="5964286"/>
            <a:ext cx="1556870" cy="923485"/>
          </a:xfrm>
          <a:prstGeom prst="rect">
            <a:avLst/>
          </a:prstGeom>
          <a:noFill/>
          <a:ln w="76200" cap="sq" cmpd="sng">
            <a:noFill/>
            <a:prstDash val="solid"/>
            <a:miter lim="800000"/>
            <a:headEnd type="none" w="sm" len="sm"/>
            <a:tailEnd type="none" w="sm" len="sm"/>
          </a:ln>
          <a:effectLst>
            <a:glow rad="63500">
              <a:schemeClr val="bg1">
                <a:alpha val="79000"/>
              </a:schemeClr>
            </a:glow>
            <a:softEdge rad="0"/>
          </a:effectLst>
        </p:spPr>
      </p:pic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3BC8B2BC-3920-5C3B-25C1-9876DDD3D144}"/>
              </a:ext>
            </a:extLst>
          </p:cNvPr>
          <p:cNvGraphicFramePr>
            <a:graphicFrameLocks noGrp="1"/>
          </p:cNvGraphicFramePr>
          <p:nvPr/>
        </p:nvGraphicFramePr>
        <p:xfrm>
          <a:off x="8222876" y="3943794"/>
          <a:ext cx="2841555" cy="2846605"/>
        </p:xfrm>
        <a:graphic>
          <a:graphicData uri="http://schemas.openxmlformats.org/drawingml/2006/table">
            <a:tbl>
              <a:tblPr/>
              <a:tblGrid>
                <a:gridCol w="568311">
                  <a:extLst>
                    <a:ext uri="{9D8B030D-6E8A-4147-A177-3AD203B41FA5}">
                      <a16:colId xmlns:a16="http://schemas.microsoft.com/office/drawing/2014/main" val="2119810140"/>
                    </a:ext>
                  </a:extLst>
                </a:gridCol>
                <a:gridCol w="568311">
                  <a:extLst>
                    <a:ext uri="{9D8B030D-6E8A-4147-A177-3AD203B41FA5}">
                      <a16:colId xmlns:a16="http://schemas.microsoft.com/office/drawing/2014/main" val="2186619292"/>
                    </a:ext>
                  </a:extLst>
                </a:gridCol>
                <a:gridCol w="568311">
                  <a:extLst>
                    <a:ext uri="{9D8B030D-6E8A-4147-A177-3AD203B41FA5}">
                      <a16:colId xmlns:a16="http://schemas.microsoft.com/office/drawing/2014/main" val="702902160"/>
                    </a:ext>
                  </a:extLst>
                </a:gridCol>
                <a:gridCol w="568311">
                  <a:extLst>
                    <a:ext uri="{9D8B030D-6E8A-4147-A177-3AD203B41FA5}">
                      <a16:colId xmlns:a16="http://schemas.microsoft.com/office/drawing/2014/main" val="2463979912"/>
                    </a:ext>
                  </a:extLst>
                </a:gridCol>
                <a:gridCol w="568311">
                  <a:extLst>
                    <a:ext uri="{9D8B030D-6E8A-4147-A177-3AD203B41FA5}">
                      <a16:colId xmlns:a16="http://schemas.microsoft.com/office/drawing/2014/main" val="2907725507"/>
                    </a:ext>
                  </a:extLst>
                </a:gridCol>
              </a:tblGrid>
              <a:tr h="569321">
                <a:tc>
                  <a:txBody>
                    <a:bodyPr/>
                    <a:lstStyle/>
                    <a:p>
                      <a:pPr algn="ctr" fontAlgn="b"/>
                      <a:endParaRPr lang="de-DE" sz="1000" b="1" dirty="0">
                        <a:effectLst/>
                        <a:latin typeface="Noto Sans Semibold"/>
                      </a:endParaRPr>
                    </a:p>
                  </a:txBody>
                  <a:tcPr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000" b="1" i="1" dirty="0">
                          <a:effectLst/>
                          <a:latin typeface="Noto Sans Semibold"/>
                        </a:rPr>
                        <a:t>Gut</a:t>
                      </a:r>
                    </a:p>
                  </a:txBody>
                  <a:tcPr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000" b="1" i="1" dirty="0">
                          <a:effectLst/>
                          <a:latin typeface="Noto Sans Semibold"/>
                        </a:rPr>
                        <a:t>Ding</a:t>
                      </a:r>
                    </a:p>
                  </a:txBody>
                  <a:tcPr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1" i="1" dirty="0">
                          <a:effectLst/>
                          <a:latin typeface="Noto Sans Semibold"/>
                        </a:rPr>
                        <a:t>braucht</a:t>
                      </a:r>
                    </a:p>
                  </a:txBody>
                  <a:tcPr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000" b="1" i="1" dirty="0">
                          <a:effectLst/>
                          <a:latin typeface="Noto Sans Semibold"/>
                        </a:rPr>
                        <a:t>Weile</a:t>
                      </a:r>
                    </a:p>
                  </a:txBody>
                  <a:tcPr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304065"/>
                  </a:ext>
                </a:extLst>
              </a:tr>
              <a:tr h="569321">
                <a:tc>
                  <a:txBody>
                    <a:bodyPr/>
                    <a:lstStyle/>
                    <a:p>
                      <a:pPr algn="r" fontAlgn="base"/>
                      <a:r>
                        <a:rPr lang="de-DE" sz="1000" b="1" i="1" dirty="0">
                          <a:effectLst/>
                          <a:latin typeface="Noto Sans Semibold"/>
                        </a:rPr>
                        <a:t>Gut</a:t>
                      </a:r>
                    </a:p>
                  </a:txBody>
                  <a:tcPr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2929"/>
                  </a:ext>
                </a:extLst>
              </a:tr>
              <a:tr h="569321">
                <a:tc>
                  <a:txBody>
                    <a:bodyPr/>
                    <a:lstStyle/>
                    <a:p>
                      <a:pPr algn="r" fontAlgn="base"/>
                      <a:r>
                        <a:rPr lang="de-DE" sz="1000" b="1" i="1" dirty="0">
                          <a:effectLst/>
                          <a:latin typeface="Noto Sans Semibold"/>
                        </a:rPr>
                        <a:t>Ding</a:t>
                      </a:r>
                    </a:p>
                  </a:txBody>
                  <a:tcPr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b="1" dirty="0">
                          <a:solidFill>
                            <a:srgbClr val="C00000"/>
                          </a:solidFill>
                          <a:effectLst/>
                          <a:latin typeface="Noto Sans Semibold"/>
                        </a:rPr>
                        <a:t>0.6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600" dirty="0">
                          <a:effectLst/>
                          <a:latin typeface="Noto Sans Semibold"/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307876"/>
                  </a:ext>
                </a:extLst>
              </a:tr>
              <a:tr h="569321">
                <a:tc>
                  <a:txBody>
                    <a:bodyPr/>
                    <a:lstStyle/>
                    <a:p>
                      <a:pPr algn="r" fontAlgn="base"/>
                      <a:r>
                        <a:rPr lang="de-DE" sz="800" b="1" i="1" dirty="0">
                          <a:effectLst/>
                          <a:latin typeface="Noto Sans Semibold"/>
                        </a:rPr>
                        <a:t>braucht</a:t>
                      </a:r>
                    </a:p>
                  </a:txBody>
                  <a:tcPr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b="1" dirty="0">
                          <a:solidFill>
                            <a:srgbClr val="3B9927"/>
                          </a:solidFill>
                          <a:effectLst/>
                          <a:latin typeface="Noto Sans Semibold"/>
                        </a:rPr>
                        <a:t>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789798"/>
                  </a:ext>
                </a:extLst>
              </a:tr>
              <a:tr h="569321">
                <a:tc>
                  <a:txBody>
                    <a:bodyPr/>
                    <a:lstStyle/>
                    <a:p>
                      <a:pPr algn="r" fontAlgn="base"/>
                      <a:r>
                        <a:rPr lang="de-DE" sz="1000" b="1" i="1" dirty="0">
                          <a:effectLst/>
                          <a:latin typeface="Noto Sans Semibold"/>
                        </a:rPr>
                        <a:t>Weile</a:t>
                      </a:r>
                    </a:p>
                  </a:txBody>
                  <a:tcPr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b="1" dirty="0">
                          <a:solidFill>
                            <a:srgbClr val="003C72"/>
                          </a:solidFill>
                          <a:effectLst/>
                          <a:latin typeface="Noto Sans Semibold"/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574757"/>
                  </a:ext>
                </a:extLst>
              </a:tr>
            </a:tbl>
          </a:graphicData>
        </a:graphic>
      </p:graphicFrame>
      <p:sp>
        <p:nvSpPr>
          <p:cNvPr id="4" name="Google Shape;177;p8">
            <a:extLst>
              <a:ext uri="{FF2B5EF4-FFF2-40B4-BE49-F238E27FC236}">
                <a16:creationId xmlns:a16="http://schemas.microsoft.com/office/drawing/2014/main" id="{141D0433-BBFE-B4DD-D1CE-80D15AA398E9}"/>
              </a:ext>
            </a:extLst>
          </p:cNvPr>
          <p:cNvSpPr txBox="1">
            <a:spLocks/>
          </p:cNvSpPr>
          <p:nvPr/>
        </p:nvSpPr>
        <p:spPr>
          <a:xfrm>
            <a:off x="1196787" y="2172445"/>
            <a:ext cx="7301753" cy="359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Gut </a:t>
            </a:r>
            <a:r>
              <a:rPr lang="de-DE" b="1" baseline="-25000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Kontext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=  0.4·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Gut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+   0.3·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Ding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+   0.2·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braucht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+   0.1·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Weile</a:t>
            </a:r>
            <a:endParaRPr lang="en-US" sz="1600" b="1" i="1" dirty="0">
              <a:latin typeface="Noto Sans Semibold"/>
            </a:endParaRPr>
          </a:p>
        </p:txBody>
      </p:sp>
      <p:sp>
        <p:nvSpPr>
          <p:cNvPr id="5" name="Google Shape;177;p8">
            <a:extLst>
              <a:ext uri="{FF2B5EF4-FFF2-40B4-BE49-F238E27FC236}">
                <a16:creationId xmlns:a16="http://schemas.microsoft.com/office/drawing/2014/main" id="{DBD6B41B-3F0B-E85A-0ECC-26F60FB8651D}"/>
              </a:ext>
            </a:extLst>
          </p:cNvPr>
          <p:cNvSpPr txBox="1">
            <a:spLocks/>
          </p:cNvSpPr>
          <p:nvPr/>
        </p:nvSpPr>
        <p:spPr>
          <a:xfrm>
            <a:off x="1094846" y="2804208"/>
            <a:ext cx="7301753" cy="359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chemeClr val="tx1"/>
                </a:solidFill>
                <a:latin typeface="Noto Sans Semibold"/>
                <a:ea typeface="Arial"/>
                <a:cs typeface="Arial"/>
                <a:sym typeface="Arial"/>
              </a:rPr>
              <a:t>Ding </a:t>
            </a:r>
            <a:r>
              <a:rPr lang="de-DE" b="1" baseline="-25000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Kontext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=  </a:t>
            </a:r>
            <a:r>
              <a:rPr lang="de-DE" b="1" dirty="0">
                <a:solidFill>
                  <a:srgbClr val="C00000"/>
                </a:solidFill>
                <a:latin typeface="Noto Sans Semibold"/>
                <a:ea typeface="Arial"/>
                <a:cs typeface="Arial"/>
                <a:sym typeface="Arial"/>
              </a:rPr>
              <a:t>0.6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·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Gut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+   0.2·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Ding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+   0.1·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braucht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+   0.1·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Weile</a:t>
            </a:r>
            <a:endParaRPr lang="en-US" sz="1600" b="1" i="1" dirty="0">
              <a:latin typeface="Noto Sans Semibold"/>
            </a:endParaRPr>
          </a:p>
        </p:txBody>
      </p:sp>
      <p:sp>
        <p:nvSpPr>
          <p:cNvPr id="6" name="Google Shape;177;p8">
            <a:extLst>
              <a:ext uri="{FF2B5EF4-FFF2-40B4-BE49-F238E27FC236}">
                <a16:creationId xmlns:a16="http://schemas.microsoft.com/office/drawing/2014/main" id="{9F49F617-C20A-8E23-83AF-35E9D111202F}"/>
              </a:ext>
            </a:extLst>
          </p:cNvPr>
          <p:cNvSpPr txBox="1">
            <a:spLocks/>
          </p:cNvSpPr>
          <p:nvPr/>
        </p:nvSpPr>
        <p:spPr>
          <a:xfrm>
            <a:off x="810132" y="3435971"/>
            <a:ext cx="7984246" cy="359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chemeClr val="tx1"/>
                </a:solidFill>
                <a:latin typeface="Noto Sans Semibold"/>
                <a:ea typeface="Arial"/>
                <a:cs typeface="Arial"/>
                <a:sym typeface="Arial"/>
              </a:rPr>
              <a:t>braucht </a:t>
            </a:r>
            <a:r>
              <a:rPr lang="de-DE" b="1" baseline="-25000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Kontext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=  0.2·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Gut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+   </a:t>
            </a:r>
            <a:r>
              <a:rPr lang="de-DE" b="1" dirty="0">
                <a:solidFill>
                  <a:srgbClr val="3B9927"/>
                </a:solidFill>
                <a:latin typeface="Noto Sans Semibold"/>
                <a:ea typeface="Arial"/>
                <a:cs typeface="Arial"/>
                <a:sym typeface="Arial"/>
              </a:rPr>
              <a:t>0.4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·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Ding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+   0.2·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braucht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+   0.2·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Weile</a:t>
            </a:r>
            <a:endParaRPr lang="en-US" sz="1600" b="1" i="1" dirty="0">
              <a:latin typeface="Noto Sans Semibold"/>
            </a:endParaRPr>
          </a:p>
        </p:txBody>
      </p:sp>
      <p:sp>
        <p:nvSpPr>
          <p:cNvPr id="8" name="Google Shape;177;p8">
            <a:extLst>
              <a:ext uri="{FF2B5EF4-FFF2-40B4-BE49-F238E27FC236}">
                <a16:creationId xmlns:a16="http://schemas.microsoft.com/office/drawing/2014/main" id="{E8568999-F112-8FED-CBD4-02B2000D42FC}"/>
              </a:ext>
            </a:extLst>
          </p:cNvPr>
          <p:cNvSpPr txBox="1">
            <a:spLocks/>
          </p:cNvSpPr>
          <p:nvPr/>
        </p:nvSpPr>
        <p:spPr>
          <a:xfrm>
            <a:off x="1020888" y="4067735"/>
            <a:ext cx="8179228" cy="359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chemeClr val="tx1"/>
                </a:solidFill>
                <a:latin typeface="Noto Sans Semibold"/>
                <a:ea typeface="Arial"/>
                <a:cs typeface="Arial"/>
                <a:sym typeface="Arial"/>
              </a:rPr>
              <a:t>Weile </a:t>
            </a:r>
            <a:r>
              <a:rPr lang="de-DE" b="1" baseline="-25000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Kontext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=  0.1·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Gut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+   0.2·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Ding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+   </a:t>
            </a:r>
            <a:r>
              <a:rPr lang="de-DE" b="1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0.5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·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braucht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+   0.2·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Weile</a:t>
            </a:r>
            <a:endParaRPr lang="en-US" sz="1600" b="1" i="1" dirty="0">
              <a:latin typeface="Noto Sans Semibold"/>
            </a:endParaRPr>
          </a:p>
        </p:txBody>
      </p:sp>
      <p:sp>
        <p:nvSpPr>
          <p:cNvPr id="9" name="Google Shape;177;p8">
            <a:extLst>
              <a:ext uri="{FF2B5EF4-FFF2-40B4-BE49-F238E27FC236}">
                <a16:creationId xmlns:a16="http://schemas.microsoft.com/office/drawing/2014/main" id="{45E07785-A324-632A-3BF4-3BBAB9E14542}"/>
              </a:ext>
            </a:extLst>
          </p:cNvPr>
          <p:cNvSpPr txBox="1">
            <a:spLocks/>
          </p:cNvSpPr>
          <p:nvPr/>
        </p:nvSpPr>
        <p:spPr>
          <a:xfrm>
            <a:off x="722726" y="4870207"/>
            <a:ext cx="7096739" cy="1483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SzPts val="2000"/>
              <a:buFont typeface="Noto Sans Symbols"/>
              <a:buNone/>
            </a:pPr>
            <a:endParaRPr lang="de-DE" sz="1000" b="1" i="0" dirty="0">
              <a:solidFill>
                <a:srgbClr val="003C72"/>
              </a:solidFill>
              <a:effectLst/>
              <a:latin typeface="Noto Sans Semibold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 r:embed="rId5"/>
              </a:buBlip>
            </a:pPr>
            <a:r>
              <a:rPr lang="de-DE" b="1" dirty="0">
                <a:solidFill>
                  <a:schemeClr val="bg2"/>
                </a:solidFill>
                <a:latin typeface="Noto Sans Semibold"/>
              </a:rPr>
              <a:t>Alle Zeilen zusammen ergeben</a:t>
            </a: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 r:embed="rId5"/>
              </a:buBlip>
            </a:pPr>
            <a:r>
              <a:rPr lang="de-DE" b="1" dirty="0">
                <a:solidFill>
                  <a:schemeClr val="bg2"/>
                </a:solidFill>
                <a:latin typeface="Noto Sans Semibold"/>
              </a:rPr>
              <a:t>die Kontextvektoren</a:t>
            </a: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 r:embed="rId5"/>
              </a:buBlip>
            </a:pPr>
            <a:r>
              <a:rPr lang="de-DE" b="1" dirty="0">
                <a:solidFill>
                  <a:schemeClr val="bg2"/>
                </a:solidFill>
                <a:latin typeface="Noto Sans Semibold"/>
              </a:rPr>
              <a:t>aller Tokens des Satzes.</a:t>
            </a:r>
            <a:endParaRPr lang="de-DE" b="1" i="1" dirty="0">
              <a:solidFill>
                <a:schemeClr val="bg2"/>
              </a:solidFill>
              <a:latin typeface="Noto Sans Semibold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274BF5C-94A2-777F-ACFA-9C71CDD1B208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</p:spTree>
    <p:extLst>
      <p:ext uri="{BB962C8B-B14F-4D97-AF65-F5344CB8AC3E}">
        <p14:creationId xmlns:p14="http://schemas.microsoft.com/office/powerpoint/2010/main" val="409145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C4883D4E-2269-3481-8FD7-C25C4030B706}"/>
              </a:ext>
            </a:extLst>
          </p:cNvPr>
          <p:cNvSpPr txBox="1"/>
          <p:nvPr/>
        </p:nvSpPr>
        <p:spPr>
          <a:xfrm>
            <a:off x="533213" y="1062370"/>
            <a:ext cx="8815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>
                    <a:lumMod val="50000"/>
                  </a:schemeClr>
                </a:solidFill>
                <a:effectLst/>
                <a:latin typeface="Noto Sans Semibold"/>
              </a:rPr>
              <a:t>3. Attention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Schritt 1: Eingabevektoren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F0045A23-68D0-FE1A-43D5-C59E6B887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882" y="6524477"/>
            <a:ext cx="534844" cy="531845"/>
          </a:xfrm>
        </p:spPr>
        <p:txBody>
          <a:bodyPr/>
          <a:lstStyle/>
          <a:p>
            <a:pPr marL="108002" indent="0">
              <a:buNone/>
            </a:pPr>
            <a:r>
              <a:rPr lang="de-DE" dirty="0"/>
              <a:t> 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B1D53AC-14F0-CAE3-946A-B2D39872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70" y="6476408"/>
            <a:ext cx="768818" cy="579914"/>
          </a:xfrm>
        </p:spPr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5" name="Google Shape;177;p8">
            <a:extLst>
              <a:ext uri="{FF2B5EF4-FFF2-40B4-BE49-F238E27FC236}">
                <a16:creationId xmlns:a16="http://schemas.microsoft.com/office/drawing/2014/main" id="{DBD6B41B-3F0B-E85A-0ECC-26F60FB8651D}"/>
              </a:ext>
            </a:extLst>
          </p:cNvPr>
          <p:cNvSpPr txBox="1">
            <a:spLocks/>
          </p:cNvSpPr>
          <p:nvPr/>
        </p:nvSpPr>
        <p:spPr>
          <a:xfrm>
            <a:off x="1344782" y="2488898"/>
            <a:ext cx="9170818" cy="359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Gut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          	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Ding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             	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braucht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         	 </a:t>
            </a: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Weile</a:t>
            </a:r>
            <a:endParaRPr lang="en-US" sz="1600" b="1" i="1" dirty="0">
              <a:latin typeface="Noto Sans Semibold"/>
            </a:endParaRPr>
          </a:p>
        </p:txBody>
      </p:sp>
      <p:sp>
        <p:nvSpPr>
          <p:cNvPr id="9" name="Google Shape;177;p8">
            <a:extLst>
              <a:ext uri="{FF2B5EF4-FFF2-40B4-BE49-F238E27FC236}">
                <a16:creationId xmlns:a16="http://schemas.microsoft.com/office/drawing/2014/main" id="{45E07785-A324-632A-3BF4-3BBAB9E14542}"/>
              </a:ext>
            </a:extLst>
          </p:cNvPr>
          <p:cNvSpPr txBox="1">
            <a:spLocks/>
          </p:cNvSpPr>
          <p:nvPr/>
        </p:nvSpPr>
        <p:spPr>
          <a:xfrm>
            <a:off x="722726" y="4867846"/>
            <a:ext cx="10312192" cy="1449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SzPts val="2000"/>
              <a:buFont typeface="Noto Sans Symbols"/>
              <a:buNone/>
            </a:pPr>
            <a:endParaRPr lang="de-DE" sz="1000" b="1" i="0" dirty="0">
              <a:solidFill>
                <a:srgbClr val="003C72"/>
              </a:solidFill>
              <a:effectLst/>
              <a:latin typeface="Noto Sans Semibold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b="1" dirty="0">
                <a:solidFill>
                  <a:schemeClr val="bg2"/>
                </a:solidFill>
                <a:latin typeface="Noto Sans Semibold"/>
              </a:rPr>
              <a:t>Alle Tokens werden in ihre Embedding-Vektoren umgewandelt,</a:t>
            </a: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b="1" dirty="0">
                <a:solidFill>
                  <a:schemeClr val="bg2"/>
                </a:solidFill>
                <a:latin typeface="Noto Sans Semibold"/>
              </a:rPr>
              <a:t>ihr Positionsvektor wird addiert.</a:t>
            </a: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b="1" dirty="0">
                <a:solidFill>
                  <a:schemeClr val="bg2"/>
                </a:solidFill>
                <a:latin typeface="Noto Sans Semibold"/>
              </a:rPr>
              <a:t>Die Summe ist die Eingabe des ersten Blocks (dort zuerst LayerNorm, dann Attention).</a:t>
            </a: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E4606B87-03AD-D634-A217-15BD8BB66250}"/>
              </a:ext>
            </a:extLst>
          </p:cNvPr>
          <p:cNvGrpSpPr/>
          <p:nvPr/>
        </p:nvGrpSpPr>
        <p:grpSpPr>
          <a:xfrm>
            <a:off x="571949" y="2877157"/>
            <a:ext cx="2143124" cy="492604"/>
            <a:chOff x="571949" y="2207007"/>
            <a:chExt cx="2143124" cy="492604"/>
          </a:xfrm>
        </p:grpSpPr>
        <p:pic>
          <p:nvPicPr>
            <p:cNvPr id="16" name="Grafik 15" descr="Ein Bild, das Text, Screenshot, Schrift, weiß enthält.&#10;&#10;Automatisch generierte Beschreibung">
              <a:extLst>
                <a:ext uri="{FF2B5EF4-FFF2-40B4-BE49-F238E27FC236}">
                  <a16:creationId xmlns:a16="http://schemas.microsoft.com/office/drawing/2014/main" id="{C58C5054-37FE-28DB-E5DE-AE6DB6BF2A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184" t="11245" r="3692" b="77244"/>
            <a:stretch/>
          </p:blipFill>
          <p:spPr>
            <a:xfrm>
              <a:off x="571949" y="2453045"/>
              <a:ext cx="2143124" cy="246566"/>
            </a:xfrm>
            <a:prstGeom prst="rect">
              <a:avLst/>
            </a:prstGeom>
          </p:spPr>
        </p:pic>
        <p:pic>
          <p:nvPicPr>
            <p:cNvPr id="19" name="Grafik 18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A5781DCB-0F86-F0EE-0D0C-BEC3614CA1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17727" t="1512" r="30275" b="87213"/>
            <a:stretch/>
          </p:blipFill>
          <p:spPr>
            <a:xfrm>
              <a:off x="571949" y="2207007"/>
              <a:ext cx="2143124" cy="246566"/>
            </a:xfrm>
            <a:prstGeom prst="rect">
              <a:avLst/>
            </a:prstGeom>
          </p:spPr>
        </p:pic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9A0A6D0E-DFBF-02B7-1D45-A9DF5F2F6DBB}"/>
              </a:ext>
            </a:extLst>
          </p:cNvPr>
          <p:cNvGrpSpPr/>
          <p:nvPr/>
        </p:nvGrpSpPr>
        <p:grpSpPr>
          <a:xfrm>
            <a:off x="3345231" y="2877157"/>
            <a:ext cx="2143124" cy="492604"/>
            <a:chOff x="3345231" y="2207007"/>
            <a:chExt cx="2143124" cy="492604"/>
          </a:xfrm>
        </p:grpSpPr>
        <p:pic>
          <p:nvPicPr>
            <p:cNvPr id="21" name="Grafik 20" descr="Ein Bild, das Text, Screenshot, Schrift, weiß enthält.&#10;&#10;Automatisch generierte Beschreibung">
              <a:extLst>
                <a:ext uri="{FF2B5EF4-FFF2-40B4-BE49-F238E27FC236}">
                  <a16:creationId xmlns:a16="http://schemas.microsoft.com/office/drawing/2014/main" id="{80E2C89E-FA35-E865-5D61-82BAA4A5C6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184" t="37390" r="3692" b="51099"/>
            <a:stretch/>
          </p:blipFill>
          <p:spPr>
            <a:xfrm>
              <a:off x="3345231" y="2453045"/>
              <a:ext cx="2143124" cy="246566"/>
            </a:xfrm>
            <a:prstGeom prst="rect">
              <a:avLst/>
            </a:prstGeom>
          </p:spPr>
        </p:pic>
        <p:pic>
          <p:nvPicPr>
            <p:cNvPr id="22" name="Grafik 21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F3B8C10C-61B9-802F-8F15-1BA7AAF36C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17727" t="25372" r="30275" b="63353"/>
            <a:stretch/>
          </p:blipFill>
          <p:spPr>
            <a:xfrm>
              <a:off x="3345231" y="2207007"/>
              <a:ext cx="2143124" cy="246566"/>
            </a:xfrm>
            <a:prstGeom prst="rect">
              <a:avLst/>
            </a:prstGeom>
          </p:spPr>
        </p:pic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F4B7DF87-F055-B35D-D944-9DAEFF87C25D}"/>
              </a:ext>
            </a:extLst>
          </p:cNvPr>
          <p:cNvGrpSpPr/>
          <p:nvPr/>
        </p:nvGrpSpPr>
        <p:grpSpPr>
          <a:xfrm>
            <a:off x="6118513" y="2877157"/>
            <a:ext cx="2143124" cy="492604"/>
            <a:chOff x="6118513" y="2207007"/>
            <a:chExt cx="2143124" cy="492604"/>
          </a:xfrm>
        </p:grpSpPr>
        <p:pic>
          <p:nvPicPr>
            <p:cNvPr id="23" name="Grafik 22" descr="Ein Bild, das Text, Screenshot, Schrift, weiß enthält.&#10;&#10;Automatisch generierte Beschreibung">
              <a:extLst>
                <a:ext uri="{FF2B5EF4-FFF2-40B4-BE49-F238E27FC236}">
                  <a16:creationId xmlns:a16="http://schemas.microsoft.com/office/drawing/2014/main" id="{8D2B33D6-08A8-1A17-A65A-B0A5943FF7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184" t="62019" r="3692" b="26470"/>
            <a:stretch/>
          </p:blipFill>
          <p:spPr>
            <a:xfrm>
              <a:off x="6118513" y="2453045"/>
              <a:ext cx="2143124" cy="246566"/>
            </a:xfrm>
            <a:prstGeom prst="rect">
              <a:avLst/>
            </a:prstGeom>
          </p:spPr>
        </p:pic>
        <p:pic>
          <p:nvPicPr>
            <p:cNvPr id="24" name="Grafik 23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9F83BECF-0F9C-B1CE-DB2F-FDE0C0C099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17727" t="37449" r="30275" b="51276"/>
            <a:stretch/>
          </p:blipFill>
          <p:spPr>
            <a:xfrm>
              <a:off x="6118513" y="2207007"/>
              <a:ext cx="2143124" cy="246566"/>
            </a:xfrm>
            <a:prstGeom prst="rect">
              <a:avLst/>
            </a:prstGeom>
          </p:spPr>
        </p:pic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0BDA022B-0D7A-C4AF-4331-77CF726219A4}"/>
              </a:ext>
            </a:extLst>
          </p:cNvPr>
          <p:cNvGrpSpPr/>
          <p:nvPr/>
        </p:nvGrpSpPr>
        <p:grpSpPr>
          <a:xfrm>
            <a:off x="8891794" y="2877157"/>
            <a:ext cx="2143124" cy="492604"/>
            <a:chOff x="8891794" y="2207007"/>
            <a:chExt cx="2143124" cy="492604"/>
          </a:xfrm>
        </p:grpSpPr>
        <p:pic>
          <p:nvPicPr>
            <p:cNvPr id="25" name="Grafik 24" descr="Ein Bild, das Text, Screenshot, Schrift, weiß enthält.&#10;&#10;Automatisch generierte Beschreibung">
              <a:extLst>
                <a:ext uri="{FF2B5EF4-FFF2-40B4-BE49-F238E27FC236}">
                  <a16:creationId xmlns:a16="http://schemas.microsoft.com/office/drawing/2014/main" id="{371B5E0A-7274-9CF8-D3D5-A9ECCAB789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184" t="85649" r="3692" b="2840"/>
            <a:stretch/>
          </p:blipFill>
          <p:spPr>
            <a:xfrm>
              <a:off x="8891794" y="2453045"/>
              <a:ext cx="2143124" cy="246566"/>
            </a:xfrm>
            <a:prstGeom prst="rect">
              <a:avLst/>
            </a:prstGeom>
          </p:spPr>
        </p:pic>
        <p:pic>
          <p:nvPicPr>
            <p:cNvPr id="26" name="Grafik 25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F3C2DD47-9C7E-89E1-A17C-D873ECF14F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17727" t="62484" r="30275" b="26241"/>
            <a:stretch/>
          </p:blipFill>
          <p:spPr>
            <a:xfrm>
              <a:off x="8891794" y="2207007"/>
              <a:ext cx="2143124" cy="246566"/>
            </a:xfrm>
            <a:prstGeom prst="rect">
              <a:avLst/>
            </a:prstGeom>
          </p:spPr>
        </p:pic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27275D00-4CC9-DA67-15BF-A4D59B465F7F}"/>
              </a:ext>
            </a:extLst>
          </p:cNvPr>
          <p:cNvGrpSpPr/>
          <p:nvPr/>
        </p:nvGrpSpPr>
        <p:grpSpPr>
          <a:xfrm>
            <a:off x="571949" y="4325817"/>
            <a:ext cx="2143124" cy="247094"/>
            <a:chOff x="571949" y="2206479"/>
            <a:chExt cx="2143124" cy="247094"/>
          </a:xfrm>
        </p:grpSpPr>
        <p:pic>
          <p:nvPicPr>
            <p:cNvPr id="34" name="Grafik 33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6D949E37-D179-D8FF-32D9-EC8B5FF657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17727" t="1512" r="30275" b="87213"/>
            <a:stretch/>
          </p:blipFill>
          <p:spPr>
            <a:xfrm>
              <a:off x="571949" y="2207007"/>
              <a:ext cx="2143124" cy="246566"/>
            </a:xfrm>
            <a:prstGeom prst="rect">
              <a:avLst/>
            </a:prstGeom>
          </p:spPr>
        </p:pic>
        <p:pic>
          <p:nvPicPr>
            <p:cNvPr id="33" name="Grafik 32" descr="Ein Bild, das Text, Screenshot, Schrift, weiß enthält.&#10;&#10;Automatisch generierte Beschreibung">
              <a:extLst>
                <a:ext uri="{FF2B5EF4-FFF2-40B4-BE49-F238E27FC236}">
                  <a16:creationId xmlns:a16="http://schemas.microsoft.com/office/drawing/2014/main" id="{CDBE9496-00B1-ACE7-BBA2-BCF5B0916A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alphaModFix amt="20000"/>
            </a:blip>
            <a:srcRect l="1184" t="11245" r="3692" b="77244"/>
            <a:stretch/>
          </p:blipFill>
          <p:spPr>
            <a:xfrm>
              <a:off x="571949" y="2206479"/>
              <a:ext cx="2143124" cy="246566"/>
            </a:xfrm>
            <a:prstGeom prst="rect">
              <a:avLst/>
            </a:prstGeom>
          </p:spPr>
        </p:pic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CB96F21D-5152-76CF-DF69-EF87385FFFD7}"/>
              </a:ext>
            </a:extLst>
          </p:cNvPr>
          <p:cNvGrpSpPr/>
          <p:nvPr/>
        </p:nvGrpSpPr>
        <p:grpSpPr>
          <a:xfrm>
            <a:off x="3345231" y="4320662"/>
            <a:ext cx="2143124" cy="246566"/>
            <a:chOff x="3345231" y="2207007"/>
            <a:chExt cx="2143124" cy="246566"/>
          </a:xfrm>
        </p:grpSpPr>
        <p:pic>
          <p:nvPicPr>
            <p:cNvPr id="37" name="Grafik 36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D0BBF1DA-8889-A03E-A0DB-84C8428C05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17727" t="25372" r="30275" b="63353"/>
            <a:stretch/>
          </p:blipFill>
          <p:spPr>
            <a:xfrm>
              <a:off x="3345231" y="2207007"/>
              <a:ext cx="2143124" cy="246566"/>
            </a:xfrm>
            <a:prstGeom prst="rect">
              <a:avLst/>
            </a:prstGeom>
          </p:spPr>
        </p:pic>
        <p:pic>
          <p:nvPicPr>
            <p:cNvPr id="36" name="Grafik 35" descr="Ein Bild, das Text, Screenshot, Schrift, weiß enthält.&#10;&#10;Automatisch generierte Beschreibung">
              <a:extLst>
                <a:ext uri="{FF2B5EF4-FFF2-40B4-BE49-F238E27FC236}">
                  <a16:creationId xmlns:a16="http://schemas.microsoft.com/office/drawing/2014/main" id="{3D0C419E-ED0B-B3CE-88DD-823606B482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alphaModFix amt="35000"/>
            </a:blip>
            <a:srcRect l="1184" t="37390" r="3692" b="51099"/>
            <a:stretch/>
          </p:blipFill>
          <p:spPr>
            <a:xfrm>
              <a:off x="3345231" y="2207007"/>
              <a:ext cx="2143124" cy="246566"/>
            </a:xfrm>
            <a:prstGeom prst="rect">
              <a:avLst/>
            </a:prstGeom>
          </p:spPr>
        </p:pic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BAA02773-F119-DE0C-B977-9C7E69E23E1D}"/>
              </a:ext>
            </a:extLst>
          </p:cNvPr>
          <p:cNvGrpSpPr/>
          <p:nvPr/>
        </p:nvGrpSpPr>
        <p:grpSpPr>
          <a:xfrm>
            <a:off x="6118512" y="4317411"/>
            <a:ext cx="2143124" cy="249817"/>
            <a:chOff x="6118513" y="2207007"/>
            <a:chExt cx="2143124" cy="249817"/>
          </a:xfrm>
        </p:grpSpPr>
        <p:pic>
          <p:nvPicPr>
            <p:cNvPr id="40" name="Grafik 39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2DDA11A9-A764-CDCA-16F8-54C5CC0856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17727" t="37449" r="30275" b="51276"/>
            <a:stretch/>
          </p:blipFill>
          <p:spPr>
            <a:xfrm>
              <a:off x="6118513" y="2207007"/>
              <a:ext cx="2143124" cy="246566"/>
            </a:xfrm>
            <a:prstGeom prst="rect">
              <a:avLst/>
            </a:prstGeom>
          </p:spPr>
        </p:pic>
        <p:pic>
          <p:nvPicPr>
            <p:cNvPr id="39" name="Grafik 38" descr="Ein Bild, das Text, Screenshot, Schrift, weiß enthält.&#10;&#10;Automatisch generierte Beschreibung">
              <a:extLst>
                <a:ext uri="{FF2B5EF4-FFF2-40B4-BE49-F238E27FC236}">
                  <a16:creationId xmlns:a16="http://schemas.microsoft.com/office/drawing/2014/main" id="{0CF5F1F6-ED44-CBE6-4712-D5F4DE3142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alphaModFix amt="35000"/>
            </a:blip>
            <a:srcRect l="1184" t="62019" r="3692" b="26470"/>
            <a:stretch/>
          </p:blipFill>
          <p:spPr>
            <a:xfrm>
              <a:off x="6118513" y="2210258"/>
              <a:ext cx="2143124" cy="246566"/>
            </a:xfrm>
            <a:prstGeom prst="rect">
              <a:avLst/>
            </a:prstGeom>
          </p:spPr>
        </p:pic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994ED2E7-858E-E6EA-8983-118D82759856}"/>
              </a:ext>
            </a:extLst>
          </p:cNvPr>
          <p:cNvGrpSpPr/>
          <p:nvPr/>
        </p:nvGrpSpPr>
        <p:grpSpPr>
          <a:xfrm>
            <a:off x="8891794" y="4309137"/>
            <a:ext cx="2143124" cy="250707"/>
            <a:chOff x="8891794" y="2202866"/>
            <a:chExt cx="2143124" cy="250707"/>
          </a:xfrm>
        </p:grpSpPr>
        <p:pic>
          <p:nvPicPr>
            <p:cNvPr id="43" name="Grafik 42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5C2CAF8E-7583-C10E-CDD0-F33EBA4805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17727" t="62484" r="30275" b="26241"/>
            <a:stretch/>
          </p:blipFill>
          <p:spPr>
            <a:xfrm>
              <a:off x="8891794" y="2207007"/>
              <a:ext cx="2143124" cy="246566"/>
            </a:xfrm>
            <a:prstGeom prst="rect">
              <a:avLst/>
            </a:prstGeom>
          </p:spPr>
        </p:pic>
        <p:pic>
          <p:nvPicPr>
            <p:cNvPr id="42" name="Grafik 41" descr="Ein Bild, das Text, Screenshot, Schrift, weiß enthält.&#10;&#10;Automatisch generierte Beschreibung">
              <a:extLst>
                <a:ext uri="{FF2B5EF4-FFF2-40B4-BE49-F238E27FC236}">
                  <a16:creationId xmlns:a16="http://schemas.microsoft.com/office/drawing/2014/main" id="{BB4CAA63-E3BB-0D2C-996D-46B5ECEAEB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alphaModFix amt="35000"/>
            </a:blip>
            <a:srcRect l="1184" t="85649" r="3692" b="2840"/>
            <a:stretch/>
          </p:blipFill>
          <p:spPr>
            <a:xfrm>
              <a:off x="8891794" y="2202866"/>
              <a:ext cx="2143124" cy="246566"/>
            </a:xfrm>
            <a:prstGeom prst="rect">
              <a:avLst/>
            </a:prstGeom>
          </p:spPr>
        </p:pic>
      </p:grpSp>
      <p:sp>
        <p:nvSpPr>
          <p:cNvPr id="44" name="Google Shape;200;p10">
            <a:extLst>
              <a:ext uri="{FF2B5EF4-FFF2-40B4-BE49-F238E27FC236}">
                <a16:creationId xmlns:a16="http://schemas.microsoft.com/office/drawing/2014/main" id="{FC53740C-7B5C-992B-2884-8E4B22F1F01A}"/>
              </a:ext>
            </a:extLst>
          </p:cNvPr>
          <p:cNvSpPr/>
          <p:nvPr/>
        </p:nvSpPr>
        <p:spPr>
          <a:xfrm rot="15955361">
            <a:off x="5276000" y="2121286"/>
            <a:ext cx="1588184" cy="687767"/>
          </a:xfrm>
          <a:prstGeom prst="arc">
            <a:avLst>
              <a:gd name="adj1" fmla="val 10799015"/>
              <a:gd name="adj2" fmla="val 16354502"/>
            </a:avLst>
          </a:prstGeom>
          <a:noFill/>
          <a:ln w="28575" cap="flat" cmpd="sng">
            <a:solidFill>
              <a:srgbClr val="6001AD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D5B03EE2-F34B-82FE-6CCB-33BB7A853D80}"/>
              </a:ext>
            </a:extLst>
          </p:cNvPr>
          <p:cNvSpPr txBox="1"/>
          <p:nvPr/>
        </p:nvSpPr>
        <p:spPr>
          <a:xfrm rot="21136568">
            <a:off x="5024301" y="2088886"/>
            <a:ext cx="218842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800" dirty="0" err="1">
                <a:solidFill>
                  <a:srgbClr val="6001AD"/>
                </a:solidFill>
                <a:latin typeface="Smash" pitchFamily="2" charset="0"/>
              </a:rPr>
              <a:t>Positional</a:t>
            </a:r>
            <a:r>
              <a:rPr lang="de-DE" sz="1800" dirty="0">
                <a:solidFill>
                  <a:srgbClr val="6001AD"/>
                </a:solidFill>
                <a:latin typeface="Smash" pitchFamily="2" charset="0"/>
              </a:rPr>
              <a:t> Encoding</a:t>
            </a:r>
          </a:p>
        </p:txBody>
      </p:sp>
      <p:sp>
        <p:nvSpPr>
          <p:cNvPr id="46" name="Google Shape;200;p10">
            <a:extLst>
              <a:ext uri="{FF2B5EF4-FFF2-40B4-BE49-F238E27FC236}">
                <a16:creationId xmlns:a16="http://schemas.microsoft.com/office/drawing/2014/main" id="{CDAF893A-1220-B60F-58E2-05059C2EE45F}"/>
              </a:ext>
            </a:extLst>
          </p:cNvPr>
          <p:cNvSpPr/>
          <p:nvPr/>
        </p:nvSpPr>
        <p:spPr>
          <a:xfrm rot="15955361">
            <a:off x="2673363" y="2095665"/>
            <a:ext cx="1218349" cy="702793"/>
          </a:xfrm>
          <a:prstGeom prst="arc">
            <a:avLst>
              <a:gd name="adj1" fmla="val 10799015"/>
              <a:gd name="adj2" fmla="val 16354502"/>
            </a:avLst>
          </a:prstGeom>
          <a:noFill/>
          <a:ln w="28575" cap="flat" cmpd="sng">
            <a:solidFill>
              <a:srgbClr val="6001AD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6760B300-EB22-6B3E-0607-8E22DB751DA2}"/>
              </a:ext>
            </a:extLst>
          </p:cNvPr>
          <p:cNvSpPr txBox="1"/>
          <p:nvPr/>
        </p:nvSpPr>
        <p:spPr>
          <a:xfrm rot="21136568">
            <a:off x="2330481" y="2097115"/>
            <a:ext cx="198964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rgbClr val="6001AD"/>
                </a:solidFill>
                <a:latin typeface="Smash" pitchFamily="2" charset="0"/>
              </a:rPr>
              <a:t>Word Embedding</a:t>
            </a: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1D8942A4-FAAD-4225-3919-7E707DC8E747}"/>
              </a:ext>
            </a:extLst>
          </p:cNvPr>
          <p:cNvCxnSpPr>
            <a:cxnSpLocks/>
          </p:cNvCxnSpPr>
          <p:nvPr/>
        </p:nvCxnSpPr>
        <p:spPr>
          <a:xfrm>
            <a:off x="1626408" y="3435315"/>
            <a:ext cx="0" cy="777021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BE4954A4-DEBF-C1F3-2AF1-48179718E195}"/>
              </a:ext>
            </a:extLst>
          </p:cNvPr>
          <p:cNvCxnSpPr>
            <a:cxnSpLocks/>
          </p:cNvCxnSpPr>
          <p:nvPr/>
        </p:nvCxnSpPr>
        <p:spPr>
          <a:xfrm>
            <a:off x="4380227" y="3435315"/>
            <a:ext cx="0" cy="777021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6848FE0E-6C24-5C5D-6554-AC2201FBF7B9}"/>
              </a:ext>
            </a:extLst>
          </p:cNvPr>
          <p:cNvCxnSpPr>
            <a:cxnSpLocks/>
          </p:cNvCxnSpPr>
          <p:nvPr/>
        </p:nvCxnSpPr>
        <p:spPr>
          <a:xfrm>
            <a:off x="7200432" y="3435315"/>
            <a:ext cx="0" cy="777021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6F4458A8-AF6B-F85D-4576-5C46626099FD}"/>
              </a:ext>
            </a:extLst>
          </p:cNvPr>
          <p:cNvCxnSpPr>
            <a:cxnSpLocks/>
          </p:cNvCxnSpPr>
          <p:nvPr/>
        </p:nvCxnSpPr>
        <p:spPr>
          <a:xfrm>
            <a:off x="9907056" y="3435315"/>
            <a:ext cx="0" cy="777021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Google Shape;200;p10">
            <a:extLst>
              <a:ext uri="{FF2B5EF4-FFF2-40B4-BE49-F238E27FC236}">
                <a16:creationId xmlns:a16="http://schemas.microsoft.com/office/drawing/2014/main" id="{0AA6A3EB-1145-A7DC-B39F-1CBBBA2707D2}"/>
              </a:ext>
            </a:extLst>
          </p:cNvPr>
          <p:cNvSpPr/>
          <p:nvPr/>
        </p:nvSpPr>
        <p:spPr>
          <a:xfrm rot="13563277">
            <a:off x="8820774" y="3175689"/>
            <a:ext cx="1218349" cy="702793"/>
          </a:xfrm>
          <a:prstGeom prst="arc">
            <a:avLst>
              <a:gd name="adj1" fmla="val 10799015"/>
              <a:gd name="adj2" fmla="val 16354502"/>
            </a:avLst>
          </a:prstGeom>
          <a:noFill/>
          <a:ln w="28575" cap="flat" cmpd="sng">
            <a:solidFill>
              <a:srgbClr val="6001AD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E7276034-297A-44F4-C022-08CDA88D91B4}"/>
              </a:ext>
            </a:extLst>
          </p:cNvPr>
          <p:cNvSpPr txBox="1"/>
          <p:nvPr/>
        </p:nvSpPr>
        <p:spPr>
          <a:xfrm rot="21136568">
            <a:off x="8138558" y="3543198"/>
            <a:ext cx="110479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rgbClr val="6001AD"/>
                </a:solidFill>
                <a:latin typeface="Smash" pitchFamily="2" charset="0"/>
              </a:rPr>
              <a:t>Addition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3025795-21D6-61A1-50FD-53F755BC213F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</p:spTree>
    <p:extLst>
      <p:ext uri="{BB962C8B-B14F-4D97-AF65-F5344CB8AC3E}">
        <p14:creationId xmlns:p14="http://schemas.microsoft.com/office/powerpoint/2010/main" val="39776328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uppieren 98">
            <a:extLst>
              <a:ext uri="{FF2B5EF4-FFF2-40B4-BE49-F238E27FC236}">
                <a16:creationId xmlns:a16="http://schemas.microsoft.com/office/drawing/2014/main" id="{E3053452-96EB-4EEC-FA19-D1F2F4E9E113}"/>
              </a:ext>
            </a:extLst>
          </p:cNvPr>
          <p:cNvGrpSpPr/>
          <p:nvPr/>
        </p:nvGrpSpPr>
        <p:grpSpPr>
          <a:xfrm>
            <a:off x="969052" y="5169203"/>
            <a:ext cx="7420729" cy="1099352"/>
            <a:chOff x="969052" y="5169203"/>
            <a:chExt cx="7420729" cy="1099352"/>
          </a:xfrm>
        </p:grpSpPr>
        <p:sp>
          <p:nvSpPr>
            <p:cNvPr id="93" name="Google Shape;177;p8">
              <a:extLst>
                <a:ext uri="{FF2B5EF4-FFF2-40B4-BE49-F238E27FC236}">
                  <a16:creationId xmlns:a16="http://schemas.microsoft.com/office/drawing/2014/main" id="{9BEFB4F9-A38E-9AA5-5514-92AE82BF5A19}"/>
                </a:ext>
              </a:extLst>
            </p:cNvPr>
            <p:cNvSpPr txBox="1">
              <a:spLocks/>
            </p:cNvSpPr>
            <p:nvPr/>
          </p:nvSpPr>
          <p:spPr>
            <a:xfrm>
              <a:off x="969052" y="5189562"/>
              <a:ext cx="914400" cy="10765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 algn="r">
                <a:lnSpc>
                  <a:spcPct val="10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Gut</a:t>
              </a:r>
            </a:p>
            <a:p>
              <a:pPr marL="0" indent="0" algn="r">
                <a:lnSpc>
                  <a:spcPct val="10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Ding</a:t>
              </a:r>
            </a:p>
            <a:p>
              <a:pPr marL="0" indent="0" algn="r">
                <a:lnSpc>
                  <a:spcPct val="10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braucht</a:t>
              </a:r>
              <a:r>
                <a:rPr lang="de-DE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 </a:t>
              </a:r>
            </a:p>
            <a:p>
              <a:pPr marL="0" indent="0" algn="r">
                <a:lnSpc>
                  <a:spcPct val="10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Weile</a:t>
              </a:r>
              <a:endParaRPr lang="en-US" sz="1600" b="1" i="1" dirty="0">
                <a:solidFill>
                  <a:srgbClr val="003C72"/>
                </a:solidFill>
                <a:latin typeface="Noto Sans Semibold"/>
              </a:endParaRPr>
            </a:p>
          </p:txBody>
        </p:sp>
        <p:sp>
          <p:nvSpPr>
            <p:cNvPr id="94" name="Google Shape;177;p8">
              <a:extLst>
                <a:ext uri="{FF2B5EF4-FFF2-40B4-BE49-F238E27FC236}">
                  <a16:creationId xmlns:a16="http://schemas.microsoft.com/office/drawing/2014/main" id="{A851A8E2-AA13-C198-F53E-D107B61941FA}"/>
                </a:ext>
              </a:extLst>
            </p:cNvPr>
            <p:cNvSpPr txBox="1">
              <a:spLocks/>
            </p:cNvSpPr>
            <p:nvPr/>
          </p:nvSpPr>
          <p:spPr>
            <a:xfrm>
              <a:off x="4184692" y="5192049"/>
              <a:ext cx="914400" cy="10765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 algn="r">
                <a:lnSpc>
                  <a:spcPct val="10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rgbClr val="C00000"/>
                  </a:solidFill>
                  <a:latin typeface="Noto Sans Semibold"/>
                  <a:ea typeface="Arial"/>
                  <a:cs typeface="Arial"/>
                  <a:sym typeface="Arial"/>
                </a:rPr>
                <a:t>Gut</a:t>
              </a:r>
            </a:p>
            <a:p>
              <a:pPr marL="0" indent="0" algn="r">
                <a:lnSpc>
                  <a:spcPct val="10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rgbClr val="C00000"/>
                  </a:solidFill>
                  <a:latin typeface="Noto Sans Semibold"/>
                  <a:ea typeface="Arial"/>
                  <a:cs typeface="Arial"/>
                  <a:sym typeface="Arial"/>
                </a:rPr>
                <a:t>Ding</a:t>
              </a:r>
            </a:p>
            <a:p>
              <a:pPr marL="0" indent="0" algn="r">
                <a:lnSpc>
                  <a:spcPct val="10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rgbClr val="C00000"/>
                  </a:solidFill>
                  <a:latin typeface="Noto Sans Semibold"/>
                  <a:ea typeface="Arial"/>
                  <a:cs typeface="Arial"/>
                  <a:sym typeface="Arial"/>
                </a:rPr>
                <a:t>braucht</a:t>
              </a:r>
              <a:r>
                <a:rPr lang="de-DE" dirty="0">
                  <a:solidFill>
                    <a:srgbClr val="C00000"/>
                  </a:solidFill>
                  <a:latin typeface="Noto Sans Semibold"/>
                  <a:ea typeface="Arial"/>
                  <a:cs typeface="Arial"/>
                  <a:sym typeface="Arial"/>
                </a:rPr>
                <a:t> </a:t>
              </a:r>
            </a:p>
            <a:p>
              <a:pPr marL="0" indent="0" algn="r">
                <a:lnSpc>
                  <a:spcPct val="10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rgbClr val="C00000"/>
                  </a:solidFill>
                  <a:latin typeface="Noto Sans Semibold"/>
                  <a:ea typeface="Arial"/>
                  <a:cs typeface="Arial"/>
                  <a:sym typeface="Arial"/>
                </a:rPr>
                <a:t>Weile</a:t>
              </a:r>
              <a:endParaRPr lang="en-US" sz="1600" b="1" i="1" dirty="0">
                <a:solidFill>
                  <a:srgbClr val="C00000"/>
                </a:solidFill>
                <a:latin typeface="Noto Sans Semibold"/>
              </a:endParaRPr>
            </a:p>
          </p:txBody>
        </p:sp>
        <p:sp>
          <p:nvSpPr>
            <p:cNvPr id="95" name="Google Shape;177;p8">
              <a:extLst>
                <a:ext uri="{FF2B5EF4-FFF2-40B4-BE49-F238E27FC236}">
                  <a16:creationId xmlns:a16="http://schemas.microsoft.com/office/drawing/2014/main" id="{BC59A939-145D-BBDA-F539-DCC234233345}"/>
                </a:ext>
              </a:extLst>
            </p:cNvPr>
            <p:cNvSpPr txBox="1">
              <a:spLocks/>
            </p:cNvSpPr>
            <p:nvPr/>
          </p:nvSpPr>
          <p:spPr>
            <a:xfrm>
              <a:off x="7475381" y="5169203"/>
              <a:ext cx="914400" cy="10765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 algn="r">
                <a:lnSpc>
                  <a:spcPct val="10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rgbClr val="F59E00"/>
                  </a:solidFill>
                  <a:latin typeface="Noto Sans Semibold"/>
                  <a:ea typeface="Arial"/>
                  <a:cs typeface="Arial"/>
                  <a:sym typeface="Arial"/>
                </a:rPr>
                <a:t>Gut</a:t>
              </a:r>
            </a:p>
            <a:p>
              <a:pPr marL="0" indent="0" algn="r">
                <a:lnSpc>
                  <a:spcPct val="10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rgbClr val="F59E00"/>
                  </a:solidFill>
                  <a:latin typeface="Noto Sans Semibold"/>
                  <a:ea typeface="Arial"/>
                  <a:cs typeface="Arial"/>
                  <a:sym typeface="Arial"/>
                </a:rPr>
                <a:t>Ding</a:t>
              </a:r>
            </a:p>
            <a:p>
              <a:pPr marL="0" indent="0" algn="r">
                <a:lnSpc>
                  <a:spcPct val="10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rgbClr val="F59E00"/>
                  </a:solidFill>
                  <a:latin typeface="Noto Sans Semibold"/>
                  <a:ea typeface="Arial"/>
                  <a:cs typeface="Arial"/>
                  <a:sym typeface="Arial"/>
                </a:rPr>
                <a:t>braucht</a:t>
              </a:r>
              <a:r>
                <a:rPr lang="de-DE" dirty="0">
                  <a:solidFill>
                    <a:srgbClr val="F59E00"/>
                  </a:solidFill>
                  <a:latin typeface="Noto Sans Semibold"/>
                  <a:ea typeface="Arial"/>
                  <a:cs typeface="Arial"/>
                  <a:sym typeface="Arial"/>
                </a:rPr>
                <a:t> </a:t>
              </a:r>
            </a:p>
            <a:p>
              <a:pPr marL="0" indent="0" algn="r">
                <a:lnSpc>
                  <a:spcPct val="10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rgbClr val="F59E00"/>
                  </a:solidFill>
                  <a:latin typeface="Noto Sans Semibold"/>
                  <a:ea typeface="Arial"/>
                  <a:cs typeface="Arial"/>
                  <a:sym typeface="Arial"/>
                </a:rPr>
                <a:t>Weile</a:t>
              </a:r>
              <a:endParaRPr lang="en-US" sz="1600" b="1" i="1" dirty="0">
                <a:solidFill>
                  <a:srgbClr val="F59E00"/>
                </a:solidFill>
                <a:latin typeface="Noto Sans Semibold"/>
              </a:endParaRPr>
            </a:p>
          </p:txBody>
        </p:sp>
      </p:grpSp>
      <p:sp>
        <p:nvSpPr>
          <p:cNvPr id="92" name="Rechteck 91">
            <a:extLst>
              <a:ext uri="{FF2B5EF4-FFF2-40B4-BE49-F238E27FC236}">
                <a16:creationId xmlns:a16="http://schemas.microsoft.com/office/drawing/2014/main" id="{F7801E07-48F1-D690-6F09-71A89F9EC156}"/>
              </a:ext>
            </a:extLst>
          </p:cNvPr>
          <p:cNvSpPr/>
          <p:nvPr/>
        </p:nvSpPr>
        <p:spPr>
          <a:xfrm>
            <a:off x="-1" y="5042775"/>
            <a:ext cx="11480755" cy="1662825"/>
          </a:xfrm>
          <a:prstGeom prst="rect">
            <a:avLst/>
          </a:prstGeom>
          <a:solidFill>
            <a:srgbClr val="FFFFFF">
              <a:alpha val="50980"/>
            </a:srgb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4883D4E-2269-3481-8FD7-C25C4030B706}"/>
              </a:ext>
            </a:extLst>
          </p:cNvPr>
          <p:cNvSpPr txBox="1"/>
          <p:nvPr/>
        </p:nvSpPr>
        <p:spPr>
          <a:xfrm>
            <a:off x="533213" y="1062367"/>
            <a:ext cx="8815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>
                    <a:lumMod val="50000"/>
                  </a:schemeClr>
                </a:solidFill>
                <a:effectLst/>
                <a:latin typeface="Noto Sans Semibold"/>
              </a:rPr>
              <a:t>3. Attention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Schritt 2: Query, Key und Value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F0045A23-68D0-FE1A-43D5-C59E6B887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882" y="6524477"/>
            <a:ext cx="534844" cy="531845"/>
          </a:xfrm>
        </p:spPr>
        <p:txBody>
          <a:bodyPr/>
          <a:lstStyle/>
          <a:p>
            <a:pPr marL="108002" indent="0">
              <a:buNone/>
            </a:pPr>
            <a:r>
              <a:rPr lang="de-DE" dirty="0"/>
              <a:t> 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B1D53AC-14F0-CAE3-946A-B2D39872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70" y="6476408"/>
            <a:ext cx="768818" cy="579914"/>
          </a:xfrm>
        </p:spPr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9" name="Google Shape;177;p8">
            <a:extLst>
              <a:ext uri="{FF2B5EF4-FFF2-40B4-BE49-F238E27FC236}">
                <a16:creationId xmlns:a16="http://schemas.microsoft.com/office/drawing/2014/main" id="{45E07785-A324-632A-3BF4-3BBAB9E14542}"/>
              </a:ext>
            </a:extLst>
          </p:cNvPr>
          <p:cNvSpPr txBox="1">
            <a:spLocks/>
          </p:cNvSpPr>
          <p:nvPr/>
        </p:nvSpPr>
        <p:spPr>
          <a:xfrm>
            <a:off x="4152900" y="1718175"/>
            <a:ext cx="6847823" cy="1449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SzPts val="2000"/>
              <a:buFont typeface="Noto Sans Symbols"/>
              <a:buNone/>
            </a:pPr>
            <a:endParaRPr lang="de-DE" sz="1000" b="1" i="0" dirty="0">
              <a:solidFill>
                <a:srgbClr val="003C72"/>
              </a:solidFill>
              <a:effectLst/>
              <a:latin typeface="Noto Sans Semibold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b="1" dirty="0">
                <a:solidFill>
                  <a:schemeClr val="bg2"/>
                </a:solidFill>
                <a:latin typeface="Noto Sans Semibold"/>
              </a:rPr>
              <a:t>Jeder Eingabevektor x wird mit drei gelernten Matrizen multipliziert (linear, ohne Aktivierung).</a:t>
            </a: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b="1" dirty="0">
                <a:solidFill>
                  <a:schemeClr val="bg2"/>
                </a:solidFill>
                <a:latin typeface="Noto Sans Semibold"/>
              </a:rPr>
              <a:t>Es entstehen dabei die </a:t>
            </a:r>
            <a:r>
              <a:rPr lang="de-DE" b="1" dirty="0">
                <a:solidFill>
                  <a:srgbClr val="003C72"/>
                </a:solidFill>
                <a:latin typeface="Noto Sans Semibold"/>
              </a:rPr>
              <a:t>Q</a:t>
            </a:r>
            <a:r>
              <a:rPr lang="de-DE" b="1" dirty="0">
                <a:solidFill>
                  <a:schemeClr val="bg2"/>
                </a:solidFill>
                <a:latin typeface="Noto Sans Semibold"/>
              </a:rPr>
              <a:t>- die </a:t>
            </a:r>
            <a:r>
              <a:rPr lang="de-DE" b="1" dirty="0">
                <a:solidFill>
                  <a:srgbClr val="C00000"/>
                </a:solidFill>
                <a:latin typeface="Noto Sans Semibold"/>
              </a:rPr>
              <a:t>K</a:t>
            </a:r>
            <a:r>
              <a:rPr lang="de-DE" b="1" dirty="0">
                <a:solidFill>
                  <a:schemeClr val="bg2"/>
                </a:solidFill>
                <a:latin typeface="Noto Sans Semibold"/>
              </a:rPr>
              <a:t>- und die </a:t>
            </a:r>
            <a:r>
              <a:rPr lang="de-DE" b="1" dirty="0">
                <a:solidFill>
                  <a:srgbClr val="F79E00"/>
                </a:solidFill>
                <a:latin typeface="Noto Sans Semibold"/>
              </a:rPr>
              <a:t>V</a:t>
            </a:r>
            <a:r>
              <a:rPr lang="de-DE" b="1" dirty="0">
                <a:solidFill>
                  <a:schemeClr val="bg2"/>
                </a:solidFill>
                <a:latin typeface="Noto Sans Semibold"/>
              </a:rPr>
              <a:t>-Vektoren.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F1AE8EAD-D103-86EC-2A0A-6FC1B1E67AAA}"/>
              </a:ext>
            </a:extLst>
          </p:cNvPr>
          <p:cNvGrpSpPr/>
          <p:nvPr/>
        </p:nvGrpSpPr>
        <p:grpSpPr>
          <a:xfrm>
            <a:off x="542625" y="2008485"/>
            <a:ext cx="3057524" cy="1076506"/>
            <a:chOff x="430382" y="2202369"/>
            <a:chExt cx="3057524" cy="1076506"/>
          </a:xfrm>
        </p:grpSpPr>
        <p:sp>
          <p:nvSpPr>
            <p:cNvPr id="5" name="Google Shape;177;p8">
              <a:extLst>
                <a:ext uri="{FF2B5EF4-FFF2-40B4-BE49-F238E27FC236}">
                  <a16:creationId xmlns:a16="http://schemas.microsoft.com/office/drawing/2014/main" id="{DBD6B41B-3F0B-E85A-0ECC-26F60FB8651D}"/>
                </a:ext>
              </a:extLst>
            </p:cNvPr>
            <p:cNvSpPr txBox="1">
              <a:spLocks/>
            </p:cNvSpPr>
            <p:nvPr/>
          </p:nvSpPr>
          <p:spPr>
            <a:xfrm>
              <a:off x="430382" y="2202369"/>
              <a:ext cx="914400" cy="10765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 algn="r">
                <a:lnSpc>
                  <a:spcPct val="10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Gut</a:t>
              </a:r>
            </a:p>
            <a:p>
              <a:pPr marL="0" indent="0" algn="r">
                <a:lnSpc>
                  <a:spcPct val="10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Ding</a:t>
              </a:r>
            </a:p>
            <a:p>
              <a:pPr marL="0" indent="0" algn="r">
                <a:lnSpc>
                  <a:spcPct val="10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braucht</a:t>
              </a:r>
              <a:r>
                <a:rPr lang="de-DE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</a:t>
              </a:r>
            </a:p>
            <a:p>
              <a:pPr marL="0" indent="0" algn="r">
                <a:lnSpc>
                  <a:spcPct val="10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Weile</a:t>
              </a:r>
              <a:endParaRPr lang="en-US" sz="1600" b="1" i="1" dirty="0">
                <a:latin typeface="Noto Sans Semibold"/>
              </a:endParaRPr>
            </a:p>
          </p:txBody>
        </p: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27275D00-4CC9-DA67-15BF-A4D59B465F7F}"/>
                </a:ext>
              </a:extLst>
            </p:cNvPr>
            <p:cNvGrpSpPr/>
            <p:nvPr/>
          </p:nvGrpSpPr>
          <p:grpSpPr>
            <a:xfrm>
              <a:off x="1344782" y="2202897"/>
              <a:ext cx="2143124" cy="247094"/>
              <a:chOff x="571949" y="2206479"/>
              <a:chExt cx="2143124" cy="247094"/>
            </a:xfrm>
          </p:grpSpPr>
          <p:pic>
            <p:nvPicPr>
              <p:cNvPr id="34" name="Grafik 33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6D949E37-D179-D8FF-32D9-EC8B5FF6570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 l="17727" t="1512" r="30275" b="87213"/>
              <a:stretch/>
            </p:blipFill>
            <p:spPr>
              <a:xfrm>
                <a:off x="571949" y="2207007"/>
                <a:ext cx="2143124" cy="246566"/>
              </a:xfrm>
              <a:prstGeom prst="rect">
                <a:avLst/>
              </a:prstGeom>
            </p:spPr>
          </p:pic>
          <p:pic>
            <p:nvPicPr>
              <p:cNvPr id="33" name="Grafik 32" descr="Ein Bild, das Text, Screenshot, Schrift, weiß enthält.&#10;&#10;Automatisch generierte Beschreibung">
                <a:extLst>
                  <a:ext uri="{FF2B5EF4-FFF2-40B4-BE49-F238E27FC236}">
                    <a16:creationId xmlns:a16="http://schemas.microsoft.com/office/drawing/2014/main" id="{CDBE9496-00B1-ACE7-BBA2-BCF5B0916AB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alphaModFix amt="20000"/>
              </a:blip>
              <a:srcRect l="1184" t="11245" r="3692" b="77244"/>
              <a:stretch/>
            </p:blipFill>
            <p:spPr>
              <a:xfrm>
                <a:off x="571949" y="2206479"/>
                <a:ext cx="2143124" cy="246566"/>
              </a:xfrm>
              <a:prstGeom prst="rect">
                <a:avLst/>
              </a:prstGeom>
            </p:spPr>
          </p:pic>
        </p:grpSp>
        <p:grpSp>
          <p:nvGrpSpPr>
            <p:cNvPr id="35" name="Gruppieren 34">
              <a:extLst>
                <a:ext uri="{FF2B5EF4-FFF2-40B4-BE49-F238E27FC236}">
                  <a16:creationId xmlns:a16="http://schemas.microsoft.com/office/drawing/2014/main" id="{CB96F21D-5152-76CF-DF69-EF87385FFFD7}"/>
                </a:ext>
              </a:extLst>
            </p:cNvPr>
            <p:cNvGrpSpPr/>
            <p:nvPr/>
          </p:nvGrpSpPr>
          <p:grpSpPr>
            <a:xfrm>
              <a:off x="1344782" y="2470559"/>
              <a:ext cx="2143124" cy="246566"/>
              <a:chOff x="3345231" y="2207007"/>
              <a:chExt cx="2143124" cy="246566"/>
            </a:xfrm>
          </p:grpSpPr>
          <p:pic>
            <p:nvPicPr>
              <p:cNvPr id="37" name="Grafik 36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D0BBF1DA-8889-A03E-A0DB-84C8428C057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 l="17727" t="25372" r="30275" b="63353"/>
              <a:stretch/>
            </p:blipFill>
            <p:spPr>
              <a:xfrm>
                <a:off x="3345231" y="2207007"/>
                <a:ext cx="2143124" cy="246566"/>
              </a:xfrm>
              <a:prstGeom prst="rect">
                <a:avLst/>
              </a:prstGeom>
            </p:spPr>
          </p:pic>
          <p:pic>
            <p:nvPicPr>
              <p:cNvPr id="36" name="Grafik 35" descr="Ein Bild, das Text, Screenshot, Schrift, weiß enthält.&#10;&#10;Automatisch generierte Beschreibung">
                <a:extLst>
                  <a:ext uri="{FF2B5EF4-FFF2-40B4-BE49-F238E27FC236}">
                    <a16:creationId xmlns:a16="http://schemas.microsoft.com/office/drawing/2014/main" id="{3D0C419E-ED0B-B3CE-88DD-823606B482A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alphaModFix amt="35000"/>
              </a:blip>
              <a:srcRect l="1184" t="37390" r="3692" b="51099"/>
              <a:stretch/>
            </p:blipFill>
            <p:spPr>
              <a:xfrm>
                <a:off x="3345231" y="2207007"/>
                <a:ext cx="2143124" cy="246566"/>
              </a:xfrm>
              <a:prstGeom prst="rect">
                <a:avLst/>
              </a:prstGeom>
            </p:spPr>
          </p:pic>
        </p:grpSp>
        <p:grpSp>
          <p:nvGrpSpPr>
            <p:cNvPr id="38" name="Gruppieren 37">
              <a:extLst>
                <a:ext uri="{FF2B5EF4-FFF2-40B4-BE49-F238E27FC236}">
                  <a16:creationId xmlns:a16="http://schemas.microsoft.com/office/drawing/2014/main" id="{BAA02773-F119-DE0C-B977-9C7E69E23E1D}"/>
                </a:ext>
              </a:extLst>
            </p:cNvPr>
            <p:cNvGrpSpPr/>
            <p:nvPr/>
          </p:nvGrpSpPr>
          <p:grpSpPr>
            <a:xfrm>
              <a:off x="1344782" y="2740594"/>
              <a:ext cx="2143124" cy="249817"/>
              <a:chOff x="6118513" y="2207007"/>
              <a:chExt cx="2143124" cy="249817"/>
            </a:xfrm>
          </p:grpSpPr>
          <p:pic>
            <p:nvPicPr>
              <p:cNvPr id="40" name="Grafik 39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2DDA11A9-A764-CDCA-16F8-54C5CC0856E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 l="17727" t="37449" r="30275" b="51276"/>
              <a:stretch/>
            </p:blipFill>
            <p:spPr>
              <a:xfrm>
                <a:off x="6118513" y="2207007"/>
                <a:ext cx="2143124" cy="246566"/>
              </a:xfrm>
              <a:prstGeom prst="rect">
                <a:avLst/>
              </a:prstGeom>
            </p:spPr>
          </p:pic>
          <p:pic>
            <p:nvPicPr>
              <p:cNvPr id="39" name="Grafik 38" descr="Ein Bild, das Text, Screenshot, Schrift, weiß enthält.&#10;&#10;Automatisch generierte Beschreibung">
                <a:extLst>
                  <a:ext uri="{FF2B5EF4-FFF2-40B4-BE49-F238E27FC236}">
                    <a16:creationId xmlns:a16="http://schemas.microsoft.com/office/drawing/2014/main" id="{0CF5F1F6-ED44-CBE6-4712-D5F4DE3142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alphaModFix amt="35000"/>
              </a:blip>
              <a:srcRect l="1184" t="62019" r="3692" b="26470"/>
              <a:stretch/>
            </p:blipFill>
            <p:spPr>
              <a:xfrm>
                <a:off x="6118513" y="2210258"/>
                <a:ext cx="2143124" cy="246566"/>
              </a:xfrm>
              <a:prstGeom prst="rect">
                <a:avLst/>
              </a:prstGeom>
            </p:spPr>
          </p:pic>
        </p:grpSp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994ED2E7-858E-E6EA-8983-118D82759856}"/>
                </a:ext>
              </a:extLst>
            </p:cNvPr>
            <p:cNvGrpSpPr/>
            <p:nvPr/>
          </p:nvGrpSpPr>
          <p:grpSpPr>
            <a:xfrm>
              <a:off x="1344782" y="3002121"/>
              <a:ext cx="2143124" cy="250707"/>
              <a:chOff x="8891794" y="2202866"/>
              <a:chExt cx="2143124" cy="250707"/>
            </a:xfrm>
          </p:grpSpPr>
          <p:pic>
            <p:nvPicPr>
              <p:cNvPr id="43" name="Grafik 42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5C2CAF8E-7583-C10E-CDD0-F33EBA4805B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 l="17727" t="62484" r="30275" b="26241"/>
              <a:stretch/>
            </p:blipFill>
            <p:spPr>
              <a:xfrm>
                <a:off x="8891794" y="2207007"/>
                <a:ext cx="2143124" cy="246566"/>
              </a:xfrm>
              <a:prstGeom prst="rect">
                <a:avLst/>
              </a:prstGeom>
            </p:spPr>
          </p:pic>
          <p:pic>
            <p:nvPicPr>
              <p:cNvPr id="42" name="Grafik 41" descr="Ein Bild, das Text, Screenshot, Schrift, weiß enthält.&#10;&#10;Automatisch generierte Beschreibung">
                <a:extLst>
                  <a:ext uri="{FF2B5EF4-FFF2-40B4-BE49-F238E27FC236}">
                    <a16:creationId xmlns:a16="http://schemas.microsoft.com/office/drawing/2014/main" id="{BB4CAA63-E3BB-0D2C-996D-46B5ECEAEB4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alphaModFix amt="35000"/>
              </a:blip>
              <a:srcRect l="1184" t="85649" r="3692" b="2840"/>
              <a:stretch/>
            </p:blipFill>
            <p:spPr>
              <a:xfrm>
                <a:off x="8891794" y="2202866"/>
                <a:ext cx="2143124" cy="246566"/>
              </a:xfrm>
              <a:prstGeom prst="rect">
                <a:avLst/>
              </a:prstGeom>
            </p:spPr>
          </p:pic>
        </p:grpSp>
      </p:grpSp>
      <p:pic>
        <p:nvPicPr>
          <p:cNvPr id="18" name="Grafik 17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B3A06710-DE2C-1291-A235-EE0F7A39B57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0641" t="1511" r="30275" b="50883"/>
          <a:stretch/>
        </p:blipFill>
        <p:spPr>
          <a:xfrm>
            <a:off x="1922777" y="5195234"/>
            <a:ext cx="1198693" cy="1041067"/>
          </a:xfrm>
          <a:prstGeom prst="rect">
            <a:avLst/>
          </a:prstGeom>
        </p:spPr>
      </p:pic>
      <p:pic>
        <p:nvPicPr>
          <p:cNvPr id="29" name="Grafik 28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F3F857A5-75DA-4EC0-7AEA-6F117DA94FC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69872" t="2394" r="1044" b="50000"/>
          <a:stretch/>
        </p:blipFill>
        <p:spPr>
          <a:xfrm>
            <a:off x="5180560" y="5195233"/>
            <a:ext cx="1198693" cy="1041067"/>
          </a:xfrm>
          <a:prstGeom prst="rect">
            <a:avLst/>
          </a:prstGeom>
        </p:spPr>
      </p:pic>
      <p:pic>
        <p:nvPicPr>
          <p:cNvPr id="49" name="Grafik 48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8519A185-7FAA-F053-48F4-19E7CA60DAE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35464" t="51683" r="35452" b="711"/>
          <a:stretch/>
        </p:blipFill>
        <p:spPr>
          <a:xfrm>
            <a:off x="8438343" y="5207282"/>
            <a:ext cx="1198693" cy="1041067"/>
          </a:xfrm>
          <a:prstGeom prst="rect">
            <a:avLst/>
          </a:prstGeom>
        </p:spPr>
      </p:pic>
      <p:cxnSp>
        <p:nvCxnSpPr>
          <p:cNvPr id="57" name="Verbinder: gewinkelt 56">
            <a:extLst>
              <a:ext uri="{FF2B5EF4-FFF2-40B4-BE49-F238E27FC236}">
                <a16:creationId xmlns:a16="http://schemas.microsoft.com/office/drawing/2014/main" id="{47FF93D3-5A64-20AA-70F9-6FA3DCA63EAD}"/>
              </a:ext>
            </a:extLst>
          </p:cNvPr>
          <p:cNvCxnSpPr>
            <a:cxnSpLocks/>
            <a:stCxn id="42" idx="2"/>
          </p:cNvCxnSpPr>
          <p:nvPr/>
        </p:nvCxnSpPr>
        <p:spPr>
          <a:xfrm rot="16200000" flipH="1">
            <a:off x="3559831" y="2023559"/>
            <a:ext cx="1188832" cy="3251320"/>
          </a:xfrm>
          <a:prstGeom prst="bentConnector3">
            <a:avLst>
              <a:gd name="adj1" fmla="val 50000"/>
            </a:avLst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Verbinder: gewinkelt 75">
            <a:extLst>
              <a:ext uri="{FF2B5EF4-FFF2-40B4-BE49-F238E27FC236}">
                <a16:creationId xmlns:a16="http://schemas.microsoft.com/office/drawing/2014/main" id="{48741D60-0FE8-FCB0-BAE3-4443BFE60699}"/>
              </a:ext>
            </a:extLst>
          </p:cNvPr>
          <p:cNvCxnSpPr>
            <a:cxnSpLocks/>
          </p:cNvCxnSpPr>
          <p:nvPr/>
        </p:nvCxnSpPr>
        <p:spPr>
          <a:xfrm>
            <a:off x="5779906" y="3649218"/>
            <a:ext cx="3253443" cy="598759"/>
          </a:xfrm>
          <a:prstGeom prst="bentConnector4">
            <a:avLst>
              <a:gd name="adj1" fmla="val 45611"/>
              <a:gd name="adj2" fmla="val -856"/>
            </a:avLst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Verbinder: gewinkelt 87">
            <a:extLst>
              <a:ext uri="{FF2B5EF4-FFF2-40B4-BE49-F238E27FC236}">
                <a16:creationId xmlns:a16="http://schemas.microsoft.com/office/drawing/2014/main" id="{CDB9C8AB-D853-AA00-34BE-0E5AAFBE0D1B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2522125" y="3054803"/>
            <a:ext cx="6462" cy="1188833"/>
          </a:xfrm>
          <a:prstGeom prst="straightConnector1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feld 95">
            <a:extLst>
              <a:ext uri="{FF2B5EF4-FFF2-40B4-BE49-F238E27FC236}">
                <a16:creationId xmlns:a16="http://schemas.microsoft.com/office/drawing/2014/main" id="{4D88A1FC-30F8-8112-4223-8414504615C9}"/>
              </a:ext>
            </a:extLst>
          </p:cNvPr>
          <p:cNvSpPr txBox="1"/>
          <p:nvPr/>
        </p:nvSpPr>
        <p:spPr>
          <a:xfrm>
            <a:off x="1928223" y="6240117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003C72"/>
                </a:solidFill>
                <a:latin typeface="Noto Sans Semibold"/>
              </a:rPr>
              <a:t>Query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F103034A-FB70-940D-61B5-F04872EAE541}"/>
              </a:ext>
            </a:extLst>
          </p:cNvPr>
          <p:cNvSpPr txBox="1"/>
          <p:nvPr/>
        </p:nvSpPr>
        <p:spPr>
          <a:xfrm>
            <a:off x="5432144" y="6240115"/>
            <a:ext cx="65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C00000"/>
                </a:solidFill>
                <a:latin typeface="Noto Sans Semibold"/>
              </a:rPr>
              <a:t>Key</a:t>
            </a: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40BAB8E8-7D99-3230-C4E2-E2E4C5CBECBF}"/>
              </a:ext>
            </a:extLst>
          </p:cNvPr>
          <p:cNvSpPr txBox="1"/>
          <p:nvPr/>
        </p:nvSpPr>
        <p:spPr>
          <a:xfrm>
            <a:off x="8592308" y="6240116"/>
            <a:ext cx="915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F59E00"/>
                </a:solidFill>
                <a:latin typeface="Noto Sans Semibold"/>
              </a:rPr>
              <a:t>Value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49336AC-3578-E17E-2DCB-C101B4EC7146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pic>
        <p:nvPicPr>
          <p:cNvPr id="12" name="Grafik 11" descr="Ein Bild, das Reihe, Design enthält.&#10;&#10;Automatisch generierte Beschreibung">
            <a:extLst>
              <a:ext uri="{FF2B5EF4-FFF2-40B4-BE49-F238E27FC236}">
                <a16:creationId xmlns:a16="http://schemas.microsoft.com/office/drawing/2014/main" id="{2A0C7926-9542-B4F2-84DC-9DC6729AAF8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6463" t="1438" r="4152" b="733"/>
          <a:stretch/>
        </p:blipFill>
        <p:spPr>
          <a:xfrm rot="5400000">
            <a:off x="8747733" y="3453593"/>
            <a:ext cx="571232" cy="2160000"/>
          </a:xfrm>
          <a:prstGeom prst="rect">
            <a:avLst/>
          </a:prstGeom>
        </p:spPr>
      </p:pic>
      <p:pic>
        <p:nvPicPr>
          <p:cNvPr id="13" name="Grafik 12" descr="Ein Bild, das Reihe, Design enthält.&#10;&#10;Automatisch generierte Beschreibung">
            <a:extLst>
              <a:ext uri="{FF2B5EF4-FFF2-40B4-BE49-F238E27FC236}">
                <a16:creationId xmlns:a16="http://schemas.microsoft.com/office/drawing/2014/main" id="{02042684-816C-66B4-0B27-0B6502E69E4D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77" t="1090" r="6060" b="992"/>
          <a:stretch/>
        </p:blipFill>
        <p:spPr>
          <a:xfrm rot="5400000">
            <a:off x="5489949" y="3453593"/>
            <a:ext cx="579916" cy="2160000"/>
          </a:xfrm>
          <a:prstGeom prst="rect">
            <a:avLst/>
          </a:prstGeom>
        </p:spPr>
      </p:pic>
      <p:pic>
        <p:nvPicPr>
          <p:cNvPr id="14" name="Grafik 13" descr="Ein Bild, das Reihe enthält.&#10;&#10;Automatisch generierte Beschreibung">
            <a:extLst>
              <a:ext uri="{FF2B5EF4-FFF2-40B4-BE49-F238E27FC236}">
                <a16:creationId xmlns:a16="http://schemas.microsoft.com/office/drawing/2014/main" id="{59734557-3865-387D-1972-752EB110DB97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074" t="2195" r="8261" b="1488"/>
          <a:stretch/>
        </p:blipFill>
        <p:spPr>
          <a:xfrm rot="5400000">
            <a:off x="2232167" y="3453593"/>
            <a:ext cx="579915" cy="21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Formel 100"/>
              <p:cNvSpPr txBox="1"/>
              <p:nvPr/>
            </p:nvSpPr>
            <p:spPr>
              <a:xfrm>
                <a:off x="6764466" y="3311999"/>
                <a:ext cx="3391068" cy="23774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16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de-DE" sz="16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6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sSub>
                        <m:sSubPr>
                          <m:ctrlPr>
                            <a:rPr lang="de-DE" sz="16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e-DE" sz="16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de-DE" sz="16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16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 </m:t>
                      </m:r>
                      <m:r>
                        <a:rPr lang="de-DE" sz="16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lang="de-DE" sz="16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6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sSub>
                        <m:sSubPr>
                          <m:ctrlPr>
                            <a:rPr lang="de-DE" sz="16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e-DE" sz="16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de-DE" sz="16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16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 </m:t>
                      </m:r>
                      <m:r>
                        <a:rPr lang="de-DE" sz="16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de-DE" sz="16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6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sSub>
                        <m:sSubPr>
                          <m:ctrlPr>
                            <a:rPr lang="de-DE" sz="16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e-DE" sz="16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de-DE" sz="1600"/>
              </a:p>
            </p:txBody>
          </p:sp>
        </mc:Choice>
        <mc:Fallback xmlns="" xmlns:m="http://schemas.openxmlformats.org/officeDocument/2006/math">
          <p:sp>
            <p:nvSpPr>
              <p:cNvPr id="100" name="Formel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4466" y="3311999"/>
                <a:ext cx="3211068" cy="23774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03572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C4883D4E-2269-3481-8FD7-C25C4030B706}"/>
              </a:ext>
            </a:extLst>
          </p:cNvPr>
          <p:cNvSpPr txBox="1"/>
          <p:nvPr/>
        </p:nvSpPr>
        <p:spPr>
          <a:xfrm>
            <a:off x="533213" y="1062366"/>
            <a:ext cx="8815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>
                    <a:lumMod val="50000"/>
                  </a:schemeClr>
                </a:solidFill>
                <a:effectLst/>
                <a:latin typeface="Noto Sans Semibold"/>
              </a:rPr>
              <a:t>3. Attention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Die Projektionsmatrizen werden gelernt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F0045A23-68D0-FE1A-43D5-C59E6B887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882" y="6524477"/>
            <a:ext cx="534844" cy="531845"/>
          </a:xfrm>
        </p:spPr>
        <p:txBody>
          <a:bodyPr/>
          <a:lstStyle/>
          <a:p>
            <a:pPr marL="108002" indent="0">
              <a:buNone/>
            </a:pPr>
            <a:r>
              <a:rPr lang="de-DE" dirty="0"/>
              <a:t> 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B1D53AC-14F0-CAE3-946A-B2D39872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70" y="6476408"/>
            <a:ext cx="768818" cy="579914"/>
          </a:xfrm>
        </p:spPr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9" name="Google Shape;177;p8">
            <a:extLst>
              <a:ext uri="{FF2B5EF4-FFF2-40B4-BE49-F238E27FC236}">
                <a16:creationId xmlns:a16="http://schemas.microsoft.com/office/drawing/2014/main" id="{45E07785-A324-632A-3BF4-3BBAB9E14542}"/>
              </a:ext>
            </a:extLst>
          </p:cNvPr>
          <p:cNvSpPr txBox="1">
            <a:spLocks/>
          </p:cNvSpPr>
          <p:nvPr/>
        </p:nvSpPr>
        <p:spPr>
          <a:xfrm>
            <a:off x="4152900" y="1718174"/>
            <a:ext cx="6847823" cy="4918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171450" indent="-171450">
              <a:lnSpc>
                <a:spcPct val="130000"/>
              </a:lnSpc>
              <a:spcBef>
                <a:spcPts val="0"/>
              </a:spcBef>
              <a:buSzPts val="200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endParaRPr lang="de-DE" sz="1000" b="1" i="0" dirty="0">
              <a:solidFill>
                <a:srgbClr val="003C72"/>
              </a:solidFill>
              <a:effectLst/>
              <a:latin typeface="Noto Sans Semibold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b="1" dirty="0">
                <a:solidFill>
                  <a:schemeClr val="bg2"/>
                </a:solidFill>
                <a:latin typeface="Noto Sans Semibold"/>
              </a:rPr>
              <a:t>W_Q, W_K und W_V sind Parameter des Modells:</a:t>
            </a: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b="1" dirty="0">
                <a:solidFill>
                  <a:schemeClr val="bg2"/>
                </a:solidFill>
                <a:latin typeface="Noto Sans Semibold"/>
              </a:rPr>
              <a:t>Sie werden im Training angepasst (Kap. 6); jeder Kopf in jedem Block hat eigene.</a:t>
            </a:r>
            <a:br>
              <a:rPr lang="de-DE" b="1" dirty="0">
                <a:solidFill>
                  <a:schemeClr val="bg2"/>
                </a:solidFill>
                <a:latin typeface="Noto Sans Semibold"/>
              </a:rPr>
            </a:br>
            <a:br>
              <a:rPr lang="de-DE" b="1" dirty="0">
                <a:solidFill>
                  <a:schemeClr val="bg2"/>
                </a:solidFill>
                <a:latin typeface="Noto Sans Semibold"/>
              </a:rPr>
            </a:br>
            <a:br>
              <a:rPr lang="de-DE" b="1" dirty="0">
                <a:solidFill>
                  <a:schemeClr val="bg2"/>
                </a:solidFill>
                <a:latin typeface="Noto Sans Semibold"/>
              </a:rPr>
            </a:br>
            <a:br>
              <a:rPr lang="de-DE" b="1" dirty="0">
                <a:solidFill>
                  <a:schemeClr val="bg2"/>
                </a:solidFill>
                <a:latin typeface="Noto Sans Semibold"/>
              </a:rPr>
            </a:br>
            <a:br>
              <a:rPr lang="de-DE" b="1" dirty="0">
                <a:solidFill>
                  <a:schemeClr val="bg2"/>
                </a:solidFill>
                <a:latin typeface="Noto Sans Semibold"/>
              </a:rPr>
            </a:br>
            <a:br>
              <a:rPr lang="de-DE" b="1" dirty="0">
                <a:solidFill>
                  <a:schemeClr val="bg2"/>
                </a:solidFill>
                <a:latin typeface="Noto Sans Semibold"/>
              </a:rPr>
            </a:br>
            <a:endParaRPr lang="de-DE" b="1" dirty="0">
              <a:solidFill>
                <a:schemeClr val="bg2"/>
              </a:solidFill>
              <a:latin typeface="Noto Sans Semibold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b="1" dirty="0">
                <a:solidFill>
                  <a:schemeClr val="bg2"/>
                </a:solidFill>
                <a:latin typeface="Noto Sans Semibold"/>
              </a:rPr>
              <a:t>Sie lernen, welche Merkmale eines Tokens als Frage (Query), Angebot (Key) und Inhalt (Value) taugen.</a:t>
            </a:r>
          </a:p>
        </p:txBody>
      </p:sp>
      <p:pic>
        <p:nvPicPr>
          <p:cNvPr id="4" name="Grafik 3" descr="Ein Bild, das Reihe, Design enthält.&#10;&#10;Automatisch generierte Beschreibung">
            <a:extLst>
              <a:ext uri="{FF2B5EF4-FFF2-40B4-BE49-F238E27FC236}">
                <a16:creationId xmlns:a16="http://schemas.microsoft.com/office/drawing/2014/main" id="{6C18081F-99CD-7FF2-B168-757E131EEF7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463" t="1438" r="4152" b="733"/>
          <a:stretch/>
        </p:blipFill>
        <p:spPr>
          <a:xfrm rot="5400000">
            <a:off x="8747733" y="3453593"/>
            <a:ext cx="571232" cy="2160000"/>
          </a:xfrm>
          <a:prstGeom prst="rect">
            <a:avLst/>
          </a:prstGeom>
        </p:spPr>
      </p:pic>
      <p:pic>
        <p:nvPicPr>
          <p:cNvPr id="8" name="Grafik 7" descr="Ein Bild, das Reihe, Design enthält.&#10;&#10;Automatisch generierte Beschreibung">
            <a:extLst>
              <a:ext uri="{FF2B5EF4-FFF2-40B4-BE49-F238E27FC236}">
                <a16:creationId xmlns:a16="http://schemas.microsoft.com/office/drawing/2014/main" id="{A2DD7D5E-19A9-CBA5-6372-464268D5DAA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77" t="1090" r="6060" b="992"/>
          <a:stretch/>
        </p:blipFill>
        <p:spPr>
          <a:xfrm rot="5400000">
            <a:off x="5489949" y="3453593"/>
            <a:ext cx="579916" cy="2160000"/>
          </a:xfrm>
          <a:prstGeom prst="rect">
            <a:avLst/>
          </a:prstGeom>
        </p:spPr>
      </p:pic>
      <p:pic>
        <p:nvPicPr>
          <p:cNvPr id="11" name="Grafik 10" descr="Ein Bild, das Reihe enthält.&#10;&#10;Automatisch generierte Beschreibung">
            <a:extLst>
              <a:ext uri="{FF2B5EF4-FFF2-40B4-BE49-F238E27FC236}">
                <a16:creationId xmlns:a16="http://schemas.microsoft.com/office/drawing/2014/main" id="{328D4086-423C-6DFA-3A0F-0D87F937F43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074" t="2195" r="8261" b="1488"/>
          <a:stretch/>
        </p:blipFill>
        <p:spPr>
          <a:xfrm rot="5400000">
            <a:off x="2232167" y="3453593"/>
            <a:ext cx="579915" cy="2160000"/>
          </a:xfrm>
          <a:prstGeom prst="rect">
            <a:avLst/>
          </a:prstGeom>
        </p:spPr>
      </p:pic>
      <p:sp>
        <p:nvSpPr>
          <p:cNvPr id="2" name="Google Shape;200;p10">
            <a:extLst>
              <a:ext uri="{FF2B5EF4-FFF2-40B4-BE49-F238E27FC236}">
                <a16:creationId xmlns:a16="http://schemas.microsoft.com/office/drawing/2014/main" id="{496D03D6-CA70-CA81-54D3-73D5C0073871}"/>
              </a:ext>
            </a:extLst>
          </p:cNvPr>
          <p:cNvSpPr/>
          <p:nvPr/>
        </p:nvSpPr>
        <p:spPr>
          <a:xfrm rot="10800000">
            <a:off x="2522124" y="5658587"/>
            <a:ext cx="1778974" cy="687767"/>
          </a:xfrm>
          <a:prstGeom prst="arc">
            <a:avLst>
              <a:gd name="adj1" fmla="val 10799015"/>
              <a:gd name="adj2" fmla="val 16354502"/>
            </a:avLst>
          </a:prstGeom>
          <a:noFill/>
          <a:ln w="28575" cap="flat" cmpd="sng">
            <a:solidFill>
              <a:srgbClr val="6001AD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71D8CAB-A5BC-3E00-FB05-D5E57B4C6D65}"/>
              </a:ext>
            </a:extLst>
          </p:cNvPr>
          <p:cNvSpPr txBox="1"/>
          <p:nvPr/>
        </p:nvSpPr>
        <p:spPr>
          <a:xfrm rot="21136568">
            <a:off x="2942841" y="6069376"/>
            <a:ext cx="563095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4000" dirty="0">
                <a:solidFill>
                  <a:srgbClr val="6001AD"/>
                </a:solidFill>
                <a:latin typeface="Smash" pitchFamily="2" charset="0"/>
              </a:rPr>
              <a:t>!!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EEBB2D0-65CD-B023-8965-772F4876A801}"/>
              </a:ext>
            </a:extLst>
          </p:cNvPr>
          <p:cNvSpPr txBox="1"/>
          <p:nvPr/>
        </p:nvSpPr>
        <p:spPr>
          <a:xfrm>
            <a:off x="1928223" y="3716876"/>
            <a:ext cx="989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err="1">
                <a:solidFill>
                  <a:srgbClr val="003C72"/>
                </a:solidFill>
                <a:latin typeface="Noto Sans Semibold"/>
              </a:rPr>
              <a:t>W</a:t>
            </a:r>
            <a:r>
              <a:rPr lang="de-DE" sz="2400" b="1" baseline="-25000" dirty="0" err="1">
                <a:solidFill>
                  <a:srgbClr val="003C72"/>
                </a:solidFill>
                <a:latin typeface="Noto Sans Semibold"/>
              </a:rPr>
              <a:t>Query</a:t>
            </a:r>
            <a:endParaRPr lang="de-DE" sz="2400" b="1" baseline="-25000" dirty="0">
              <a:solidFill>
                <a:srgbClr val="003C72"/>
              </a:solidFill>
              <a:latin typeface="Noto Sans Semibold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2417D39-1001-5EF0-DE46-96BFCAFCB3D9}"/>
              </a:ext>
            </a:extLst>
          </p:cNvPr>
          <p:cNvSpPr txBox="1"/>
          <p:nvPr/>
        </p:nvSpPr>
        <p:spPr>
          <a:xfrm>
            <a:off x="5432144" y="3716874"/>
            <a:ext cx="776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err="1">
                <a:solidFill>
                  <a:srgbClr val="C00000"/>
                </a:solidFill>
                <a:latin typeface="Noto Sans Semibold"/>
              </a:rPr>
              <a:t>W</a:t>
            </a:r>
            <a:r>
              <a:rPr lang="de-DE" sz="2400" b="1" baseline="-25000" dirty="0" err="1">
                <a:solidFill>
                  <a:srgbClr val="C00000"/>
                </a:solidFill>
                <a:latin typeface="Noto Sans Semibold"/>
              </a:rPr>
              <a:t>Key</a:t>
            </a:r>
            <a:endParaRPr lang="de-DE" sz="2400" b="1" baseline="-25000" dirty="0">
              <a:solidFill>
                <a:srgbClr val="C00000"/>
              </a:solidFill>
              <a:latin typeface="Noto Sans Semibold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7DAC44D-C907-F115-F23A-6B068BD3DA7F}"/>
              </a:ext>
            </a:extLst>
          </p:cNvPr>
          <p:cNvSpPr txBox="1"/>
          <p:nvPr/>
        </p:nvSpPr>
        <p:spPr>
          <a:xfrm>
            <a:off x="8592308" y="3716875"/>
            <a:ext cx="949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err="1">
                <a:solidFill>
                  <a:srgbClr val="F59E00"/>
                </a:solidFill>
                <a:latin typeface="Noto Sans Semibold"/>
              </a:rPr>
              <a:t>W</a:t>
            </a:r>
            <a:r>
              <a:rPr lang="de-DE" sz="2400" b="1" baseline="-25000" dirty="0" err="1">
                <a:solidFill>
                  <a:srgbClr val="F59E00"/>
                </a:solidFill>
                <a:latin typeface="Noto Sans Semibold"/>
              </a:rPr>
              <a:t>Value</a:t>
            </a:r>
            <a:endParaRPr lang="de-DE" sz="2400" b="1" baseline="-25000" dirty="0">
              <a:solidFill>
                <a:srgbClr val="F59E00"/>
              </a:solidFill>
              <a:latin typeface="Noto Sans Semibold"/>
            </a:endParaRPr>
          </a:p>
        </p:txBody>
      </p:sp>
      <p:sp>
        <p:nvSpPr>
          <p:cNvPr id="13" name="Google Shape;200;p10">
            <a:extLst>
              <a:ext uri="{FF2B5EF4-FFF2-40B4-BE49-F238E27FC236}">
                <a16:creationId xmlns:a16="http://schemas.microsoft.com/office/drawing/2014/main" id="{F34F62BC-5E47-0EF2-9F83-60DA11E975B0}"/>
              </a:ext>
            </a:extLst>
          </p:cNvPr>
          <p:cNvSpPr/>
          <p:nvPr/>
        </p:nvSpPr>
        <p:spPr>
          <a:xfrm rot="14044647">
            <a:off x="630739" y="2896208"/>
            <a:ext cx="1778974" cy="687767"/>
          </a:xfrm>
          <a:prstGeom prst="arc">
            <a:avLst>
              <a:gd name="adj1" fmla="val 10799015"/>
              <a:gd name="adj2" fmla="val 16354502"/>
            </a:avLst>
          </a:prstGeom>
          <a:noFill/>
          <a:ln w="28575" cap="flat" cmpd="sng">
            <a:solidFill>
              <a:srgbClr val="6001AD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A9EE8BF-07A3-7582-FBA3-0DEF63FC7682}"/>
              </a:ext>
            </a:extLst>
          </p:cNvPr>
          <p:cNvSpPr txBox="1"/>
          <p:nvPr/>
        </p:nvSpPr>
        <p:spPr>
          <a:xfrm rot="21136568">
            <a:off x="382142" y="3102821"/>
            <a:ext cx="192232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rgbClr val="6001AD"/>
                </a:solidFill>
                <a:latin typeface="Smash" pitchFamily="2" charset="0"/>
              </a:rPr>
              <a:t>„Gewichtsmatrix“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38231E14-262F-2583-E264-DA6F7067FF68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</p:spTree>
    <p:extLst>
      <p:ext uri="{BB962C8B-B14F-4D97-AF65-F5344CB8AC3E}">
        <p14:creationId xmlns:p14="http://schemas.microsoft.com/office/powerpoint/2010/main" val="22039165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6F9E25DD-FB7A-87C0-9954-F118AACB89B9}"/>
              </a:ext>
            </a:extLst>
          </p:cNvPr>
          <p:cNvGraphicFramePr>
            <a:graphicFrameLocks noGrp="1"/>
          </p:cNvGraphicFramePr>
          <p:nvPr/>
        </p:nvGraphicFramePr>
        <p:xfrm>
          <a:off x="8171632" y="3859881"/>
          <a:ext cx="2841555" cy="2846605"/>
        </p:xfrm>
        <a:graphic>
          <a:graphicData uri="http://schemas.openxmlformats.org/drawingml/2006/table">
            <a:tbl>
              <a:tblPr/>
              <a:tblGrid>
                <a:gridCol w="568311">
                  <a:extLst>
                    <a:ext uri="{9D8B030D-6E8A-4147-A177-3AD203B41FA5}">
                      <a16:colId xmlns:a16="http://schemas.microsoft.com/office/drawing/2014/main" val="2119810140"/>
                    </a:ext>
                  </a:extLst>
                </a:gridCol>
                <a:gridCol w="568311">
                  <a:extLst>
                    <a:ext uri="{9D8B030D-6E8A-4147-A177-3AD203B41FA5}">
                      <a16:colId xmlns:a16="http://schemas.microsoft.com/office/drawing/2014/main" val="2186619292"/>
                    </a:ext>
                  </a:extLst>
                </a:gridCol>
                <a:gridCol w="568311">
                  <a:extLst>
                    <a:ext uri="{9D8B030D-6E8A-4147-A177-3AD203B41FA5}">
                      <a16:colId xmlns:a16="http://schemas.microsoft.com/office/drawing/2014/main" val="702902160"/>
                    </a:ext>
                  </a:extLst>
                </a:gridCol>
                <a:gridCol w="568311">
                  <a:extLst>
                    <a:ext uri="{9D8B030D-6E8A-4147-A177-3AD203B41FA5}">
                      <a16:colId xmlns:a16="http://schemas.microsoft.com/office/drawing/2014/main" val="2463979912"/>
                    </a:ext>
                  </a:extLst>
                </a:gridCol>
                <a:gridCol w="568311">
                  <a:extLst>
                    <a:ext uri="{9D8B030D-6E8A-4147-A177-3AD203B41FA5}">
                      <a16:colId xmlns:a16="http://schemas.microsoft.com/office/drawing/2014/main" val="2907725507"/>
                    </a:ext>
                  </a:extLst>
                </a:gridCol>
              </a:tblGrid>
              <a:tr h="569321">
                <a:tc>
                  <a:txBody>
                    <a:bodyPr/>
                    <a:lstStyle/>
                    <a:p>
                      <a:pPr algn="ctr" fontAlgn="b"/>
                      <a:endParaRPr lang="de-DE" sz="1000" b="1" dirty="0">
                        <a:effectLst/>
                        <a:latin typeface="Noto Sans Semibold"/>
                      </a:endParaRPr>
                    </a:p>
                  </a:txBody>
                  <a:tcPr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000" b="1" i="1" dirty="0">
                        <a:effectLst/>
                        <a:latin typeface="Noto Sans Semibold"/>
                      </a:endParaRPr>
                    </a:p>
                  </a:txBody>
                  <a:tcPr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000" b="1" i="1" dirty="0">
                        <a:effectLst/>
                        <a:latin typeface="Noto Sans Semibold"/>
                      </a:endParaRPr>
                    </a:p>
                  </a:txBody>
                  <a:tcPr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800" b="1" i="1" dirty="0">
                        <a:effectLst/>
                        <a:latin typeface="Noto Sans Semibold"/>
                      </a:endParaRPr>
                    </a:p>
                  </a:txBody>
                  <a:tcPr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000" b="1" i="1" dirty="0">
                        <a:effectLst/>
                        <a:latin typeface="Noto Sans Semibold"/>
                      </a:endParaRPr>
                    </a:p>
                  </a:txBody>
                  <a:tcPr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304065"/>
                  </a:ext>
                </a:extLst>
              </a:tr>
              <a:tr h="569321">
                <a:tc>
                  <a:txBody>
                    <a:bodyPr/>
                    <a:lstStyle/>
                    <a:p>
                      <a:pPr algn="r" fontAlgn="base"/>
                      <a:r>
                        <a:rPr lang="de-DE" sz="1000" b="1" i="1" dirty="0">
                          <a:effectLst/>
                          <a:latin typeface="Noto Sans Semibold"/>
                        </a:rPr>
                        <a:t>Gut</a:t>
                      </a:r>
                    </a:p>
                  </a:txBody>
                  <a:tcPr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2929"/>
                  </a:ext>
                </a:extLst>
              </a:tr>
              <a:tr h="569321">
                <a:tc>
                  <a:txBody>
                    <a:bodyPr/>
                    <a:lstStyle/>
                    <a:p>
                      <a:pPr algn="r" fontAlgn="base"/>
                      <a:r>
                        <a:rPr lang="de-DE" sz="1000" b="1" i="1" dirty="0">
                          <a:effectLst/>
                          <a:latin typeface="Noto Sans Semibold"/>
                        </a:rPr>
                        <a:t>Ding</a:t>
                      </a:r>
                    </a:p>
                  </a:txBody>
                  <a:tcPr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b="1" dirty="0">
                          <a:solidFill>
                            <a:srgbClr val="C00000"/>
                          </a:solidFill>
                          <a:effectLst/>
                          <a:latin typeface="Noto Sans Semibold"/>
                        </a:rPr>
                        <a:t>0.6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600" dirty="0">
                          <a:effectLst/>
                          <a:latin typeface="Noto Sans Semibold"/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307876"/>
                  </a:ext>
                </a:extLst>
              </a:tr>
              <a:tr h="569321">
                <a:tc>
                  <a:txBody>
                    <a:bodyPr/>
                    <a:lstStyle/>
                    <a:p>
                      <a:pPr algn="r" fontAlgn="base"/>
                      <a:r>
                        <a:rPr lang="de-DE" sz="800" b="1" i="1" dirty="0">
                          <a:effectLst/>
                          <a:latin typeface="Noto Sans Semibold"/>
                        </a:rPr>
                        <a:t>braucht</a:t>
                      </a:r>
                    </a:p>
                  </a:txBody>
                  <a:tcPr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b="1" dirty="0">
                          <a:solidFill>
                            <a:srgbClr val="3B9927"/>
                          </a:solidFill>
                          <a:effectLst/>
                          <a:latin typeface="Noto Sans Semibold"/>
                        </a:rPr>
                        <a:t>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789798"/>
                  </a:ext>
                </a:extLst>
              </a:tr>
              <a:tr h="569321">
                <a:tc>
                  <a:txBody>
                    <a:bodyPr/>
                    <a:lstStyle/>
                    <a:p>
                      <a:pPr algn="r" fontAlgn="base"/>
                      <a:r>
                        <a:rPr lang="de-DE" sz="1000" b="1" i="1" dirty="0">
                          <a:effectLst/>
                          <a:latin typeface="Noto Sans Semibold"/>
                        </a:rPr>
                        <a:t>Weile</a:t>
                      </a:r>
                    </a:p>
                  </a:txBody>
                  <a:tcPr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b="1" dirty="0">
                          <a:solidFill>
                            <a:srgbClr val="003C72"/>
                          </a:solidFill>
                          <a:effectLst/>
                          <a:latin typeface="Noto Sans Semibold"/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574757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C4883D4E-2269-3481-8FD7-C25C4030B706}"/>
              </a:ext>
            </a:extLst>
          </p:cNvPr>
          <p:cNvSpPr txBox="1"/>
          <p:nvPr/>
        </p:nvSpPr>
        <p:spPr>
          <a:xfrm>
            <a:off x="533213" y="1062039"/>
            <a:ext cx="9451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>
                    <a:lumMod val="50000"/>
                  </a:schemeClr>
                </a:solidFill>
                <a:effectLst/>
                <a:latin typeface="Noto Sans Semibold"/>
              </a:rPr>
              <a:t>3. Attention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Score = Skalarprodukt aus Query und Key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F0045A23-68D0-FE1A-43D5-C59E6B887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824" y="6390806"/>
            <a:ext cx="534844" cy="531845"/>
          </a:xfrm>
        </p:spPr>
        <p:txBody>
          <a:bodyPr/>
          <a:lstStyle/>
          <a:p>
            <a:pPr marL="108002" indent="0">
              <a:buNone/>
            </a:pPr>
            <a:r>
              <a:rPr lang="de-DE" dirty="0"/>
              <a:t> 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B1D53AC-14F0-CAE3-946A-B2D39872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12" y="6342737"/>
            <a:ext cx="768818" cy="579914"/>
          </a:xfrm>
        </p:spPr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9" name="Google Shape;177;p8">
            <a:extLst>
              <a:ext uri="{FF2B5EF4-FFF2-40B4-BE49-F238E27FC236}">
                <a16:creationId xmlns:a16="http://schemas.microsoft.com/office/drawing/2014/main" id="{45E07785-A324-632A-3BF4-3BBAB9E14542}"/>
              </a:ext>
            </a:extLst>
          </p:cNvPr>
          <p:cNvSpPr txBox="1">
            <a:spLocks/>
          </p:cNvSpPr>
          <p:nvPr/>
        </p:nvSpPr>
        <p:spPr>
          <a:xfrm>
            <a:off x="573829" y="1744256"/>
            <a:ext cx="7567427" cy="1150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SzPts val="2000"/>
              <a:buFont typeface="Noto Sans Symbols"/>
              <a:buNone/>
            </a:pPr>
            <a:endParaRPr lang="de-DE" sz="1000" b="1" dirty="0">
              <a:solidFill>
                <a:srgbClr val="003C72"/>
              </a:solidFill>
              <a:effectLst/>
              <a:latin typeface="Noto Sans Semibold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 r:embed="rId3"/>
              </a:buBlip>
            </a:pPr>
            <a:r>
              <a:rPr lang="de-DE" b="1" dirty="0">
                <a:solidFill>
                  <a:schemeClr val="bg2"/>
                </a:solidFill>
                <a:latin typeface="Noto Sans Semibold"/>
              </a:rPr>
              <a:t>Score(i, j) = q</a:t>
            </a:r>
            <a:r>
              <a:rPr lang="de-DE" b="1" baseline="-25000" dirty="0">
                <a:solidFill>
                  <a:schemeClr val="bg2"/>
                </a:solidFill>
                <a:latin typeface="Noto Sans Semibold"/>
              </a:rPr>
              <a:t>i</a:t>
            </a:r>
            <a:r>
              <a:rPr lang="de-DE" b="1" dirty="0">
                <a:solidFill>
                  <a:schemeClr val="bg2"/>
                </a:solidFill>
                <a:latin typeface="Noto Sans Semibold"/>
              </a:rPr>
              <a:t> · k</a:t>
            </a:r>
            <a:r>
              <a:rPr lang="de-DE" b="1" baseline="-25000" dirty="0">
                <a:solidFill>
                  <a:schemeClr val="bg2"/>
                </a:solidFill>
                <a:latin typeface="Noto Sans Semibold"/>
              </a:rPr>
              <a:t>j</a:t>
            </a:r>
            <a:r>
              <a:rPr lang="de-DE" b="1" dirty="0">
                <a:solidFill>
                  <a:schemeClr val="bg2"/>
                </a:solidFill>
                <a:latin typeface="Noto Sans Semibold"/>
              </a:rPr>
              <a:t>: Wie gut passt das Angebot (Key) von Token j zur Frage (Query) von Token i?</a:t>
            </a: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 r:embed="rId3"/>
              </a:buBlip>
            </a:pPr>
            <a:r>
              <a:rPr lang="de-DE" b="1" dirty="0">
                <a:solidFill>
                  <a:srgbClr val="008891"/>
                </a:solidFill>
                <a:latin typeface="Noto Sans Semibold"/>
              </a:rPr>
              <a:t>Gelernt und nicht symmetrisch: Score(i, j) ≠ Score(j, i). Die Softmax macht aus Scores Gewichte (nächste Folie).</a:t>
            </a:r>
          </a:p>
        </p:txBody>
      </p:sp>
      <p:sp>
        <p:nvSpPr>
          <p:cNvPr id="12" name="Google Shape;177;p8">
            <a:extLst>
              <a:ext uri="{FF2B5EF4-FFF2-40B4-BE49-F238E27FC236}">
                <a16:creationId xmlns:a16="http://schemas.microsoft.com/office/drawing/2014/main" id="{DC47715A-8C14-98C0-07E6-E8DC284B2405}"/>
              </a:ext>
            </a:extLst>
          </p:cNvPr>
          <p:cNvSpPr txBox="1">
            <a:spLocks/>
          </p:cNvSpPr>
          <p:nvPr/>
        </p:nvSpPr>
        <p:spPr>
          <a:xfrm>
            <a:off x="6586029" y="4296048"/>
            <a:ext cx="823819" cy="2242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 algn="r">
              <a:lnSpc>
                <a:spcPct val="30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250" b="1" i="1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Gut</a:t>
            </a:r>
          </a:p>
          <a:p>
            <a:pPr marL="0" indent="0" algn="r">
              <a:lnSpc>
                <a:spcPct val="30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200" b="1" i="1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Ding</a:t>
            </a:r>
          </a:p>
          <a:p>
            <a:pPr marL="0" indent="0" algn="r">
              <a:lnSpc>
                <a:spcPct val="30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200" b="1" i="1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braucht</a:t>
            </a:r>
            <a:r>
              <a:rPr lang="de-DE" sz="1200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 </a:t>
            </a:r>
          </a:p>
          <a:p>
            <a:pPr marL="0" indent="0" algn="r">
              <a:lnSpc>
                <a:spcPct val="30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200" b="1" i="1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Weile</a:t>
            </a:r>
            <a:endParaRPr lang="en-US" sz="1200" b="1" i="1" dirty="0">
              <a:solidFill>
                <a:srgbClr val="003C72"/>
              </a:solidFill>
              <a:latin typeface="Noto Sans Semibold"/>
            </a:endParaRPr>
          </a:p>
        </p:txBody>
      </p:sp>
      <p:sp>
        <p:nvSpPr>
          <p:cNvPr id="13" name="Google Shape;177;p8">
            <a:extLst>
              <a:ext uri="{FF2B5EF4-FFF2-40B4-BE49-F238E27FC236}">
                <a16:creationId xmlns:a16="http://schemas.microsoft.com/office/drawing/2014/main" id="{9D95FF49-6357-139A-655F-9874D18AC7EA}"/>
              </a:ext>
            </a:extLst>
          </p:cNvPr>
          <p:cNvSpPr txBox="1">
            <a:spLocks/>
          </p:cNvSpPr>
          <p:nvPr/>
        </p:nvSpPr>
        <p:spPr>
          <a:xfrm rot="16200000">
            <a:off x="9325376" y="1656757"/>
            <a:ext cx="756103" cy="231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lnSpc>
                <a:spcPct val="30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250" b="1" i="1" dirty="0">
                <a:solidFill>
                  <a:srgbClr val="C00000"/>
                </a:solidFill>
                <a:latin typeface="Noto Sans Semibold"/>
                <a:ea typeface="Arial"/>
                <a:cs typeface="Arial"/>
                <a:sym typeface="Arial"/>
              </a:rPr>
              <a:t>Gut</a:t>
            </a:r>
          </a:p>
          <a:p>
            <a:pPr marL="0" indent="0">
              <a:lnSpc>
                <a:spcPct val="30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250" b="1" i="1" dirty="0">
                <a:solidFill>
                  <a:srgbClr val="C00000"/>
                </a:solidFill>
                <a:latin typeface="Noto Sans Semibold"/>
                <a:ea typeface="Arial"/>
                <a:cs typeface="Arial"/>
                <a:sym typeface="Arial"/>
              </a:rPr>
              <a:t>Ding</a:t>
            </a:r>
          </a:p>
          <a:p>
            <a:pPr marL="0" indent="0">
              <a:lnSpc>
                <a:spcPct val="30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250" b="1" i="1" dirty="0">
                <a:solidFill>
                  <a:srgbClr val="C00000"/>
                </a:solidFill>
                <a:latin typeface="Noto Sans Semibold"/>
                <a:ea typeface="Arial"/>
                <a:cs typeface="Arial"/>
                <a:sym typeface="Arial"/>
              </a:rPr>
              <a:t>braucht</a:t>
            </a:r>
            <a:r>
              <a:rPr lang="de-DE" sz="1250" dirty="0">
                <a:solidFill>
                  <a:srgbClr val="C00000"/>
                </a:solidFill>
                <a:latin typeface="Noto Sans Semibold"/>
                <a:ea typeface="Arial"/>
                <a:cs typeface="Arial"/>
                <a:sym typeface="Arial"/>
              </a:rPr>
              <a:t> </a:t>
            </a:r>
          </a:p>
          <a:p>
            <a:pPr marL="0" indent="0">
              <a:lnSpc>
                <a:spcPct val="30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250" b="1" i="1" dirty="0">
                <a:solidFill>
                  <a:srgbClr val="C00000"/>
                </a:solidFill>
                <a:latin typeface="Noto Sans Semibold"/>
                <a:ea typeface="Arial"/>
                <a:cs typeface="Arial"/>
                <a:sym typeface="Arial"/>
              </a:rPr>
              <a:t>Weile</a:t>
            </a:r>
            <a:endParaRPr lang="en-US" sz="1250" b="1" i="1" dirty="0">
              <a:solidFill>
                <a:srgbClr val="C00000"/>
              </a:solidFill>
              <a:latin typeface="Noto Sans Semibold"/>
            </a:endParaRPr>
          </a:p>
        </p:txBody>
      </p:sp>
      <p:sp>
        <p:nvSpPr>
          <p:cNvPr id="16" name="Textplatzhalter 16">
            <a:extLst>
              <a:ext uri="{FF2B5EF4-FFF2-40B4-BE49-F238E27FC236}">
                <a16:creationId xmlns:a16="http://schemas.microsoft.com/office/drawing/2014/main" id="{0CBC959A-C26E-6130-DD5F-9633F3FDC577}"/>
              </a:ext>
            </a:extLst>
          </p:cNvPr>
          <p:cNvSpPr txBox="1">
            <a:spLocks/>
          </p:cNvSpPr>
          <p:nvPr/>
        </p:nvSpPr>
        <p:spPr>
          <a:xfrm>
            <a:off x="226824" y="6390806"/>
            <a:ext cx="534844" cy="53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108002" indent="0">
              <a:buFont typeface="Noto Sans Symbols"/>
              <a:buNone/>
            </a:pPr>
            <a:r>
              <a:rPr lang="de-DE" dirty="0">
                <a:latin typeface="Noto Sans Semibold"/>
              </a:rPr>
              <a:t> </a:t>
            </a:r>
          </a:p>
        </p:txBody>
      </p:sp>
      <p:sp>
        <p:nvSpPr>
          <p:cNvPr id="18" name="Titel 19">
            <a:extLst>
              <a:ext uri="{FF2B5EF4-FFF2-40B4-BE49-F238E27FC236}">
                <a16:creationId xmlns:a16="http://schemas.microsoft.com/office/drawing/2014/main" id="{9816C09E-0DA8-A0AC-D7DE-18F5EB150B45}"/>
              </a:ext>
            </a:extLst>
          </p:cNvPr>
          <p:cNvSpPr txBox="1">
            <a:spLocks/>
          </p:cNvSpPr>
          <p:nvPr/>
        </p:nvSpPr>
        <p:spPr>
          <a:xfrm>
            <a:off x="291012" y="5654671"/>
            <a:ext cx="768818" cy="579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  <a:defRPr sz="3600" b="0" i="0" u="none" strike="noStrike" cap="none">
                <a:solidFill>
                  <a:srgbClr val="FFFFFF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 dirty="0">
                <a:latin typeface="Noto Sans Semibold"/>
              </a:rPr>
              <a:t> </a:t>
            </a:r>
          </a:p>
        </p:txBody>
      </p:sp>
      <p:pic>
        <p:nvPicPr>
          <p:cNvPr id="19" name="Grafik 18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16E47DD4-D401-B69A-C281-5DA6C4A07C9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0641" t="3511" r="30275" b="91090"/>
          <a:stretch/>
        </p:blipFill>
        <p:spPr>
          <a:xfrm>
            <a:off x="7463068" y="4564658"/>
            <a:ext cx="1198693" cy="251557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21" name="Grafik 20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CEC95F2A-9F87-C20A-0013-2AA208D3A6F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70324" t="41694" r="592" b="53747"/>
          <a:stretch/>
        </p:blipFill>
        <p:spPr>
          <a:xfrm rot="5400000">
            <a:off x="8388895" y="3657186"/>
            <a:ext cx="1198693" cy="218526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B2DDB766-9E14-76BC-9847-4CB743B7AD7B}"/>
              </a:ext>
            </a:extLst>
          </p:cNvPr>
          <p:cNvSpPr txBox="1"/>
          <p:nvPr/>
        </p:nvSpPr>
        <p:spPr>
          <a:xfrm>
            <a:off x="5520289" y="5250973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003C72"/>
                </a:solidFill>
                <a:latin typeface="Noto Sans Semibold"/>
              </a:rPr>
              <a:t>Query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CE83D47-E470-3C02-0EAB-A661CF5F9968}"/>
              </a:ext>
            </a:extLst>
          </p:cNvPr>
          <p:cNvSpPr txBox="1"/>
          <p:nvPr/>
        </p:nvSpPr>
        <p:spPr>
          <a:xfrm>
            <a:off x="9453371" y="1949713"/>
            <a:ext cx="65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C00000"/>
                </a:solidFill>
                <a:latin typeface="Noto Sans Semibold"/>
              </a:rPr>
              <a:t>Key</a:t>
            </a:r>
          </a:p>
        </p:txBody>
      </p:sp>
      <p:sp>
        <p:nvSpPr>
          <p:cNvPr id="29" name="Pfeil: nach rechts 28">
            <a:extLst>
              <a:ext uri="{FF2B5EF4-FFF2-40B4-BE49-F238E27FC236}">
                <a16:creationId xmlns:a16="http://schemas.microsoft.com/office/drawing/2014/main" id="{B6F73BE7-3C24-2D65-5B21-180EA738872F}"/>
              </a:ext>
            </a:extLst>
          </p:cNvPr>
          <p:cNvSpPr/>
          <p:nvPr/>
        </p:nvSpPr>
        <p:spPr>
          <a:xfrm>
            <a:off x="3724950" y="4927113"/>
            <a:ext cx="1042147" cy="1109383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ECC55998-2C4A-04DD-E5C9-98CF31389915}"/>
              </a:ext>
            </a:extLst>
          </p:cNvPr>
          <p:cNvGraphicFramePr>
            <a:graphicFrameLocks noGrp="1"/>
          </p:cNvGraphicFramePr>
          <p:nvPr/>
        </p:nvGraphicFramePr>
        <p:xfrm>
          <a:off x="427812" y="3859880"/>
          <a:ext cx="2841555" cy="2846605"/>
        </p:xfrm>
        <a:graphic>
          <a:graphicData uri="http://schemas.openxmlformats.org/drawingml/2006/table">
            <a:tbl>
              <a:tblPr/>
              <a:tblGrid>
                <a:gridCol w="568311">
                  <a:extLst>
                    <a:ext uri="{9D8B030D-6E8A-4147-A177-3AD203B41FA5}">
                      <a16:colId xmlns:a16="http://schemas.microsoft.com/office/drawing/2014/main" val="2119810140"/>
                    </a:ext>
                  </a:extLst>
                </a:gridCol>
                <a:gridCol w="568311">
                  <a:extLst>
                    <a:ext uri="{9D8B030D-6E8A-4147-A177-3AD203B41FA5}">
                      <a16:colId xmlns:a16="http://schemas.microsoft.com/office/drawing/2014/main" val="2186619292"/>
                    </a:ext>
                  </a:extLst>
                </a:gridCol>
                <a:gridCol w="568311">
                  <a:extLst>
                    <a:ext uri="{9D8B030D-6E8A-4147-A177-3AD203B41FA5}">
                      <a16:colId xmlns:a16="http://schemas.microsoft.com/office/drawing/2014/main" val="702902160"/>
                    </a:ext>
                  </a:extLst>
                </a:gridCol>
                <a:gridCol w="568311">
                  <a:extLst>
                    <a:ext uri="{9D8B030D-6E8A-4147-A177-3AD203B41FA5}">
                      <a16:colId xmlns:a16="http://schemas.microsoft.com/office/drawing/2014/main" val="2463979912"/>
                    </a:ext>
                  </a:extLst>
                </a:gridCol>
                <a:gridCol w="568311">
                  <a:extLst>
                    <a:ext uri="{9D8B030D-6E8A-4147-A177-3AD203B41FA5}">
                      <a16:colId xmlns:a16="http://schemas.microsoft.com/office/drawing/2014/main" val="2907725507"/>
                    </a:ext>
                  </a:extLst>
                </a:gridCol>
              </a:tblGrid>
              <a:tr h="569321">
                <a:tc>
                  <a:txBody>
                    <a:bodyPr/>
                    <a:lstStyle/>
                    <a:p>
                      <a:pPr algn="ctr" fontAlgn="b"/>
                      <a:endParaRPr lang="de-DE" sz="1000" b="1" dirty="0">
                        <a:effectLst/>
                        <a:latin typeface="Noto Sans Semibold"/>
                      </a:endParaRPr>
                    </a:p>
                  </a:txBody>
                  <a:tcPr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000" b="1" i="1" dirty="0">
                          <a:effectLst/>
                          <a:latin typeface="Noto Sans Semibold"/>
                        </a:rPr>
                        <a:t>Gut</a:t>
                      </a:r>
                    </a:p>
                  </a:txBody>
                  <a:tcPr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000" b="1" i="1" dirty="0">
                          <a:effectLst/>
                          <a:latin typeface="Noto Sans Semibold"/>
                        </a:rPr>
                        <a:t>Ding</a:t>
                      </a:r>
                    </a:p>
                  </a:txBody>
                  <a:tcPr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800" b="1" i="1" dirty="0">
                          <a:effectLst/>
                          <a:latin typeface="Noto Sans Semibold"/>
                        </a:rPr>
                        <a:t>braucht</a:t>
                      </a:r>
                    </a:p>
                  </a:txBody>
                  <a:tcPr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000" b="1" i="1" dirty="0">
                          <a:effectLst/>
                          <a:latin typeface="Noto Sans Semibold"/>
                        </a:rPr>
                        <a:t>Weile</a:t>
                      </a:r>
                    </a:p>
                  </a:txBody>
                  <a:tcPr anchor="b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304065"/>
                  </a:ext>
                </a:extLst>
              </a:tr>
              <a:tr h="569321">
                <a:tc>
                  <a:txBody>
                    <a:bodyPr/>
                    <a:lstStyle/>
                    <a:p>
                      <a:pPr algn="r" fontAlgn="base"/>
                      <a:r>
                        <a:rPr lang="de-DE" sz="1000" b="1" i="1" dirty="0">
                          <a:effectLst/>
                          <a:latin typeface="Noto Sans Semibold"/>
                        </a:rPr>
                        <a:t>Gut</a:t>
                      </a:r>
                    </a:p>
                  </a:txBody>
                  <a:tcPr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2929"/>
                  </a:ext>
                </a:extLst>
              </a:tr>
              <a:tr h="569321">
                <a:tc>
                  <a:txBody>
                    <a:bodyPr/>
                    <a:lstStyle/>
                    <a:p>
                      <a:pPr algn="r" fontAlgn="base"/>
                      <a:r>
                        <a:rPr lang="de-DE" sz="1000" b="1" i="1" dirty="0">
                          <a:effectLst/>
                          <a:latin typeface="Noto Sans Semibold"/>
                        </a:rPr>
                        <a:t>Ding</a:t>
                      </a:r>
                    </a:p>
                  </a:txBody>
                  <a:tcPr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b="1" dirty="0">
                          <a:solidFill>
                            <a:srgbClr val="C00000"/>
                          </a:solidFill>
                          <a:effectLst/>
                          <a:latin typeface="Noto Sans Semibold"/>
                        </a:rPr>
                        <a:t>0.6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600" dirty="0">
                          <a:effectLst/>
                          <a:latin typeface="Noto Sans Semibold"/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307876"/>
                  </a:ext>
                </a:extLst>
              </a:tr>
              <a:tr h="569321">
                <a:tc>
                  <a:txBody>
                    <a:bodyPr/>
                    <a:lstStyle/>
                    <a:p>
                      <a:pPr algn="r" fontAlgn="base"/>
                      <a:r>
                        <a:rPr lang="de-DE" sz="800" b="1" i="1" dirty="0">
                          <a:effectLst/>
                          <a:latin typeface="Noto Sans Semibold"/>
                        </a:rPr>
                        <a:t>braucht</a:t>
                      </a:r>
                    </a:p>
                  </a:txBody>
                  <a:tcPr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b="1" dirty="0">
                          <a:solidFill>
                            <a:srgbClr val="3B9927"/>
                          </a:solidFill>
                          <a:effectLst/>
                          <a:latin typeface="Noto Sans Semibold"/>
                        </a:rPr>
                        <a:t>0.4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789798"/>
                  </a:ext>
                </a:extLst>
              </a:tr>
              <a:tr h="569321">
                <a:tc>
                  <a:txBody>
                    <a:bodyPr/>
                    <a:lstStyle/>
                    <a:p>
                      <a:pPr algn="r" fontAlgn="base"/>
                      <a:r>
                        <a:rPr lang="de-DE" sz="1000" b="1" i="1" dirty="0">
                          <a:effectLst/>
                          <a:latin typeface="Noto Sans Semibold"/>
                        </a:rPr>
                        <a:t>Weile</a:t>
                      </a:r>
                    </a:p>
                  </a:txBody>
                  <a:tcPr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b="1" dirty="0">
                          <a:solidFill>
                            <a:srgbClr val="003C72"/>
                          </a:solidFill>
                          <a:effectLst/>
                          <a:latin typeface="Noto Sans Semibold"/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168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de-DE" sz="1600" dirty="0">
                          <a:effectLst/>
                          <a:latin typeface="Noto Sans Semibold"/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574757"/>
                  </a:ext>
                </a:extLst>
              </a:tr>
            </a:tbl>
          </a:graphicData>
        </a:graphic>
      </p:graphicFrame>
      <p:pic>
        <p:nvPicPr>
          <p:cNvPr id="15" name="Grafik 14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E52A143C-560A-7CFF-36EB-155AF33B408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0641" t="13640" r="30275" b="80961"/>
          <a:stretch/>
        </p:blipFill>
        <p:spPr>
          <a:xfrm>
            <a:off x="7463068" y="5138648"/>
            <a:ext cx="1198693" cy="251557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22" name="Grafik 21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B781A627-3940-2109-74D3-70CE34D5C5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0641" t="26118" r="30275" b="68483"/>
          <a:stretch/>
        </p:blipFill>
        <p:spPr>
          <a:xfrm>
            <a:off x="7463068" y="5712638"/>
            <a:ext cx="1198693" cy="251557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25" name="Grafik 24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4E12FCD4-15CC-8107-B4AE-15784FE3DB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0641" t="38941" r="30275" b="55660"/>
          <a:stretch/>
        </p:blipFill>
        <p:spPr>
          <a:xfrm>
            <a:off x="7463068" y="6286628"/>
            <a:ext cx="1198693" cy="251557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27" name="Grafik 26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E347EDDC-B9C9-AD7C-3A9A-33DCCAD568B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70324" t="29813" r="592" b="65628"/>
          <a:stretch/>
        </p:blipFill>
        <p:spPr>
          <a:xfrm rot="5400000">
            <a:off x="8963288" y="3657187"/>
            <a:ext cx="1198693" cy="218526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pic>
        <p:nvPicPr>
          <p:cNvPr id="28" name="Grafik 27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40DCB95E-B362-8033-C1C3-14385A4C7F3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70324" t="16521" r="592" b="78920"/>
          <a:stretch/>
        </p:blipFill>
        <p:spPr>
          <a:xfrm rot="5400000">
            <a:off x="9537681" y="3655485"/>
            <a:ext cx="1198693" cy="218526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pic>
        <p:nvPicPr>
          <p:cNvPr id="31" name="Grafik 30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FA577660-F83B-C58D-9A95-D14A981335A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70324" t="4959" r="592" b="90482"/>
          <a:stretch/>
        </p:blipFill>
        <p:spPr>
          <a:xfrm rot="5400000">
            <a:off x="10112073" y="3651402"/>
            <a:ext cx="1198693" cy="218526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2F706308-ADCA-80A0-49BD-417A5E15D401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</p:spTree>
    <p:extLst>
      <p:ext uri="{BB962C8B-B14F-4D97-AF65-F5344CB8AC3E}">
        <p14:creationId xmlns:p14="http://schemas.microsoft.com/office/powerpoint/2010/main" val="26150095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3. Attention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Von Scores zu Gewichten: die Formel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2000" y="1764000"/>
            <a:ext cx="162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6001AD"/>
                </a:solidFill>
              </a:rPr>
              <a:t>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Formel 6"/>
              <p:cNvSpPr txBox="1"/>
              <p:nvPr/>
            </p:nvSpPr>
            <p:spPr>
              <a:xfrm>
                <a:off x="3028584" y="1692000"/>
                <a:ext cx="1502832" cy="62788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0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𝐪</m:t>
                              </m:r>
                            </m:e>
                            <m:sub>
                              <m: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de-DE" sz="20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e>
                            <m:sub>
                              <m: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de-DE" sz="20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de-DE" sz="20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de-DE" sz="2000"/>
              </a:p>
            </p:txBody>
          </p:sp>
        </mc:Choice>
        <mc:Fallback xmlns="" xmlns:m="http://schemas.openxmlformats.org/officeDocument/2006/math">
          <p:sp>
            <p:nvSpPr>
              <p:cNvPr id="6" name="Formel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584" y="1692000"/>
                <a:ext cx="1322832" cy="6278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22000" y="2628000"/>
            <a:ext cx="162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6001AD"/>
                </a:solidFill>
              </a:rPr>
              <a:t>Gewicht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Formel 8"/>
              <p:cNvSpPr txBox="1"/>
              <p:nvPr/>
            </p:nvSpPr>
            <p:spPr>
              <a:xfrm>
                <a:off x="2750454" y="2484000"/>
                <a:ext cx="2059092" cy="65074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0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sz="20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de-DE" sz="20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e>
                          </m:nary>
                          <m:d>
                            <m:dPr>
                              <m:ctrlP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0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sz="20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𝑖𝑙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de-DE" sz="2000"/>
              </a:p>
            </p:txBody>
          </p:sp>
        </mc:Choice>
        <mc:Fallback xmlns="" xmlns:m="http://schemas.openxmlformats.org/officeDocument/2006/math">
          <p:sp>
            <p:nvSpPr>
              <p:cNvPr id="8" name="Formel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454" y="2484000"/>
                <a:ext cx="1879092" cy="6507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22000" y="3491999"/>
            <a:ext cx="162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6001AD"/>
                </a:solidFill>
              </a:rPr>
              <a:t>Ausgabe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Formel 10"/>
              <p:cNvSpPr txBox="1"/>
              <p:nvPr/>
            </p:nvSpPr>
            <p:spPr>
              <a:xfrm>
                <a:off x="2903616" y="3384000"/>
                <a:ext cx="1752768" cy="65379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de-DE" sz="20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de-DE" sz="2000"/>
              </a:p>
            </p:txBody>
          </p:sp>
        </mc:Choice>
        <mc:Fallback xmlns="" xmlns:m="http://schemas.openxmlformats.org/officeDocument/2006/math">
          <p:sp>
            <p:nvSpPr>
              <p:cNvPr id="10" name="Formel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16" y="3384000"/>
                <a:ext cx="1572768" cy="6537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468244" y="4392000"/>
            <a:ext cx="10584000" cy="827999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4000" y="4482000"/>
            <a:ext cx="234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6001AD"/>
                </a:solidFill>
              </a:rPr>
              <a:t>In Matrixform: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Formel 13"/>
              <p:cNvSpPr txBox="1"/>
              <p:nvPr/>
            </p:nvSpPr>
            <p:spPr>
              <a:xfrm>
                <a:off x="4214064" y="4482000"/>
                <a:ext cx="5251872" cy="66751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Attention</m:t>
                      </m:r>
                      <m:d>
                        <m:dPr>
                          <m:ctrlP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lang="de-DE" sz="20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de-DE" sz="20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0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de-DE" sz="20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de-DE" sz="20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de-DE" sz="20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0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de-DE" sz="20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  <m: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de-DE" sz="20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de-DE" sz="2000"/>
              </a:p>
            </p:txBody>
          </p:sp>
        </mc:Choice>
        <mc:Fallback xmlns="" xmlns:m="http://schemas.openxmlformats.org/officeDocument/2006/math">
          <p:sp>
            <p:nvSpPr>
              <p:cNvPr id="13" name="Formel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4064" y="4482000"/>
                <a:ext cx="5071872" cy="6675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5845215" y="1728000"/>
            <a:ext cx="5242785" cy="22655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7"/>
              </a:buBlip>
            </a:pPr>
            <a:r>
              <a:rPr sz="1500" b="1" dirty="0" err="1">
                <a:solidFill>
                  <a:srgbClr val="374151"/>
                </a:solidFill>
              </a:rPr>
              <a:t>Softmax</a:t>
            </a:r>
            <a:r>
              <a:rPr sz="1500" b="1" dirty="0">
                <a:solidFill>
                  <a:srgbClr val="374151"/>
                </a:solidFill>
              </a:rPr>
              <a:t> je Zeile: alle </a:t>
            </a:r>
            <a:r>
              <a:rPr sz="1500" b="1" dirty="0" err="1">
                <a:solidFill>
                  <a:srgbClr val="374151"/>
                </a:solidFill>
              </a:rPr>
              <a:t>Gewichte</a:t>
            </a:r>
            <a:r>
              <a:rPr sz="1500" b="1" dirty="0">
                <a:solidFill>
                  <a:srgbClr val="374151"/>
                </a:solidFill>
              </a:rPr>
              <a:t> ≥ 0, </a:t>
            </a:r>
            <a:r>
              <a:rPr sz="1500" b="1" dirty="0" err="1">
                <a:solidFill>
                  <a:srgbClr val="374151"/>
                </a:solidFill>
              </a:rPr>
              <a:t>Zeilensumme</a:t>
            </a:r>
            <a:r>
              <a:rPr sz="1500" b="1" dirty="0">
                <a:solidFill>
                  <a:srgbClr val="374151"/>
                </a:solidFill>
              </a:rPr>
              <a:t> 1.</a:t>
            </a:r>
            <a:br>
              <a:rPr lang="de-DE" sz="1500" b="1" dirty="0">
                <a:solidFill>
                  <a:srgbClr val="374151"/>
                </a:solidFill>
              </a:rPr>
            </a:br>
            <a:endParaRPr sz="1500" b="1" dirty="0">
              <a:solidFill>
                <a:srgbClr val="374151"/>
              </a:solidFill>
            </a:endParaRPr>
          </a:p>
          <a:p>
            <a:pPr marL="285750" indent="-285750">
              <a:lnSpc>
                <a:spcPct val="110000"/>
              </a:lnSpc>
              <a:buBlip>
                <a:blip r:embed="rId7"/>
              </a:buBlip>
            </a:pPr>
            <a:r>
              <a:rPr sz="1500" b="1" dirty="0" err="1">
                <a:solidFill>
                  <a:srgbClr val="374151"/>
                </a:solidFill>
              </a:rPr>
              <a:t>Warum</a:t>
            </a:r>
            <a:r>
              <a:rPr sz="1500" b="1" dirty="0">
                <a:solidFill>
                  <a:srgbClr val="374151"/>
                </a:solidFill>
              </a:rPr>
              <a:t> √d</a:t>
            </a:r>
            <a:r>
              <a:rPr sz="1500" b="1" baseline="-25000" dirty="0">
                <a:solidFill>
                  <a:srgbClr val="374151"/>
                </a:solidFill>
              </a:rPr>
              <a:t>k</a:t>
            </a:r>
            <a:r>
              <a:rPr sz="1500" b="1" dirty="0">
                <a:solidFill>
                  <a:srgbClr val="374151"/>
                </a:solidFill>
              </a:rPr>
              <a:t>? Bei </a:t>
            </a:r>
            <a:r>
              <a:rPr sz="1500" b="1" dirty="0" err="1">
                <a:solidFill>
                  <a:srgbClr val="374151"/>
                </a:solidFill>
              </a:rPr>
              <a:t>zufälligen</a:t>
            </a:r>
            <a:r>
              <a:rPr sz="1500" b="1" dirty="0">
                <a:solidFill>
                  <a:srgbClr val="374151"/>
                </a:solidFill>
              </a:rPr>
              <a:t> q, k hat </a:t>
            </a:r>
            <a:r>
              <a:rPr sz="1500" b="1" dirty="0" err="1">
                <a:solidFill>
                  <a:srgbClr val="374151"/>
                </a:solidFill>
              </a:rPr>
              <a:t>q·k</a:t>
            </a:r>
            <a:r>
              <a:rPr sz="1500" b="1" dirty="0">
                <a:solidFill>
                  <a:srgbClr val="374151"/>
                </a:solidFill>
              </a:rPr>
              <a:t> die </a:t>
            </a:r>
            <a:r>
              <a:rPr sz="1500" b="1" dirty="0" err="1">
                <a:solidFill>
                  <a:srgbClr val="374151"/>
                </a:solidFill>
              </a:rPr>
              <a:t>Varianz</a:t>
            </a:r>
            <a:r>
              <a:rPr sz="1500" b="1" dirty="0">
                <a:solidFill>
                  <a:srgbClr val="374151"/>
                </a:solidFill>
              </a:rPr>
              <a:t> d</a:t>
            </a:r>
            <a:r>
              <a:rPr sz="1500" b="1" baseline="-25000" dirty="0">
                <a:solidFill>
                  <a:srgbClr val="374151"/>
                </a:solidFill>
              </a:rPr>
              <a:t>k</a:t>
            </a:r>
            <a:r>
              <a:rPr sz="1500" b="1" dirty="0">
                <a:solidFill>
                  <a:srgbClr val="374151"/>
                </a:solidFill>
              </a:rPr>
              <a:t>. </a:t>
            </a:r>
            <a:r>
              <a:rPr sz="1500" b="1" dirty="0" err="1">
                <a:solidFill>
                  <a:srgbClr val="374151"/>
                </a:solidFill>
              </a:rPr>
              <a:t>Große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Werte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machen</a:t>
            </a:r>
            <a:r>
              <a:rPr sz="1500" b="1" dirty="0">
                <a:solidFill>
                  <a:srgbClr val="374151"/>
                </a:solidFill>
              </a:rPr>
              <a:t> die </a:t>
            </a:r>
            <a:r>
              <a:rPr sz="1500" b="1" dirty="0" err="1">
                <a:solidFill>
                  <a:srgbClr val="374151"/>
                </a:solidFill>
              </a:rPr>
              <a:t>Softmax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extrem</a:t>
            </a:r>
            <a:r>
              <a:rPr sz="1500" b="1" dirty="0">
                <a:solidFill>
                  <a:srgbClr val="374151"/>
                </a:solidFill>
              </a:rPr>
              <a:t> spitz – </a:t>
            </a:r>
            <a:r>
              <a:rPr sz="1500" b="1" dirty="0" err="1">
                <a:solidFill>
                  <a:srgbClr val="374151"/>
                </a:solidFill>
              </a:rPr>
              <a:t>mit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winzigen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Gradienten</a:t>
            </a:r>
            <a:r>
              <a:rPr sz="1500" b="1" dirty="0">
                <a:solidFill>
                  <a:srgbClr val="374151"/>
                </a:solidFill>
              </a:rPr>
              <a:t>.</a:t>
            </a:r>
            <a:br>
              <a:rPr lang="de-DE" sz="1500" b="1" dirty="0">
                <a:solidFill>
                  <a:srgbClr val="374151"/>
                </a:solidFill>
              </a:rPr>
            </a:br>
            <a:endParaRPr sz="1500" b="1" dirty="0">
              <a:solidFill>
                <a:srgbClr val="374151"/>
              </a:solidFill>
            </a:endParaRPr>
          </a:p>
          <a:p>
            <a:pPr marL="285750" indent="-285750">
              <a:lnSpc>
                <a:spcPct val="110000"/>
              </a:lnSpc>
              <a:buBlip>
                <a:blip r:embed="rId7"/>
              </a:buBlip>
            </a:pPr>
            <a:r>
              <a:rPr sz="1500" b="1" dirty="0">
                <a:solidFill>
                  <a:srgbClr val="008891"/>
                </a:solidFill>
              </a:rPr>
              <a:t>Guppy: d</a:t>
            </a:r>
            <a:r>
              <a:rPr sz="1500" b="1" baseline="-25000" dirty="0">
                <a:solidFill>
                  <a:srgbClr val="008891"/>
                </a:solidFill>
              </a:rPr>
              <a:t>k</a:t>
            </a:r>
            <a:r>
              <a:rPr sz="1500" b="1" dirty="0">
                <a:solidFill>
                  <a:srgbClr val="008891"/>
                </a:solidFill>
              </a:rPr>
              <a:t> = 384 / 6 = 64.</a:t>
            </a:r>
            <a:br>
              <a:rPr lang="de-DE" sz="1500" b="1" dirty="0">
                <a:solidFill>
                  <a:srgbClr val="008891"/>
                </a:solidFill>
              </a:rPr>
            </a:br>
            <a:endParaRPr sz="1500" b="1" dirty="0">
              <a:solidFill>
                <a:srgbClr val="008891"/>
              </a:solidFill>
            </a:endParaRPr>
          </a:p>
          <a:p>
            <a:pPr marL="285750" indent="-285750">
              <a:lnSpc>
                <a:spcPct val="110000"/>
              </a:lnSpc>
              <a:buBlip>
                <a:blip r:embed="rId7"/>
              </a:buBlip>
            </a:pPr>
            <a:r>
              <a:rPr sz="1500" b="1" dirty="0">
                <a:solidFill>
                  <a:srgbClr val="374151"/>
                </a:solidFill>
              </a:rPr>
              <a:t>M: Maske (</a:t>
            </a:r>
            <a:r>
              <a:rPr sz="1500" b="1" dirty="0" err="1">
                <a:solidFill>
                  <a:srgbClr val="374151"/>
                </a:solidFill>
              </a:rPr>
              <a:t>nächste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Folien</a:t>
            </a:r>
            <a:r>
              <a:rPr sz="1500" b="1" dirty="0">
                <a:solidFill>
                  <a:srgbClr val="374151"/>
                </a:solidFill>
              </a:rPr>
              <a:t>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000" y="5400000"/>
            <a:ext cx="10584000" cy="10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 dirty="0">
                <a:solidFill>
                  <a:srgbClr val="374151"/>
                </a:solidFill>
              </a:rPr>
              <a:t>Q, K, V: alle Query-, Key-, Value-</a:t>
            </a:r>
            <a:r>
              <a:rPr sz="1400" b="0" dirty="0" err="1">
                <a:solidFill>
                  <a:srgbClr val="374151"/>
                </a:solidFill>
              </a:rPr>
              <a:t>Vektoren</a:t>
            </a:r>
            <a:r>
              <a:rPr sz="1400" b="0" dirty="0">
                <a:solidFill>
                  <a:srgbClr val="374151"/>
                </a:solidFill>
              </a:rPr>
              <a:t> </a:t>
            </a:r>
            <a:r>
              <a:rPr sz="1400" b="0" dirty="0" err="1">
                <a:solidFill>
                  <a:srgbClr val="374151"/>
                </a:solidFill>
              </a:rPr>
              <a:t>als</a:t>
            </a:r>
            <a:r>
              <a:rPr sz="1400" b="0" dirty="0">
                <a:solidFill>
                  <a:srgbClr val="374151"/>
                </a:solidFill>
              </a:rPr>
              <a:t> </a:t>
            </a:r>
            <a:r>
              <a:rPr sz="1400" b="0" dirty="0" err="1">
                <a:solidFill>
                  <a:srgbClr val="374151"/>
                </a:solidFill>
              </a:rPr>
              <a:t>Zeilen</a:t>
            </a:r>
            <a:r>
              <a:rPr sz="1400" b="0" dirty="0">
                <a:solidFill>
                  <a:srgbClr val="374151"/>
                </a:solidFill>
              </a:rPr>
              <a:t> </a:t>
            </a:r>
            <a:r>
              <a:rPr sz="1400" b="0" dirty="0" err="1">
                <a:solidFill>
                  <a:srgbClr val="374151"/>
                </a:solidFill>
              </a:rPr>
              <a:t>einer</a:t>
            </a:r>
            <a:r>
              <a:rPr sz="1400" b="0" dirty="0">
                <a:solidFill>
                  <a:srgbClr val="374151"/>
                </a:solidFill>
              </a:rPr>
              <a:t> Matrix (T × d</a:t>
            </a:r>
            <a:r>
              <a:rPr sz="1400" b="0" baseline="-25000" dirty="0">
                <a:solidFill>
                  <a:srgbClr val="374151"/>
                </a:solidFill>
              </a:rPr>
              <a:t>k</a:t>
            </a:r>
            <a:r>
              <a:rPr sz="1400" b="0" dirty="0">
                <a:solidFill>
                  <a:srgbClr val="374151"/>
                </a:solidFill>
              </a:rPr>
              <a:t>) – so </a:t>
            </a:r>
            <a:r>
              <a:rPr sz="1400" b="0" dirty="0" err="1">
                <a:solidFill>
                  <a:srgbClr val="374151"/>
                </a:solidFill>
              </a:rPr>
              <a:t>rechnet</a:t>
            </a:r>
            <a:r>
              <a:rPr sz="1400" b="0" dirty="0">
                <a:solidFill>
                  <a:srgbClr val="374151"/>
                </a:solidFill>
              </a:rPr>
              <a:t> die Hardware alle </a:t>
            </a:r>
            <a:r>
              <a:rPr sz="1400" b="0" dirty="0" err="1">
                <a:solidFill>
                  <a:srgbClr val="374151"/>
                </a:solidFill>
              </a:rPr>
              <a:t>Positionen</a:t>
            </a:r>
            <a:r>
              <a:rPr sz="1400" b="0" dirty="0">
                <a:solidFill>
                  <a:srgbClr val="374151"/>
                </a:solidFill>
              </a:rPr>
              <a:t> auf </a:t>
            </a:r>
            <a:r>
              <a:rPr sz="1400" b="0" dirty="0" err="1">
                <a:solidFill>
                  <a:srgbClr val="374151"/>
                </a:solidFill>
              </a:rPr>
              <a:t>einmal</a:t>
            </a:r>
            <a:r>
              <a:rPr sz="1400" b="0" dirty="0">
                <a:solidFill>
                  <a:srgbClr val="374151"/>
                </a:solidFill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000" y="6750000"/>
            <a:ext cx="10620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Vaswani et al. (2017), Abschn. 3.2.1, Fußnote 4: „their dot product, q·k = Σ qᵢkᵢ, has mean 0 and variance d_k“.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BA646EFF-DB81-1B42-BBFA-FA0AC620E9B5}"/>
              </a:ext>
            </a:extLst>
          </p:cNvPr>
          <p:cNvGrpSpPr/>
          <p:nvPr/>
        </p:nvGrpSpPr>
        <p:grpSpPr>
          <a:xfrm>
            <a:off x="3431276" y="2570138"/>
            <a:ext cx="5097390" cy="1196546"/>
            <a:chOff x="861103" y="2467681"/>
            <a:chExt cx="7637437" cy="1419642"/>
          </a:xfrm>
        </p:grpSpPr>
        <p:sp>
          <p:nvSpPr>
            <p:cNvPr id="10" name="Google Shape;177;p8">
              <a:extLst>
                <a:ext uri="{FF2B5EF4-FFF2-40B4-BE49-F238E27FC236}">
                  <a16:creationId xmlns:a16="http://schemas.microsoft.com/office/drawing/2014/main" id="{11DBFEFB-4FB7-E3B5-E08F-C08274C941A6}"/>
                </a:ext>
              </a:extLst>
            </p:cNvPr>
            <p:cNvSpPr txBox="1">
              <a:spLocks/>
            </p:cNvSpPr>
            <p:nvPr/>
          </p:nvSpPr>
          <p:spPr>
            <a:xfrm>
              <a:off x="1196786" y="2467681"/>
              <a:ext cx="7301754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Gut </a:t>
              </a:r>
              <a:r>
                <a:rPr lang="de-DE" sz="1400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=  0.4·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Gut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 0.3·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Ding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 0.2·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braucht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 0.1·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Weile</a:t>
              </a:r>
              <a:endParaRPr lang="en-US" sz="1100" b="1" i="1" dirty="0">
                <a:latin typeface="Noto Sans Semibold"/>
              </a:endParaRPr>
            </a:p>
          </p:txBody>
        </p:sp>
        <p:sp>
          <p:nvSpPr>
            <p:cNvPr id="12" name="Google Shape;177;p8">
              <a:extLst>
                <a:ext uri="{FF2B5EF4-FFF2-40B4-BE49-F238E27FC236}">
                  <a16:creationId xmlns:a16="http://schemas.microsoft.com/office/drawing/2014/main" id="{8167C6F2-C477-2060-71DE-6F11F9EED935}"/>
                </a:ext>
              </a:extLst>
            </p:cNvPr>
            <p:cNvSpPr txBox="1">
              <a:spLocks/>
            </p:cNvSpPr>
            <p:nvPr/>
          </p:nvSpPr>
          <p:spPr>
            <a:xfrm>
              <a:off x="1094846" y="2810634"/>
              <a:ext cx="7301753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100" b="1" i="1" dirty="0">
                  <a:solidFill>
                    <a:schemeClr val="tx1"/>
                  </a:solidFill>
                  <a:latin typeface="Noto Sans Semibold"/>
                  <a:ea typeface="Arial"/>
                  <a:cs typeface="Arial"/>
                  <a:sym typeface="Arial"/>
                </a:rPr>
                <a:t>Ding </a:t>
              </a:r>
              <a:r>
                <a:rPr lang="de-DE" sz="1400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=  </a:t>
              </a:r>
              <a:r>
                <a:rPr lang="de-DE" sz="1400" b="1" dirty="0">
                  <a:solidFill>
                    <a:srgbClr val="C00000"/>
                  </a:solidFill>
                  <a:latin typeface="Noto Sans Semibold"/>
                  <a:ea typeface="Arial"/>
                  <a:cs typeface="Arial"/>
                  <a:sym typeface="Arial"/>
                </a:rPr>
                <a:t>0.6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Gut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 0.2·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Ding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 0.1·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braucht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 0.1·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Weile</a:t>
              </a:r>
              <a:endParaRPr lang="en-US" sz="1100" b="1" i="1" dirty="0">
                <a:latin typeface="Noto Sans Semibold"/>
              </a:endParaRPr>
            </a:p>
          </p:txBody>
        </p:sp>
        <p:sp>
          <p:nvSpPr>
            <p:cNvPr id="13" name="Google Shape;177;p8">
              <a:extLst>
                <a:ext uri="{FF2B5EF4-FFF2-40B4-BE49-F238E27FC236}">
                  <a16:creationId xmlns:a16="http://schemas.microsoft.com/office/drawing/2014/main" id="{6D34D5E3-AC04-102D-F97D-823710068235}"/>
                </a:ext>
              </a:extLst>
            </p:cNvPr>
            <p:cNvSpPr txBox="1">
              <a:spLocks/>
            </p:cNvSpPr>
            <p:nvPr/>
          </p:nvSpPr>
          <p:spPr>
            <a:xfrm>
              <a:off x="861103" y="3169401"/>
              <a:ext cx="7586466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100" b="1" i="1" dirty="0">
                  <a:solidFill>
                    <a:schemeClr val="tx1"/>
                  </a:solidFill>
                  <a:latin typeface="Noto Sans Semibold"/>
                  <a:ea typeface="Arial"/>
                  <a:cs typeface="Arial"/>
                  <a:sym typeface="Arial"/>
                </a:rPr>
                <a:t>braucht </a:t>
              </a:r>
              <a:r>
                <a:rPr lang="de-DE" sz="1400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=  0.2·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Gut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</a:t>
              </a:r>
              <a:r>
                <a:rPr lang="de-DE" sz="1400" b="1" dirty="0">
                  <a:solidFill>
                    <a:srgbClr val="3B9927"/>
                  </a:solidFill>
                  <a:latin typeface="Noto Sans Semibold"/>
                  <a:ea typeface="Arial"/>
                  <a:cs typeface="Arial"/>
                  <a:sym typeface="Arial"/>
                </a:rPr>
                <a:t>0.4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Ding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 0.2·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braucht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 0.2·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Weile</a:t>
              </a:r>
              <a:endParaRPr lang="en-US" sz="1100" b="1" i="1" dirty="0">
                <a:latin typeface="Noto Sans Semibold"/>
              </a:endParaRPr>
            </a:p>
          </p:txBody>
        </p:sp>
        <p:sp>
          <p:nvSpPr>
            <p:cNvPr id="14" name="Google Shape;177;p8">
              <a:extLst>
                <a:ext uri="{FF2B5EF4-FFF2-40B4-BE49-F238E27FC236}">
                  <a16:creationId xmlns:a16="http://schemas.microsoft.com/office/drawing/2014/main" id="{3605C952-0417-51BE-47DA-3F942148E7ED}"/>
                </a:ext>
              </a:extLst>
            </p:cNvPr>
            <p:cNvSpPr txBox="1">
              <a:spLocks/>
            </p:cNvSpPr>
            <p:nvPr/>
          </p:nvSpPr>
          <p:spPr>
            <a:xfrm>
              <a:off x="1020888" y="3528167"/>
              <a:ext cx="7375711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100" b="1" i="1" dirty="0">
                  <a:solidFill>
                    <a:schemeClr val="tx1"/>
                  </a:solidFill>
                  <a:latin typeface="Noto Sans Semibold"/>
                  <a:ea typeface="Arial"/>
                  <a:cs typeface="Arial"/>
                  <a:sym typeface="Arial"/>
                </a:rPr>
                <a:t>Weile </a:t>
              </a:r>
              <a:r>
                <a:rPr lang="de-DE" sz="1400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=  0.1·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Gut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 0.2·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Ding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 </a:t>
              </a:r>
              <a:r>
                <a:rPr lang="de-DE" sz="1400" b="1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0.5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braucht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 0.2·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Weile</a:t>
              </a:r>
              <a:endParaRPr lang="en-US" sz="1100" b="1" i="1" dirty="0">
                <a:latin typeface="Noto Sans Semibold"/>
              </a:endParaRPr>
            </a:p>
          </p:txBody>
        </p:sp>
      </p:grpSp>
      <p:sp>
        <p:nvSpPr>
          <p:cNvPr id="25" name="Rechteck 24">
            <a:extLst>
              <a:ext uri="{FF2B5EF4-FFF2-40B4-BE49-F238E27FC236}">
                <a16:creationId xmlns:a16="http://schemas.microsoft.com/office/drawing/2014/main" id="{53639AA6-1390-7284-477C-789961C4361B}"/>
              </a:ext>
            </a:extLst>
          </p:cNvPr>
          <p:cNvSpPr/>
          <p:nvPr/>
        </p:nvSpPr>
        <p:spPr>
          <a:xfrm>
            <a:off x="-1" y="2495535"/>
            <a:ext cx="11520489" cy="4703777"/>
          </a:xfrm>
          <a:prstGeom prst="rect">
            <a:avLst/>
          </a:prstGeom>
          <a:solidFill>
            <a:srgbClr val="FFFFFF">
              <a:alpha val="54118"/>
            </a:srgb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4883D4E-2269-3481-8FD7-C25C4030B706}"/>
              </a:ext>
            </a:extLst>
          </p:cNvPr>
          <p:cNvSpPr txBox="1"/>
          <p:nvPr/>
        </p:nvSpPr>
        <p:spPr>
          <a:xfrm>
            <a:off x="533213" y="1062039"/>
            <a:ext cx="9451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>
                    <a:lumMod val="50000"/>
                  </a:schemeClr>
                </a:solidFill>
                <a:effectLst/>
                <a:latin typeface="Noto Sans Semibold"/>
              </a:rPr>
              <a:t>3. Attention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Kontextvektor = gewichtete Summe der Values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F0045A23-68D0-FE1A-43D5-C59E6B887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824" y="6137589"/>
            <a:ext cx="534844" cy="531845"/>
          </a:xfrm>
        </p:spPr>
        <p:txBody>
          <a:bodyPr/>
          <a:lstStyle/>
          <a:p>
            <a:pPr marL="108002" indent="0">
              <a:buNone/>
            </a:pPr>
            <a:r>
              <a:rPr lang="de-DE" dirty="0"/>
              <a:t> 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B1D53AC-14F0-CAE3-946A-B2D39872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12" y="6089520"/>
            <a:ext cx="768818" cy="579914"/>
          </a:xfrm>
        </p:spPr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9" name="Google Shape;177;p8">
            <a:extLst>
              <a:ext uri="{FF2B5EF4-FFF2-40B4-BE49-F238E27FC236}">
                <a16:creationId xmlns:a16="http://schemas.microsoft.com/office/drawing/2014/main" id="{45E07785-A324-632A-3BF4-3BBAB9E14542}"/>
              </a:ext>
            </a:extLst>
          </p:cNvPr>
          <p:cNvSpPr txBox="1">
            <a:spLocks/>
          </p:cNvSpPr>
          <p:nvPr/>
        </p:nvSpPr>
        <p:spPr>
          <a:xfrm>
            <a:off x="573830" y="1744256"/>
            <a:ext cx="10560748" cy="75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SzPts val="2000"/>
              <a:buFont typeface="Noto Sans Symbols"/>
              <a:buNone/>
            </a:pPr>
            <a:endParaRPr lang="de-DE" sz="1200" b="1" dirty="0">
              <a:solidFill>
                <a:srgbClr val="003C72"/>
              </a:solidFill>
              <a:effectLst/>
              <a:latin typeface="Noto Sans Semibold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 r:embed="rId3"/>
              </a:buBlip>
            </a:pPr>
            <a:r>
              <a:rPr lang="de-DE" b="1" dirty="0">
                <a:solidFill>
                  <a:srgbClr val="003C72"/>
                </a:solidFill>
                <a:latin typeface="Noto Sans Semibold"/>
              </a:rPr>
              <a:t>Die Gewichte einer Zeile mischen die Value-Vektoren zum Kontextvektor (hier ohne Maske).</a:t>
            </a:r>
          </a:p>
        </p:txBody>
      </p:sp>
      <p:sp>
        <p:nvSpPr>
          <p:cNvPr id="16" name="Textplatzhalter 16">
            <a:extLst>
              <a:ext uri="{FF2B5EF4-FFF2-40B4-BE49-F238E27FC236}">
                <a16:creationId xmlns:a16="http://schemas.microsoft.com/office/drawing/2014/main" id="{0CBC959A-C26E-6130-DD5F-9633F3FDC577}"/>
              </a:ext>
            </a:extLst>
          </p:cNvPr>
          <p:cNvSpPr txBox="1">
            <a:spLocks/>
          </p:cNvSpPr>
          <p:nvPr/>
        </p:nvSpPr>
        <p:spPr>
          <a:xfrm>
            <a:off x="226824" y="6137589"/>
            <a:ext cx="534844" cy="53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108002" indent="0">
              <a:buFont typeface="Noto Sans Symbols"/>
              <a:buNone/>
            </a:pPr>
            <a:r>
              <a:rPr lang="de-DE" dirty="0">
                <a:latin typeface="Noto Sans Semibold"/>
              </a:rPr>
              <a:t> </a:t>
            </a:r>
          </a:p>
        </p:txBody>
      </p:sp>
      <p:sp>
        <p:nvSpPr>
          <p:cNvPr id="18" name="Titel 19">
            <a:extLst>
              <a:ext uri="{FF2B5EF4-FFF2-40B4-BE49-F238E27FC236}">
                <a16:creationId xmlns:a16="http://schemas.microsoft.com/office/drawing/2014/main" id="{9816C09E-0DA8-A0AC-D7DE-18F5EB150B45}"/>
              </a:ext>
            </a:extLst>
          </p:cNvPr>
          <p:cNvSpPr txBox="1">
            <a:spLocks/>
          </p:cNvSpPr>
          <p:nvPr/>
        </p:nvSpPr>
        <p:spPr>
          <a:xfrm>
            <a:off x="291012" y="5401454"/>
            <a:ext cx="768818" cy="579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  <a:defRPr sz="3600" b="0" i="0" u="none" strike="noStrike" cap="none">
                <a:solidFill>
                  <a:srgbClr val="FFFFFF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 dirty="0">
                <a:latin typeface="Noto Sans Semibold"/>
              </a:rPr>
              <a:t> </a:t>
            </a:r>
          </a:p>
        </p:txBody>
      </p:sp>
      <p:sp>
        <p:nvSpPr>
          <p:cNvPr id="2" name="Google Shape;177;p8">
            <a:extLst>
              <a:ext uri="{FF2B5EF4-FFF2-40B4-BE49-F238E27FC236}">
                <a16:creationId xmlns:a16="http://schemas.microsoft.com/office/drawing/2014/main" id="{77570B26-76C8-C796-1945-98E017D244C1}"/>
              </a:ext>
            </a:extLst>
          </p:cNvPr>
          <p:cNvSpPr txBox="1">
            <a:spLocks/>
          </p:cNvSpPr>
          <p:nvPr/>
        </p:nvSpPr>
        <p:spPr>
          <a:xfrm>
            <a:off x="2015382" y="4058506"/>
            <a:ext cx="8851911" cy="2440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=  0.4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+  0.3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+ 0.2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+ 0.1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SzPts val="2000"/>
              <a:buNone/>
            </a:pP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=  </a:t>
            </a:r>
            <a:r>
              <a:rPr lang="de-DE" b="1" dirty="0">
                <a:solidFill>
                  <a:srgbClr val="C00000"/>
                </a:solidFill>
                <a:latin typeface="Noto Sans Semibold"/>
                <a:ea typeface="Arial"/>
                <a:cs typeface="Arial"/>
                <a:sym typeface="Arial"/>
              </a:rPr>
              <a:t>0.6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+  0.2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+ 0.1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+ 0.1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SzPts val="2000"/>
              <a:buNone/>
            </a:pP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=  0.2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+  </a:t>
            </a:r>
            <a:r>
              <a:rPr lang="de-DE" b="1" dirty="0">
                <a:solidFill>
                  <a:srgbClr val="3B9927"/>
                </a:solidFill>
                <a:latin typeface="Noto Sans Semibold"/>
                <a:ea typeface="Arial"/>
                <a:cs typeface="Arial"/>
                <a:sym typeface="Arial"/>
              </a:rPr>
              <a:t>0.4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+ 0.2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+ 0.2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SzPts val="2000"/>
              <a:buNone/>
            </a:pP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=  0.1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+  0.2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+ </a:t>
            </a:r>
            <a:r>
              <a:rPr lang="de-DE" b="1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0.5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+ 0.2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Google Shape;177;p8">
            <a:extLst>
              <a:ext uri="{FF2B5EF4-FFF2-40B4-BE49-F238E27FC236}">
                <a16:creationId xmlns:a16="http://schemas.microsoft.com/office/drawing/2014/main" id="{6A2A3304-1B64-8516-DA59-B1672DFD0E7D}"/>
              </a:ext>
            </a:extLst>
          </p:cNvPr>
          <p:cNvSpPr txBox="1">
            <a:spLocks/>
          </p:cNvSpPr>
          <p:nvPr/>
        </p:nvSpPr>
        <p:spPr>
          <a:xfrm>
            <a:off x="457200" y="4044759"/>
            <a:ext cx="1635554" cy="262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 algn="r">
              <a:lnSpc>
                <a:spcPct val="25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chemeClr val="tx1"/>
                </a:solidFill>
                <a:latin typeface="Noto Sans Semibold"/>
                <a:ea typeface="Arial"/>
                <a:cs typeface="Arial"/>
                <a:sym typeface="Arial"/>
              </a:rPr>
              <a:t>Gut </a:t>
            </a:r>
            <a:r>
              <a:rPr lang="de-DE" sz="1600" b="1" baseline="-25000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Kontext</a:t>
            </a:r>
          </a:p>
          <a:p>
            <a:pPr marL="0" indent="0" algn="r">
              <a:lnSpc>
                <a:spcPct val="25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chemeClr val="tx1"/>
                </a:solidFill>
                <a:latin typeface="Noto Sans Semibold"/>
                <a:ea typeface="Arial"/>
                <a:cs typeface="Arial"/>
                <a:sym typeface="Arial"/>
              </a:rPr>
              <a:t>Ding </a:t>
            </a:r>
            <a:r>
              <a:rPr lang="de-DE" sz="1600" b="1" baseline="-25000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Kontext</a:t>
            </a:r>
          </a:p>
          <a:p>
            <a:pPr marL="0" indent="0" algn="r">
              <a:lnSpc>
                <a:spcPct val="25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chemeClr val="tx1"/>
                </a:solidFill>
                <a:latin typeface="Noto Sans Semibold"/>
                <a:ea typeface="Arial"/>
                <a:cs typeface="Arial"/>
                <a:sym typeface="Arial"/>
              </a:rPr>
              <a:t>braucht </a:t>
            </a:r>
            <a:r>
              <a:rPr lang="de-DE" sz="1600" b="1" baseline="-25000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Kontext</a:t>
            </a:r>
          </a:p>
          <a:p>
            <a:pPr marL="0" indent="0" algn="r">
              <a:lnSpc>
                <a:spcPct val="25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chemeClr val="tx1"/>
                </a:solidFill>
                <a:latin typeface="Noto Sans Semibold"/>
                <a:ea typeface="Arial"/>
                <a:cs typeface="Arial"/>
                <a:sym typeface="Arial"/>
              </a:rPr>
              <a:t>Weile </a:t>
            </a:r>
            <a:r>
              <a:rPr lang="de-DE" sz="1600" b="1" baseline="-25000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Kontext</a:t>
            </a:r>
            <a:endParaRPr lang="en-US" sz="1600" b="1" i="1" dirty="0">
              <a:latin typeface="Noto Sans Semibold"/>
            </a:endParaRPr>
          </a:p>
        </p:txBody>
      </p: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F1F60211-412B-1F4D-8622-DD441720E5E8}"/>
              </a:ext>
            </a:extLst>
          </p:cNvPr>
          <p:cNvGrpSpPr/>
          <p:nvPr/>
        </p:nvGrpSpPr>
        <p:grpSpPr>
          <a:xfrm>
            <a:off x="2934128" y="4359048"/>
            <a:ext cx="7744985" cy="2052500"/>
            <a:chOff x="2934128" y="4359048"/>
            <a:chExt cx="7744985" cy="2052500"/>
          </a:xfrm>
        </p:grpSpPr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BDD80321-3170-FC7E-2161-71F03415C344}"/>
                </a:ext>
              </a:extLst>
            </p:cNvPr>
            <p:cNvGrpSpPr/>
            <p:nvPr/>
          </p:nvGrpSpPr>
          <p:grpSpPr>
            <a:xfrm>
              <a:off x="2934128" y="4359048"/>
              <a:ext cx="7744985" cy="218524"/>
              <a:chOff x="2965779" y="4141486"/>
              <a:chExt cx="7744985" cy="218524"/>
            </a:xfrm>
          </p:grpSpPr>
          <p:pic>
            <p:nvPicPr>
              <p:cNvPr id="11" name="Grafik 10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1ED2AF71-4017-A371-7550-968D04507D4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51683" r="35452" b="38325"/>
              <a:stretch/>
            </p:blipFill>
            <p:spPr>
              <a:xfrm>
                <a:off x="2965779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26" name="Grafik 25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AFCB5566-032C-BCC4-A48A-6AA8746AC70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62874" r="35452" b="27134"/>
              <a:stretch/>
            </p:blipFill>
            <p:spPr>
              <a:xfrm>
                <a:off x="5147876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36" name="Grafik 35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5D848D95-77EB-FC36-3840-FA3D46F9457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75398" r="35452" b="14610"/>
              <a:stretch/>
            </p:blipFill>
            <p:spPr>
              <a:xfrm>
                <a:off x="7329973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37" name="Grafik 36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05D503BC-6D57-06B6-0815-3E054F7D56B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87658" r="35452" b="2350"/>
              <a:stretch/>
            </p:blipFill>
            <p:spPr>
              <a:xfrm>
                <a:off x="9512071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</p:grpSp>
        <p:grpSp>
          <p:nvGrpSpPr>
            <p:cNvPr id="57" name="Gruppieren 56">
              <a:extLst>
                <a:ext uri="{FF2B5EF4-FFF2-40B4-BE49-F238E27FC236}">
                  <a16:creationId xmlns:a16="http://schemas.microsoft.com/office/drawing/2014/main" id="{9741B110-D4B3-F0EE-D6E5-63CD27344E59}"/>
                </a:ext>
              </a:extLst>
            </p:cNvPr>
            <p:cNvGrpSpPr/>
            <p:nvPr/>
          </p:nvGrpSpPr>
          <p:grpSpPr>
            <a:xfrm>
              <a:off x="2934128" y="4970373"/>
              <a:ext cx="7744985" cy="218524"/>
              <a:chOff x="2965779" y="4141486"/>
              <a:chExt cx="7744985" cy="218524"/>
            </a:xfrm>
          </p:grpSpPr>
          <p:pic>
            <p:nvPicPr>
              <p:cNvPr id="58" name="Grafik 57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7081326E-EA55-03C7-3654-52D01950BCF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51683" r="35452" b="38325"/>
              <a:stretch/>
            </p:blipFill>
            <p:spPr>
              <a:xfrm>
                <a:off x="2965779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59" name="Grafik 58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9A109C24-B5C3-A1E7-E048-520AB539B4E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62874" r="35452" b="27134"/>
              <a:stretch/>
            </p:blipFill>
            <p:spPr>
              <a:xfrm>
                <a:off x="5147876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60" name="Grafik 59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E7BAA779-1B82-5290-B4EA-F5F8166D487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75398" r="35452" b="14610"/>
              <a:stretch/>
            </p:blipFill>
            <p:spPr>
              <a:xfrm>
                <a:off x="7329973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61" name="Grafik 60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4FBB0E18-9B87-BCAB-925F-CB4F929702B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87658" r="35452" b="2350"/>
              <a:stretch/>
            </p:blipFill>
            <p:spPr>
              <a:xfrm>
                <a:off x="9512071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</p:grpSp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666A7326-EADC-772D-50D7-5ED9BA7A4D25}"/>
                </a:ext>
              </a:extLst>
            </p:cNvPr>
            <p:cNvGrpSpPr/>
            <p:nvPr/>
          </p:nvGrpSpPr>
          <p:grpSpPr>
            <a:xfrm>
              <a:off x="2934128" y="5581698"/>
              <a:ext cx="7744985" cy="218524"/>
              <a:chOff x="2965779" y="4141486"/>
              <a:chExt cx="7744985" cy="218524"/>
            </a:xfrm>
          </p:grpSpPr>
          <p:pic>
            <p:nvPicPr>
              <p:cNvPr id="63" name="Grafik 62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8FF84ACE-BE75-D434-05FE-427384196C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51683" r="35452" b="38325"/>
              <a:stretch/>
            </p:blipFill>
            <p:spPr>
              <a:xfrm>
                <a:off x="2965779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64" name="Grafik 63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D1EEE6FB-5F0D-D1CC-5ACB-6C4FD793F8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62874" r="35452" b="27134"/>
              <a:stretch/>
            </p:blipFill>
            <p:spPr>
              <a:xfrm>
                <a:off x="5147876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65" name="Grafik 64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9B744E4F-F6DE-005B-223D-A3610457F54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75398" r="35452" b="14610"/>
              <a:stretch/>
            </p:blipFill>
            <p:spPr>
              <a:xfrm>
                <a:off x="7329973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66" name="Grafik 65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14C53D63-1170-2346-2C81-A74EEDA6978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87658" r="35452" b="2350"/>
              <a:stretch/>
            </p:blipFill>
            <p:spPr>
              <a:xfrm>
                <a:off x="9512071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</p:grpSp>
        <p:grpSp>
          <p:nvGrpSpPr>
            <p:cNvPr id="67" name="Gruppieren 66">
              <a:extLst>
                <a:ext uri="{FF2B5EF4-FFF2-40B4-BE49-F238E27FC236}">
                  <a16:creationId xmlns:a16="http://schemas.microsoft.com/office/drawing/2014/main" id="{7C5B3414-7A55-B4CB-42AB-29C2CC7A9309}"/>
                </a:ext>
              </a:extLst>
            </p:cNvPr>
            <p:cNvGrpSpPr/>
            <p:nvPr/>
          </p:nvGrpSpPr>
          <p:grpSpPr>
            <a:xfrm>
              <a:off x="2934128" y="6193024"/>
              <a:ext cx="7744985" cy="218524"/>
              <a:chOff x="2965779" y="4141486"/>
              <a:chExt cx="7744985" cy="218524"/>
            </a:xfrm>
          </p:grpSpPr>
          <p:pic>
            <p:nvPicPr>
              <p:cNvPr id="68" name="Grafik 67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29A98A58-4DC1-FBEB-AD99-71F43FEFA5E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51683" r="35452" b="38325"/>
              <a:stretch/>
            </p:blipFill>
            <p:spPr>
              <a:xfrm>
                <a:off x="2965779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69" name="Grafik 68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23F23FDF-681E-CF63-EFFF-CFA17166F3A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62874" r="35452" b="27134"/>
              <a:stretch/>
            </p:blipFill>
            <p:spPr>
              <a:xfrm>
                <a:off x="5147876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70" name="Grafik 69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774F7375-ECF5-A116-ABFE-7A41523FC59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75398" r="35452" b="14610"/>
              <a:stretch/>
            </p:blipFill>
            <p:spPr>
              <a:xfrm>
                <a:off x="7329973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71" name="Grafik 70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EC44ABE2-D48E-3436-B267-221147F9B38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87658" r="35452" b="2350"/>
              <a:stretch/>
            </p:blipFill>
            <p:spPr>
              <a:xfrm>
                <a:off x="9512071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</p:grpSp>
      </p:grpSp>
      <p:sp>
        <p:nvSpPr>
          <p:cNvPr id="15" name="Textfeld 14">
            <a:extLst>
              <a:ext uri="{FF2B5EF4-FFF2-40B4-BE49-F238E27FC236}">
                <a16:creationId xmlns:a16="http://schemas.microsoft.com/office/drawing/2014/main" id="{72FD91B6-B1F7-B435-6675-1DAB838D5191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</p:spTree>
    <p:extLst>
      <p:ext uri="{BB962C8B-B14F-4D97-AF65-F5344CB8AC3E}">
        <p14:creationId xmlns:p14="http://schemas.microsoft.com/office/powerpoint/2010/main" val="504471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77;p8">
            <a:extLst>
              <a:ext uri="{FF2B5EF4-FFF2-40B4-BE49-F238E27FC236}">
                <a16:creationId xmlns:a16="http://schemas.microsoft.com/office/drawing/2014/main" id="{974BDBEC-EF6E-D6C1-CE80-7A83A28B8AA2}"/>
              </a:ext>
            </a:extLst>
          </p:cNvPr>
          <p:cNvSpPr txBox="1">
            <a:spLocks/>
          </p:cNvSpPr>
          <p:nvPr/>
        </p:nvSpPr>
        <p:spPr>
          <a:xfrm>
            <a:off x="2015382" y="4058506"/>
            <a:ext cx="8851911" cy="2440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=  0.4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+  0.3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+ 0.2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+ 0.1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SzPts val="2000"/>
              <a:buNone/>
            </a:pP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=  </a:t>
            </a:r>
            <a:r>
              <a:rPr lang="de-DE" b="1" dirty="0">
                <a:solidFill>
                  <a:srgbClr val="C00000"/>
                </a:solidFill>
                <a:latin typeface="Noto Sans Semibold"/>
                <a:ea typeface="Arial"/>
                <a:cs typeface="Arial"/>
                <a:sym typeface="Arial"/>
              </a:rPr>
              <a:t>0.6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+  0.2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+ 0.1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+ 0.1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SzPts val="2000"/>
              <a:buNone/>
            </a:pP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=  0.2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+  </a:t>
            </a:r>
            <a:r>
              <a:rPr lang="de-DE" b="1" dirty="0">
                <a:solidFill>
                  <a:srgbClr val="3B9927"/>
                </a:solidFill>
                <a:latin typeface="Noto Sans Semibold"/>
                <a:ea typeface="Arial"/>
                <a:cs typeface="Arial"/>
                <a:sym typeface="Arial"/>
              </a:rPr>
              <a:t>0.4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+ 0.2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+ 0.2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SzPts val="2000"/>
              <a:buNone/>
            </a:pP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=  0.1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+  0.2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+ </a:t>
            </a:r>
            <a:r>
              <a:rPr lang="de-DE" b="1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0.5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           </a:t>
            </a:r>
            <a:r>
              <a:rPr lang="de-DE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       + 0.2 ·</a:t>
            </a:r>
            <a:r>
              <a:rPr lang="de-DE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</a:t>
            </a: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E34C13-649F-AE46-514B-B951B960E7EB}"/>
              </a:ext>
            </a:extLst>
          </p:cNvPr>
          <p:cNvGrpSpPr/>
          <p:nvPr/>
        </p:nvGrpSpPr>
        <p:grpSpPr>
          <a:xfrm>
            <a:off x="2934128" y="4359048"/>
            <a:ext cx="7744985" cy="2052500"/>
            <a:chOff x="2934128" y="4359048"/>
            <a:chExt cx="7744985" cy="2052500"/>
          </a:xfrm>
        </p:grpSpPr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EB9061CF-CAD7-0A13-8A40-80BD563C43EB}"/>
                </a:ext>
              </a:extLst>
            </p:cNvPr>
            <p:cNvGrpSpPr/>
            <p:nvPr/>
          </p:nvGrpSpPr>
          <p:grpSpPr>
            <a:xfrm>
              <a:off x="2934128" y="4359048"/>
              <a:ext cx="7744985" cy="218524"/>
              <a:chOff x="2965779" y="4141486"/>
              <a:chExt cx="7744985" cy="218524"/>
            </a:xfrm>
          </p:grpSpPr>
          <p:pic>
            <p:nvPicPr>
              <p:cNvPr id="59" name="Grafik 58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FF66FF4F-1F91-C8CF-F7CC-FE95B1FF347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51683" r="35452" b="38325"/>
              <a:stretch/>
            </p:blipFill>
            <p:spPr>
              <a:xfrm>
                <a:off x="2965779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60" name="Grafik 59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33787D06-2063-4FEA-ECA2-224B7DABA8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62874" r="35452" b="27134"/>
              <a:stretch/>
            </p:blipFill>
            <p:spPr>
              <a:xfrm>
                <a:off x="5147876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61" name="Grafik 60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5FD94625-A36F-0570-4FF9-5ED67D3F1CE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75398" r="35452" b="14610"/>
              <a:stretch/>
            </p:blipFill>
            <p:spPr>
              <a:xfrm>
                <a:off x="7329973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62" name="Grafik 61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D72EB1F7-3E2E-C2BA-F2D3-BD6992866A4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87658" r="35452" b="2350"/>
              <a:stretch/>
            </p:blipFill>
            <p:spPr>
              <a:xfrm>
                <a:off x="9512071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</p:grpSp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29BF1036-E088-F6D7-ABDF-7B9B7E63901D}"/>
                </a:ext>
              </a:extLst>
            </p:cNvPr>
            <p:cNvGrpSpPr/>
            <p:nvPr/>
          </p:nvGrpSpPr>
          <p:grpSpPr>
            <a:xfrm>
              <a:off x="2934128" y="4970373"/>
              <a:ext cx="7744985" cy="218524"/>
              <a:chOff x="2965779" y="4141486"/>
              <a:chExt cx="7744985" cy="218524"/>
            </a:xfrm>
          </p:grpSpPr>
          <p:pic>
            <p:nvPicPr>
              <p:cNvPr id="52" name="Grafik 51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063367AD-8301-8028-2A9E-8A65F22A90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51683" r="35452" b="38325"/>
              <a:stretch/>
            </p:blipFill>
            <p:spPr>
              <a:xfrm>
                <a:off x="2965779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53" name="Grafik 52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32679719-0B8C-256F-AB77-1BA5A5BF77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62874" r="35452" b="27134"/>
              <a:stretch/>
            </p:blipFill>
            <p:spPr>
              <a:xfrm>
                <a:off x="5147876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57" name="Grafik 56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9637A0D2-3E3A-EC82-8DE2-9F43FA0AE90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75398" r="35452" b="14610"/>
              <a:stretch/>
            </p:blipFill>
            <p:spPr>
              <a:xfrm>
                <a:off x="7329973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58" name="Grafik 57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31D9B3BD-E737-F07E-B2F5-04B4185413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87658" r="35452" b="2350"/>
              <a:stretch/>
            </p:blipFill>
            <p:spPr>
              <a:xfrm>
                <a:off x="9512071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</p:grpSp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6BCCDA98-2BC4-0798-BF75-0D965F56AC58}"/>
                </a:ext>
              </a:extLst>
            </p:cNvPr>
            <p:cNvGrpSpPr/>
            <p:nvPr/>
          </p:nvGrpSpPr>
          <p:grpSpPr>
            <a:xfrm>
              <a:off x="2934128" y="5581698"/>
              <a:ext cx="7744985" cy="218524"/>
              <a:chOff x="2965779" y="4141486"/>
              <a:chExt cx="7744985" cy="218524"/>
            </a:xfrm>
          </p:grpSpPr>
          <p:pic>
            <p:nvPicPr>
              <p:cNvPr id="48" name="Grafik 47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AEC8A58C-438B-C5CA-B22F-0C3D7C1EEDE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51683" r="35452" b="38325"/>
              <a:stretch/>
            </p:blipFill>
            <p:spPr>
              <a:xfrm>
                <a:off x="2965779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49" name="Grafik 48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93AFD06E-64BC-5530-7665-7298E272873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62874" r="35452" b="27134"/>
              <a:stretch/>
            </p:blipFill>
            <p:spPr>
              <a:xfrm>
                <a:off x="5147876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50" name="Grafik 49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F17360B3-E2B5-B050-38D6-5EF1A630DA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75398" r="35452" b="14610"/>
              <a:stretch/>
            </p:blipFill>
            <p:spPr>
              <a:xfrm>
                <a:off x="7329973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51" name="Grafik 50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56EA4565-5F72-1A10-F391-14A510B587D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87658" r="35452" b="2350"/>
              <a:stretch/>
            </p:blipFill>
            <p:spPr>
              <a:xfrm>
                <a:off x="9512071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</p:grpSp>
        <p:grpSp>
          <p:nvGrpSpPr>
            <p:cNvPr id="43" name="Gruppieren 42">
              <a:extLst>
                <a:ext uri="{FF2B5EF4-FFF2-40B4-BE49-F238E27FC236}">
                  <a16:creationId xmlns:a16="http://schemas.microsoft.com/office/drawing/2014/main" id="{34A9B8BC-BC03-CACB-9A14-A6985212E7BC}"/>
                </a:ext>
              </a:extLst>
            </p:cNvPr>
            <p:cNvGrpSpPr/>
            <p:nvPr/>
          </p:nvGrpSpPr>
          <p:grpSpPr>
            <a:xfrm>
              <a:off x="2934128" y="6193024"/>
              <a:ext cx="7744985" cy="218524"/>
              <a:chOff x="2965779" y="4141486"/>
              <a:chExt cx="7744985" cy="218524"/>
            </a:xfrm>
          </p:grpSpPr>
          <p:pic>
            <p:nvPicPr>
              <p:cNvPr id="44" name="Grafik 43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FFD38E73-802B-9922-9EB8-CC4741D9124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51683" r="35452" b="38325"/>
              <a:stretch/>
            </p:blipFill>
            <p:spPr>
              <a:xfrm>
                <a:off x="2965779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45" name="Grafik 44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BEAC1CA9-FC76-1382-0697-6772E5C34CA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62874" r="35452" b="27134"/>
              <a:stretch/>
            </p:blipFill>
            <p:spPr>
              <a:xfrm>
                <a:off x="5147876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46" name="Grafik 45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DE1457AF-765D-3D93-C23C-F849B59675D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75398" r="35452" b="14610"/>
              <a:stretch/>
            </p:blipFill>
            <p:spPr>
              <a:xfrm>
                <a:off x="7329973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47" name="Grafik 46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8EFDFCCE-3E20-0423-10EE-15805ADB132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rcRect l="35464" t="87658" r="35452" b="2350"/>
              <a:stretch/>
            </p:blipFill>
            <p:spPr>
              <a:xfrm>
                <a:off x="9512071" y="4141486"/>
                <a:ext cx="1198693" cy="21852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</p:grpSp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BA646EFF-DB81-1B42-BBFA-FA0AC620E9B5}"/>
              </a:ext>
            </a:extLst>
          </p:cNvPr>
          <p:cNvGrpSpPr/>
          <p:nvPr/>
        </p:nvGrpSpPr>
        <p:grpSpPr>
          <a:xfrm>
            <a:off x="3431276" y="2570138"/>
            <a:ext cx="5097390" cy="1196546"/>
            <a:chOff x="861103" y="2467681"/>
            <a:chExt cx="7637437" cy="1419642"/>
          </a:xfrm>
        </p:grpSpPr>
        <p:sp>
          <p:nvSpPr>
            <p:cNvPr id="10" name="Google Shape;177;p8">
              <a:extLst>
                <a:ext uri="{FF2B5EF4-FFF2-40B4-BE49-F238E27FC236}">
                  <a16:creationId xmlns:a16="http://schemas.microsoft.com/office/drawing/2014/main" id="{11DBFEFB-4FB7-E3B5-E08F-C08274C941A6}"/>
                </a:ext>
              </a:extLst>
            </p:cNvPr>
            <p:cNvSpPr txBox="1">
              <a:spLocks/>
            </p:cNvSpPr>
            <p:nvPr/>
          </p:nvSpPr>
          <p:spPr>
            <a:xfrm>
              <a:off x="1196786" y="2467681"/>
              <a:ext cx="7301754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Gut </a:t>
              </a:r>
              <a:r>
                <a:rPr lang="de-DE" sz="1400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=  0.4·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Gut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 0.3·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Ding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 0.2·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braucht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 0.1·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Weile</a:t>
              </a:r>
              <a:endParaRPr lang="en-US" sz="1100" b="1" i="1" dirty="0">
                <a:latin typeface="Noto Sans Semibold"/>
              </a:endParaRPr>
            </a:p>
          </p:txBody>
        </p:sp>
        <p:sp>
          <p:nvSpPr>
            <p:cNvPr id="12" name="Google Shape;177;p8">
              <a:extLst>
                <a:ext uri="{FF2B5EF4-FFF2-40B4-BE49-F238E27FC236}">
                  <a16:creationId xmlns:a16="http://schemas.microsoft.com/office/drawing/2014/main" id="{8167C6F2-C477-2060-71DE-6F11F9EED935}"/>
                </a:ext>
              </a:extLst>
            </p:cNvPr>
            <p:cNvSpPr txBox="1">
              <a:spLocks/>
            </p:cNvSpPr>
            <p:nvPr/>
          </p:nvSpPr>
          <p:spPr>
            <a:xfrm>
              <a:off x="1094846" y="2810634"/>
              <a:ext cx="7301753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100" b="1" i="1" dirty="0">
                  <a:solidFill>
                    <a:schemeClr val="tx1"/>
                  </a:solidFill>
                  <a:latin typeface="Noto Sans Semibold"/>
                  <a:ea typeface="Arial"/>
                  <a:cs typeface="Arial"/>
                  <a:sym typeface="Arial"/>
                </a:rPr>
                <a:t>Ding </a:t>
              </a:r>
              <a:r>
                <a:rPr lang="de-DE" sz="1400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=  </a:t>
              </a:r>
              <a:r>
                <a:rPr lang="de-DE" sz="1400" b="1" dirty="0">
                  <a:solidFill>
                    <a:srgbClr val="C00000"/>
                  </a:solidFill>
                  <a:latin typeface="Noto Sans Semibold"/>
                  <a:ea typeface="Arial"/>
                  <a:cs typeface="Arial"/>
                  <a:sym typeface="Arial"/>
                </a:rPr>
                <a:t>0.6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Gut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 0.2·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Ding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 0.1·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braucht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 0.1·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Weile</a:t>
              </a:r>
              <a:endParaRPr lang="en-US" sz="1100" b="1" i="1" dirty="0">
                <a:latin typeface="Noto Sans Semibold"/>
              </a:endParaRPr>
            </a:p>
          </p:txBody>
        </p:sp>
        <p:sp>
          <p:nvSpPr>
            <p:cNvPr id="13" name="Google Shape;177;p8">
              <a:extLst>
                <a:ext uri="{FF2B5EF4-FFF2-40B4-BE49-F238E27FC236}">
                  <a16:creationId xmlns:a16="http://schemas.microsoft.com/office/drawing/2014/main" id="{6D34D5E3-AC04-102D-F97D-823710068235}"/>
                </a:ext>
              </a:extLst>
            </p:cNvPr>
            <p:cNvSpPr txBox="1">
              <a:spLocks/>
            </p:cNvSpPr>
            <p:nvPr/>
          </p:nvSpPr>
          <p:spPr>
            <a:xfrm>
              <a:off x="861103" y="3169401"/>
              <a:ext cx="7586466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100" b="1" i="1" dirty="0">
                  <a:solidFill>
                    <a:schemeClr val="tx1"/>
                  </a:solidFill>
                  <a:latin typeface="Noto Sans Semibold"/>
                  <a:ea typeface="Arial"/>
                  <a:cs typeface="Arial"/>
                  <a:sym typeface="Arial"/>
                </a:rPr>
                <a:t>braucht </a:t>
              </a:r>
              <a:r>
                <a:rPr lang="de-DE" sz="1400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=  0.2·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Gut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</a:t>
              </a:r>
              <a:r>
                <a:rPr lang="de-DE" sz="1400" b="1" dirty="0">
                  <a:solidFill>
                    <a:srgbClr val="3B9927"/>
                  </a:solidFill>
                  <a:latin typeface="Noto Sans Semibold"/>
                  <a:ea typeface="Arial"/>
                  <a:cs typeface="Arial"/>
                  <a:sym typeface="Arial"/>
                </a:rPr>
                <a:t>0.4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Ding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 0.2·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braucht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 0.2·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Weile</a:t>
              </a:r>
              <a:endParaRPr lang="en-US" sz="1100" b="1" i="1" dirty="0">
                <a:latin typeface="Noto Sans Semibold"/>
              </a:endParaRPr>
            </a:p>
          </p:txBody>
        </p:sp>
        <p:sp>
          <p:nvSpPr>
            <p:cNvPr id="14" name="Google Shape;177;p8">
              <a:extLst>
                <a:ext uri="{FF2B5EF4-FFF2-40B4-BE49-F238E27FC236}">
                  <a16:creationId xmlns:a16="http://schemas.microsoft.com/office/drawing/2014/main" id="{3605C952-0417-51BE-47DA-3F942148E7ED}"/>
                </a:ext>
              </a:extLst>
            </p:cNvPr>
            <p:cNvSpPr txBox="1">
              <a:spLocks/>
            </p:cNvSpPr>
            <p:nvPr/>
          </p:nvSpPr>
          <p:spPr>
            <a:xfrm>
              <a:off x="1020888" y="3528167"/>
              <a:ext cx="7375711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100" b="1" i="1" dirty="0">
                  <a:solidFill>
                    <a:schemeClr val="tx1"/>
                  </a:solidFill>
                  <a:latin typeface="Noto Sans Semibold"/>
                  <a:ea typeface="Arial"/>
                  <a:cs typeface="Arial"/>
                  <a:sym typeface="Arial"/>
                </a:rPr>
                <a:t>Weile </a:t>
              </a:r>
              <a:r>
                <a:rPr lang="de-DE" sz="1400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=  0.1·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Gut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 0.2·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Ding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 </a:t>
              </a:r>
              <a:r>
                <a:rPr lang="de-DE" sz="1400" b="1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0.5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braucht</a:t>
              </a:r>
              <a:r>
                <a:rPr lang="de-DE" sz="1400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   +   0.2·</a:t>
              </a:r>
              <a:r>
                <a:rPr lang="de-DE" sz="11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Weile</a:t>
              </a:r>
              <a:endParaRPr lang="en-US" sz="1100" b="1" i="1" dirty="0">
                <a:latin typeface="Noto Sans Semibold"/>
              </a:endParaRPr>
            </a:p>
          </p:txBody>
        </p:sp>
      </p:grpSp>
      <p:sp>
        <p:nvSpPr>
          <p:cNvPr id="25" name="Rechteck 24">
            <a:extLst>
              <a:ext uri="{FF2B5EF4-FFF2-40B4-BE49-F238E27FC236}">
                <a16:creationId xmlns:a16="http://schemas.microsoft.com/office/drawing/2014/main" id="{53639AA6-1390-7284-477C-789961C4361B}"/>
              </a:ext>
            </a:extLst>
          </p:cNvPr>
          <p:cNvSpPr/>
          <p:nvPr/>
        </p:nvSpPr>
        <p:spPr>
          <a:xfrm>
            <a:off x="0" y="2495535"/>
            <a:ext cx="11520489" cy="4703778"/>
          </a:xfrm>
          <a:prstGeom prst="rect">
            <a:avLst/>
          </a:prstGeom>
          <a:solidFill>
            <a:srgbClr val="FFFFFF">
              <a:alpha val="54118"/>
            </a:srgb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4883D4E-2269-3481-8FD7-C25C4030B706}"/>
              </a:ext>
            </a:extLst>
          </p:cNvPr>
          <p:cNvSpPr txBox="1"/>
          <p:nvPr/>
        </p:nvSpPr>
        <p:spPr>
          <a:xfrm>
            <a:off x="533213" y="1062039"/>
            <a:ext cx="9451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>
                    <a:lumMod val="50000"/>
                  </a:schemeClr>
                </a:solidFill>
                <a:effectLst/>
                <a:latin typeface="Noto Sans Semibold"/>
              </a:rPr>
              <a:t>3. Attention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Kontextvektoren als Farbmuster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F0045A23-68D0-FE1A-43D5-C59E6B887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824" y="6137589"/>
            <a:ext cx="534844" cy="531845"/>
          </a:xfrm>
        </p:spPr>
        <p:txBody>
          <a:bodyPr/>
          <a:lstStyle/>
          <a:p>
            <a:pPr marL="108002" indent="0">
              <a:buNone/>
            </a:pPr>
            <a:r>
              <a:rPr lang="de-DE" dirty="0"/>
              <a:t> 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B1D53AC-14F0-CAE3-946A-B2D39872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12" y="6089520"/>
            <a:ext cx="768818" cy="579914"/>
          </a:xfrm>
        </p:spPr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16" name="Textplatzhalter 16">
            <a:extLst>
              <a:ext uri="{FF2B5EF4-FFF2-40B4-BE49-F238E27FC236}">
                <a16:creationId xmlns:a16="http://schemas.microsoft.com/office/drawing/2014/main" id="{0CBC959A-C26E-6130-DD5F-9633F3FDC577}"/>
              </a:ext>
            </a:extLst>
          </p:cNvPr>
          <p:cNvSpPr txBox="1">
            <a:spLocks/>
          </p:cNvSpPr>
          <p:nvPr/>
        </p:nvSpPr>
        <p:spPr>
          <a:xfrm>
            <a:off x="226824" y="6137589"/>
            <a:ext cx="534844" cy="53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108002" indent="0">
              <a:buFont typeface="Noto Sans Symbols"/>
              <a:buNone/>
            </a:pPr>
            <a:r>
              <a:rPr lang="de-DE" dirty="0">
                <a:latin typeface="Noto Sans Semibold"/>
              </a:rPr>
              <a:t> </a:t>
            </a:r>
          </a:p>
        </p:txBody>
      </p:sp>
      <p:sp>
        <p:nvSpPr>
          <p:cNvPr id="18" name="Titel 19">
            <a:extLst>
              <a:ext uri="{FF2B5EF4-FFF2-40B4-BE49-F238E27FC236}">
                <a16:creationId xmlns:a16="http://schemas.microsoft.com/office/drawing/2014/main" id="{9816C09E-0DA8-A0AC-D7DE-18F5EB150B45}"/>
              </a:ext>
            </a:extLst>
          </p:cNvPr>
          <p:cNvSpPr txBox="1">
            <a:spLocks/>
          </p:cNvSpPr>
          <p:nvPr/>
        </p:nvSpPr>
        <p:spPr>
          <a:xfrm>
            <a:off x="291012" y="5401454"/>
            <a:ext cx="768818" cy="579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  <a:defRPr sz="3600" b="0" i="0" u="none" strike="noStrike" cap="none">
                <a:solidFill>
                  <a:srgbClr val="FFFFFF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 dirty="0">
                <a:latin typeface="Noto Sans Semibold"/>
              </a:rPr>
              <a:t> </a:t>
            </a:r>
          </a:p>
        </p:txBody>
      </p:sp>
      <p:sp>
        <p:nvSpPr>
          <p:cNvPr id="4" name="Google Shape;177;p8">
            <a:extLst>
              <a:ext uri="{FF2B5EF4-FFF2-40B4-BE49-F238E27FC236}">
                <a16:creationId xmlns:a16="http://schemas.microsoft.com/office/drawing/2014/main" id="{6A2A3304-1B64-8516-DA59-B1672DFD0E7D}"/>
              </a:ext>
            </a:extLst>
          </p:cNvPr>
          <p:cNvSpPr txBox="1">
            <a:spLocks/>
          </p:cNvSpPr>
          <p:nvPr/>
        </p:nvSpPr>
        <p:spPr>
          <a:xfrm>
            <a:off x="457200" y="4044759"/>
            <a:ext cx="1635554" cy="262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 algn="r">
              <a:lnSpc>
                <a:spcPct val="25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chemeClr val="tx1"/>
                </a:solidFill>
                <a:latin typeface="Noto Sans Semibold"/>
                <a:ea typeface="Arial"/>
                <a:cs typeface="Arial"/>
                <a:sym typeface="Arial"/>
              </a:rPr>
              <a:t>Gut </a:t>
            </a:r>
            <a:r>
              <a:rPr lang="de-DE" sz="1600" b="1" baseline="-25000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Kontext</a:t>
            </a:r>
          </a:p>
          <a:p>
            <a:pPr marL="0" indent="0" algn="r">
              <a:lnSpc>
                <a:spcPct val="25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chemeClr val="tx1"/>
                </a:solidFill>
                <a:latin typeface="Noto Sans Semibold"/>
                <a:ea typeface="Arial"/>
                <a:cs typeface="Arial"/>
                <a:sym typeface="Arial"/>
              </a:rPr>
              <a:t>Ding </a:t>
            </a:r>
            <a:r>
              <a:rPr lang="de-DE" sz="1600" b="1" baseline="-25000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Kontext</a:t>
            </a:r>
          </a:p>
          <a:p>
            <a:pPr marL="0" indent="0" algn="r">
              <a:lnSpc>
                <a:spcPct val="25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 err="1">
                <a:solidFill>
                  <a:schemeClr val="tx1"/>
                </a:solidFill>
                <a:latin typeface="Noto Sans Semibold"/>
                <a:ea typeface="Arial"/>
                <a:cs typeface="Arial"/>
                <a:sym typeface="Arial"/>
              </a:rPr>
              <a:t>bt</a:t>
            </a:r>
            <a:r>
              <a:rPr lang="de-DE" sz="1600" b="1" i="1" dirty="0">
                <a:solidFill>
                  <a:schemeClr val="tx1"/>
                </a:solidFill>
                <a:latin typeface="Noto Sans Semibold"/>
                <a:ea typeface="Arial"/>
                <a:cs typeface="Arial"/>
                <a:sym typeface="Arial"/>
              </a:rPr>
              <a:t> </a:t>
            </a:r>
            <a:r>
              <a:rPr lang="de-DE" sz="1600" b="1" baseline="-25000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Kontext</a:t>
            </a:r>
          </a:p>
          <a:p>
            <a:pPr marL="0" indent="0" algn="r">
              <a:lnSpc>
                <a:spcPct val="25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chemeClr val="tx1"/>
                </a:solidFill>
                <a:latin typeface="Noto Sans Semibold"/>
                <a:ea typeface="Arial"/>
                <a:cs typeface="Arial"/>
                <a:sym typeface="Arial"/>
              </a:rPr>
              <a:t>Weile </a:t>
            </a:r>
            <a:r>
              <a:rPr lang="de-DE" sz="1600" b="1" baseline="-25000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Kontext</a:t>
            </a:r>
            <a:endParaRPr lang="en-US" sz="1600" b="1" i="1" dirty="0">
              <a:latin typeface="Noto Sans Semibold"/>
            </a:endParaRP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E7FDA50C-1EE8-4C9B-4AE4-915541536F0A}"/>
              </a:ext>
            </a:extLst>
          </p:cNvPr>
          <p:cNvGrpSpPr/>
          <p:nvPr/>
        </p:nvGrpSpPr>
        <p:grpSpPr>
          <a:xfrm>
            <a:off x="778555" y="4371154"/>
            <a:ext cx="1236827" cy="2044432"/>
            <a:chOff x="778555" y="4371154"/>
            <a:chExt cx="1236827" cy="2044432"/>
          </a:xfrm>
        </p:grpSpPr>
        <p:pic>
          <p:nvPicPr>
            <p:cNvPr id="56" name="Grafik 55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598E58B3-C7E0-2C9D-85B8-4291A08B63AE}"/>
                </a:ext>
              </a:extLst>
            </p:cNvPr>
            <p:cNvPicPr>
              <a:picLocks/>
            </p:cNvPicPr>
            <p:nvPr/>
          </p:nvPicPr>
          <p:blipFill rotWithShape="1">
            <a:blip r:embed="rId5"/>
            <a:srcRect l="35557" t="89218" r="34876" b="1280"/>
            <a:stretch/>
          </p:blipFill>
          <p:spPr>
            <a:xfrm rot="10800000">
              <a:off x="778555" y="4371154"/>
              <a:ext cx="1236827" cy="234635"/>
            </a:xfrm>
            <a:prstGeom prst="rect">
              <a:avLst/>
            </a:prstGeom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</p:pic>
        <p:pic>
          <p:nvPicPr>
            <p:cNvPr id="5" name="Grafik 4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110682FD-9209-BCB8-6E7D-4672281A6EF5}"/>
                </a:ext>
              </a:extLst>
            </p:cNvPr>
            <p:cNvPicPr>
              <a:picLocks/>
            </p:cNvPicPr>
            <p:nvPr/>
          </p:nvPicPr>
          <p:blipFill rotWithShape="1">
            <a:blip r:embed="rId5"/>
            <a:srcRect l="35557" t="75807" r="34876" b="14691"/>
            <a:stretch/>
          </p:blipFill>
          <p:spPr>
            <a:xfrm rot="10800000">
              <a:off x="778555" y="4974420"/>
              <a:ext cx="1236827" cy="234635"/>
            </a:xfrm>
            <a:prstGeom prst="rect">
              <a:avLst/>
            </a:prstGeom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</p:pic>
        <p:pic>
          <p:nvPicPr>
            <p:cNvPr id="6" name="Grafik 5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D77A1EF9-98C3-0932-E810-B95276326DFE}"/>
                </a:ext>
              </a:extLst>
            </p:cNvPr>
            <p:cNvPicPr>
              <a:picLocks/>
            </p:cNvPicPr>
            <p:nvPr/>
          </p:nvPicPr>
          <p:blipFill rotWithShape="1">
            <a:blip r:embed="rId5"/>
            <a:srcRect l="35557" t="89218" r="34876" b="1280"/>
            <a:stretch/>
          </p:blipFill>
          <p:spPr>
            <a:xfrm rot="10800000">
              <a:off x="778555" y="5577686"/>
              <a:ext cx="1236827" cy="234635"/>
            </a:xfrm>
            <a:prstGeom prst="rect">
              <a:avLst/>
            </a:prstGeom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</p:pic>
        <p:pic>
          <p:nvPicPr>
            <p:cNvPr id="8" name="Grafik 7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0DA523A6-7596-0287-5237-71973890C95C}"/>
                </a:ext>
              </a:extLst>
            </p:cNvPr>
            <p:cNvPicPr>
              <a:picLocks/>
            </p:cNvPicPr>
            <p:nvPr/>
          </p:nvPicPr>
          <p:blipFill rotWithShape="1">
            <a:blip r:embed="rId5"/>
            <a:srcRect l="35557" t="50258" r="34876" b="40240"/>
            <a:stretch/>
          </p:blipFill>
          <p:spPr>
            <a:xfrm rot="10800000">
              <a:off x="778555" y="6180951"/>
              <a:ext cx="1236827" cy="234635"/>
            </a:xfrm>
            <a:prstGeom prst="rect">
              <a:avLst/>
            </a:prstGeom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</p:pic>
      </p:grpSp>
      <p:sp>
        <p:nvSpPr>
          <p:cNvPr id="63" name="Google Shape;177;p8">
            <a:extLst>
              <a:ext uri="{FF2B5EF4-FFF2-40B4-BE49-F238E27FC236}">
                <a16:creationId xmlns:a16="http://schemas.microsoft.com/office/drawing/2014/main" id="{F8920BF8-1C20-DF48-E2F1-4644FC1806A6}"/>
              </a:ext>
            </a:extLst>
          </p:cNvPr>
          <p:cNvSpPr txBox="1">
            <a:spLocks/>
          </p:cNvSpPr>
          <p:nvPr/>
        </p:nvSpPr>
        <p:spPr>
          <a:xfrm>
            <a:off x="573830" y="1744256"/>
            <a:ext cx="10560748" cy="75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SzPts val="2000"/>
              <a:buFont typeface="Noto Sans Symbols"/>
              <a:buNone/>
            </a:pPr>
            <a:endParaRPr lang="de-DE" sz="1200" b="1" dirty="0">
              <a:solidFill>
                <a:srgbClr val="003C72"/>
              </a:solidFill>
              <a:effectLst/>
              <a:latin typeface="Noto Sans Semibold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 r:embed="rId6"/>
              </a:buBlip>
            </a:pPr>
            <a:r>
              <a:rPr lang="de-DE" b="1" dirty="0">
                <a:solidFill>
                  <a:srgbClr val="003C72"/>
                </a:solidFill>
                <a:latin typeface="Noto Sans Semibold"/>
              </a:rPr>
              <a:t>Die Gewichte einer Zeile mischen die Value-Vektoren zum Kontextvektor (hier ohne Maske).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60D2AA2-FC00-4DCA-4BB6-D41AF26A87CD}"/>
              </a:ext>
            </a:extLst>
          </p:cNvPr>
          <p:cNvSpPr/>
          <p:nvPr/>
        </p:nvSpPr>
        <p:spPr>
          <a:xfrm>
            <a:off x="614362" y="4128248"/>
            <a:ext cx="1560287" cy="2499273"/>
          </a:xfrm>
          <a:prstGeom prst="rect">
            <a:avLst/>
          </a:prstGeom>
          <a:noFill/>
          <a:ln>
            <a:solidFill>
              <a:srgbClr val="CD1619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97172A43-8874-7658-047C-179651C97B9C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</p:spTree>
    <p:extLst>
      <p:ext uri="{BB962C8B-B14F-4D97-AF65-F5344CB8AC3E}">
        <p14:creationId xmlns:p14="http://schemas.microsoft.com/office/powerpoint/2010/main" val="2699931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3. Attention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Die kausale Maske: kein Blick in die Zukunft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2000" y="1745999"/>
            <a:ext cx="360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6001AD"/>
                </a:solidFill>
              </a:rPr>
              <a:t>Maske M (zum Score addiert)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2000" y="2052000"/>
          <a:ext cx="3887999" cy="1872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07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4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74151"/>
                          </a:solidFill>
                        </a:rPr>
                        <a:t>Gut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74151"/>
                          </a:solidFill>
                        </a:rPr>
                        <a:t>Ding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74151"/>
                          </a:solidFill>
                        </a:rPr>
                        <a:t>braucht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74151"/>
                          </a:solidFill>
                        </a:rPr>
                        <a:t>Weile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</a:rPr>
                        <a:t>Gut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−∞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−∞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−∞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D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</a:rPr>
                        <a:t>Ding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−∞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−∞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D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</a:rPr>
                        <a:t>braucht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−∞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D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</a:rPr>
                        <a:t>Weile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E6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896000" y="1745999"/>
            <a:ext cx="432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6001AD"/>
                </a:solidFill>
              </a:rPr>
              <a:t>Gewichte nach der Softmax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896000" y="2052000"/>
          <a:ext cx="3887999" cy="1872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07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4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74151"/>
                          </a:solidFill>
                        </a:rPr>
                        <a:t>Gut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74151"/>
                          </a:solidFill>
                        </a:rPr>
                        <a:t>Ding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74151"/>
                          </a:solidFill>
                        </a:rPr>
                        <a:t>braucht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74151"/>
                          </a:solidFill>
                        </a:rPr>
                        <a:t>Weile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</a:rPr>
                        <a:t>Gut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4151"/>
                          </a:solidFill>
                        </a:rPr>
                        <a:t>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4151"/>
                          </a:solidFill>
                        </a:rPr>
                        <a:t>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4151"/>
                          </a:solidFill>
                        </a:rPr>
                        <a:t>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4151"/>
                          </a:solidFill>
                        </a:rPr>
                        <a:t>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</a:rPr>
                        <a:t>Ding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0000"/>
                          </a:solidFill>
                        </a:rPr>
                        <a:t>0.75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4151"/>
                          </a:solidFill>
                        </a:rPr>
                        <a:t>0.25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4151"/>
                          </a:solidFill>
                        </a:rPr>
                        <a:t>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4151"/>
                          </a:solidFill>
                        </a:rPr>
                        <a:t>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</a:rPr>
                        <a:t>braucht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4151"/>
                          </a:solidFill>
                        </a:rPr>
                        <a:t>0.25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B9927"/>
                          </a:solidFill>
                        </a:rPr>
                        <a:t>0.5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4151"/>
                          </a:solidFill>
                        </a:rPr>
                        <a:t>0.25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4151"/>
                          </a:solidFill>
                        </a:rPr>
                        <a:t>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</a:rPr>
                        <a:t>Weile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4151"/>
                          </a:solidFill>
                        </a:rPr>
                        <a:t>0.1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4151"/>
                          </a:solidFill>
                        </a:rPr>
                        <a:t>0.2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3C72"/>
                          </a:solidFill>
                        </a:rPr>
                        <a:t>0.5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4151"/>
                          </a:solidFill>
                        </a:rPr>
                        <a:t>0.2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Formel 9"/>
              <p:cNvSpPr txBox="1"/>
              <p:nvPr/>
            </p:nvSpPr>
            <p:spPr>
              <a:xfrm>
                <a:off x="9115597" y="2376000"/>
                <a:ext cx="2072807" cy="70866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e-DE" sz="18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de-DE" sz="1800" i="1">
                                    <a:solidFill>
                                      <a:srgbClr val="37415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sz="1800" i="1">
                                    <a:solidFill>
                                      <a:srgbClr val="37415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800" i="0">
                                    <a:solidFill>
                                      <a:srgbClr val="374151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de-DE" sz="1800" i="1">
                                    <a:solidFill>
                                      <a:srgbClr val="37415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sz="1800" i="0">
                                    <a:solidFill>
                                      <a:srgbClr val="374151"/>
                                    </a:solidFill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  <m:e>
                                <m:r>
                                  <a:rPr lang="de-DE" sz="1800" i="1">
                                    <a:solidFill>
                                      <a:srgbClr val="37415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800" i="0">
                                    <a:solidFill>
                                      <a:srgbClr val="374151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de-DE" sz="1800" i="1">
                                    <a:solidFill>
                                      <a:srgbClr val="37415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e-DE" sz="1800"/>
              </a:p>
            </p:txBody>
          </p:sp>
        </mc:Choice>
        <mc:Fallback xmlns:m="http://schemas.openxmlformats.org/officeDocument/2006/math" xmlns="">
          <p:sp>
            <p:nvSpPr>
              <p:cNvPr id="9" name="Formel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5597" y="2376000"/>
                <a:ext cx="1892807" cy="708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9108000" y="3311999"/>
            <a:ext cx="2052000" cy="6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</a:rPr>
              <a:t>e</a:t>
            </a:r>
            <a:r>
              <a:rPr sz="1200" b="0" baseline="30000">
                <a:solidFill>
                  <a:srgbClr val="374151"/>
                </a:solidFill>
              </a:rPr>
              <a:t>−∞</a:t>
            </a:r>
            <a:r>
              <a:rPr sz="1200" b="0">
                <a:solidFill>
                  <a:srgbClr val="374151"/>
                </a:solidFill>
              </a:rPr>
              <a:t> = 0: Gewicht exakt 0, Zeilensumme trotzdem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000" y="4176000"/>
            <a:ext cx="10584000" cy="23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sz="1500" b="1">
                <a:solidFill>
                  <a:srgbClr val="6001AD"/>
                </a:solidFill>
              </a:rPr>
              <a:t>Training: </a:t>
            </a:r>
            <a:r>
              <a:rPr sz="1500" b="1">
                <a:solidFill>
                  <a:srgbClr val="374151"/>
                </a:solidFill>
              </a:rPr>
              <a:t>Ohne Maske könnte Position i das Ziel (Token i+1) einfach ablesen – das Modell würde abschreiben statt vorhersagen.</a:t>
            </a: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sz="1500" b="1">
                <a:solidFill>
                  <a:srgbClr val="6001AD"/>
                </a:solidFill>
              </a:rPr>
              <a:t>Inferenz: </a:t>
            </a:r>
            <a:r>
              <a:rPr sz="1500" b="1">
                <a:solidFill>
                  <a:srgbClr val="374151"/>
                </a:solidFill>
              </a:rPr>
              <a:t>Spätere Tokens gibt es noch nicht; die Maske sorgt dafür, dass das Modell genauso rechnet wie im Training.</a:t>
            </a: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sz="1500" b="1">
                <a:solidFill>
                  <a:srgbClr val="6001AD"/>
                </a:solidFill>
              </a:rPr>
              <a:t>Zahlen: </a:t>
            </a:r>
            <a:r>
              <a:rPr sz="1500" b="1">
                <a:solidFill>
                  <a:srgbClr val="374151"/>
                </a:solidFill>
              </a:rPr>
              <a:t>dieselben Scores wie zuvor; die erlaubten Einträge jeder Zeile werden neu auf Summe 1 normiert. Die markierten Bezüge zeigen auf frühere Tokens und bleiben erhalten.</a:t>
            </a: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sz="1500" b="1">
                <a:solidFill>
                  <a:srgbClr val="374151"/>
                </a:solidFill>
              </a:rPr>
              <a:t>Encoder (z. B. BERT, Übersetzungs-Encoder) rechnen ohne kausale Maske.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000" y="6750000"/>
            <a:ext cx="10620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Vaswani et al. (2017), Abschn. 3.2.3: „masking out (setting to −∞) all values in the input of the softmax which correspond to illegal connections“  ·  Devlin et al. (2019): BERT „uses bidirectional self-attention“.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C4883D4E-2269-3481-8FD7-C25C4030B706}"/>
              </a:ext>
            </a:extLst>
          </p:cNvPr>
          <p:cNvSpPr txBox="1"/>
          <p:nvPr/>
        </p:nvSpPr>
        <p:spPr>
          <a:xfrm>
            <a:off x="533213" y="1062039"/>
            <a:ext cx="9451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>
                    <a:lumMod val="50000"/>
                  </a:schemeClr>
                </a:solidFill>
                <a:effectLst/>
                <a:latin typeface="Noto Sans Semibold"/>
              </a:rPr>
              <a:t>3. Attention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Ein Attention-Kopf (Head)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F0045A23-68D0-FE1A-43D5-C59E6B887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824" y="6390806"/>
            <a:ext cx="534844" cy="531845"/>
          </a:xfrm>
        </p:spPr>
        <p:txBody>
          <a:bodyPr/>
          <a:lstStyle/>
          <a:p>
            <a:pPr marL="108002" indent="0">
              <a:buNone/>
            </a:pPr>
            <a:r>
              <a:rPr lang="de-DE" dirty="0"/>
              <a:t> 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B1D53AC-14F0-CAE3-946A-B2D39872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12" y="6342737"/>
            <a:ext cx="768818" cy="579914"/>
          </a:xfrm>
        </p:spPr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16" name="Textplatzhalter 16">
            <a:extLst>
              <a:ext uri="{FF2B5EF4-FFF2-40B4-BE49-F238E27FC236}">
                <a16:creationId xmlns:a16="http://schemas.microsoft.com/office/drawing/2014/main" id="{0CBC959A-C26E-6130-DD5F-9633F3FDC577}"/>
              </a:ext>
            </a:extLst>
          </p:cNvPr>
          <p:cNvSpPr txBox="1">
            <a:spLocks/>
          </p:cNvSpPr>
          <p:nvPr/>
        </p:nvSpPr>
        <p:spPr>
          <a:xfrm>
            <a:off x="226824" y="6390806"/>
            <a:ext cx="534844" cy="53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108002" indent="0">
              <a:buFont typeface="Noto Sans Symbols"/>
              <a:buNone/>
            </a:pPr>
            <a:r>
              <a:rPr lang="de-DE" dirty="0">
                <a:latin typeface="Noto Sans Semibold"/>
              </a:rPr>
              <a:t> </a:t>
            </a:r>
          </a:p>
        </p:txBody>
      </p:sp>
      <p:sp>
        <p:nvSpPr>
          <p:cNvPr id="18" name="Titel 19">
            <a:extLst>
              <a:ext uri="{FF2B5EF4-FFF2-40B4-BE49-F238E27FC236}">
                <a16:creationId xmlns:a16="http://schemas.microsoft.com/office/drawing/2014/main" id="{9816C09E-0DA8-A0AC-D7DE-18F5EB150B45}"/>
              </a:ext>
            </a:extLst>
          </p:cNvPr>
          <p:cNvSpPr txBox="1">
            <a:spLocks/>
          </p:cNvSpPr>
          <p:nvPr/>
        </p:nvSpPr>
        <p:spPr>
          <a:xfrm>
            <a:off x="533213" y="4845467"/>
            <a:ext cx="768818" cy="579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  <a:defRPr sz="3600" b="0" i="0" u="none" strike="noStrike" cap="none">
                <a:solidFill>
                  <a:srgbClr val="FFFFFF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 dirty="0">
                <a:latin typeface="Noto Sans Semibold"/>
              </a:rPr>
              <a:t> </a:t>
            </a:r>
          </a:p>
        </p:txBody>
      </p:sp>
      <p:pic>
        <p:nvPicPr>
          <p:cNvPr id="12" name="Grafik 11" descr="Ein Bild, das Text, Screenshot, Schrift enthält.&#10;&#10;Automatisch generierte Beschreibung">
            <a:extLst>
              <a:ext uri="{FF2B5EF4-FFF2-40B4-BE49-F238E27FC236}">
                <a16:creationId xmlns:a16="http://schemas.microsoft.com/office/drawing/2014/main" id="{197C5CA4-2A2A-0208-6672-E4AA82F518C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446" t="12006"/>
          <a:stretch/>
        </p:blipFill>
        <p:spPr>
          <a:xfrm>
            <a:off x="4534107" y="2441278"/>
            <a:ext cx="4805007" cy="3113241"/>
          </a:xfrm>
          <a:prstGeom prst="rect">
            <a:avLst/>
          </a:prstGeom>
        </p:spPr>
      </p:pic>
      <p:sp>
        <p:nvSpPr>
          <p:cNvPr id="13" name="Google Shape;135;p5">
            <a:extLst>
              <a:ext uri="{FF2B5EF4-FFF2-40B4-BE49-F238E27FC236}">
                <a16:creationId xmlns:a16="http://schemas.microsoft.com/office/drawing/2014/main" id="{D003E962-8EFC-18AF-2C92-A61DEE43200A}"/>
              </a:ext>
            </a:extLst>
          </p:cNvPr>
          <p:cNvSpPr txBox="1">
            <a:spLocks/>
          </p:cNvSpPr>
          <p:nvPr/>
        </p:nvSpPr>
        <p:spPr>
          <a:xfrm>
            <a:off x="6273279" y="6303254"/>
            <a:ext cx="5153861" cy="7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  <a:defRPr sz="3600" b="0" i="0" u="none" strike="noStrike" cap="none">
                <a:solidFill>
                  <a:srgbClr val="FFFFFF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600"/>
            </a:pPr>
            <a:r>
              <a:rPr lang="en-US" sz="1800" dirty="0">
                <a:solidFill>
                  <a:schemeClr val="dk1"/>
                </a:solidFill>
                <a:latin typeface="Noto Sans Semibold"/>
              </a:rPr>
              <a:t>VASWANI, Ashish, et al. Attention is all you need.</a:t>
            </a:r>
            <a:br>
              <a:rPr lang="en-US" sz="1800" dirty="0">
                <a:solidFill>
                  <a:schemeClr val="dk1"/>
                </a:solidFill>
                <a:latin typeface="Noto Sans Semibold"/>
              </a:rPr>
            </a:br>
            <a:r>
              <a:rPr lang="en-US" sz="1800" dirty="0">
                <a:solidFill>
                  <a:schemeClr val="dk1"/>
                </a:solidFill>
                <a:latin typeface="Noto Sans Semibold"/>
              </a:rPr>
              <a:t>Advances in neural information processing systems, </a:t>
            </a:r>
            <a:br>
              <a:rPr lang="en-US" sz="1800" dirty="0">
                <a:solidFill>
                  <a:schemeClr val="dk1"/>
                </a:solidFill>
                <a:latin typeface="Noto Sans Semibold"/>
              </a:rPr>
            </a:br>
            <a:r>
              <a:rPr lang="en-US" sz="1800" dirty="0">
                <a:solidFill>
                  <a:schemeClr val="dk1"/>
                </a:solidFill>
                <a:latin typeface="Noto Sans Semibold"/>
              </a:rPr>
              <a:t>2017, 30. Jg.</a:t>
            </a:r>
            <a:endParaRPr lang="de-DE" sz="1800" dirty="0">
              <a:latin typeface="Noto Sans Semibold"/>
            </a:endParaRPr>
          </a:p>
        </p:txBody>
      </p:sp>
      <p:sp>
        <p:nvSpPr>
          <p:cNvPr id="3" name="Google Shape;177;p8">
            <a:extLst>
              <a:ext uri="{FF2B5EF4-FFF2-40B4-BE49-F238E27FC236}">
                <a16:creationId xmlns:a16="http://schemas.microsoft.com/office/drawing/2014/main" id="{4DBADDDA-5044-A216-5F65-33E8228045E0}"/>
              </a:ext>
            </a:extLst>
          </p:cNvPr>
          <p:cNvSpPr txBox="1">
            <a:spLocks/>
          </p:cNvSpPr>
          <p:nvPr/>
        </p:nvSpPr>
        <p:spPr>
          <a:xfrm>
            <a:off x="699401" y="3235555"/>
            <a:ext cx="1635554" cy="262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 algn="r">
              <a:lnSpc>
                <a:spcPct val="25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chemeClr val="tx1"/>
                </a:solidFill>
                <a:latin typeface="Noto Sans Semibold"/>
                <a:ea typeface="Arial"/>
                <a:cs typeface="Arial"/>
                <a:sym typeface="Arial"/>
              </a:rPr>
              <a:t>Gut </a:t>
            </a:r>
            <a:r>
              <a:rPr lang="de-DE" sz="1600" b="1" baseline="-25000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Kontext</a:t>
            </a:r>
          </a:p>
          <a:p>
            <a:pPr marL="0" indent="0" algn="r">
              <a:lnSpc>
                <a:spcPct val="25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chemeClr val="tx1"/>
                </a:solidFill>
                <a:latin typeface="Noto Sans Semibold"/>
                <a:ea typeface="Arial"/>
                <a:cs typeface="Arial"/>
                <a:sym typeface="Arial"/>
              </a:rPr>
              <a:t>Ding </a:t>
            </a:r>
            <a:r>
              <a:rPr lang="de-DE" sz="1600" b="1" baseline="-25000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Kontext</a:t>
            </a:r>
          </a:p>
          <a:p>
            <a:pPr marL="0" indent="0" algn="r">
              <a:lnSpc>
                <a:spcPct val="25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chemeClr val="tx1"/>
                </a:solidFill>
                <a:latin typeface="Noto Sans Semibold"/>
                <a:ea typeface="Arial"/>
                <a:cs typeface="Arial"/>
                <a:sym typeface="Arial"/>
              </a:rPr>
              <a:t>braucht </a:t>
            </a:r>
            <a:r>
              <a:rPr lang="de-DE" sz="1600" b="1" baseline="-25000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Kontext</a:t>
            </a:r>
          </a:p>
          <a:p>
            <a:pPr marL="0" indent="0" algn="r">
              <a:lnSpc>
                <a:spcPct val="25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chemeClr val="tx1"/>
                </a:solidFill>
                <a:latin typeface="Noto Sans Semibold"/>
                <a:ea typeface="Arial"/>
                <a:cs typeface="Arial"/>
                <a:sym typeface="Arial"/>
              </a:rPr>
              <a:t>Weile </a:t>
            </a:r>
            <a:r>
              <a:rPr lang="de-DE" sz="1600" b="1" baseline="-25000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Kontext</a:t>
            </a:r>
            <a:endParaRPr lang="en-US" sz="1600" b="1" i="1" dirty="0">
              <a:latin typeface="Noto Sans Semibold"/>
            </a:endParaRPr>
          </a:p>
        </p:txBody>
      </p:sp>
      <p:pic>
        <p:nvPicPr>
          <p:cNvPr id="8" name="Grafik 7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2E791ED1-FDB2-8DC4-F5B6-A6912CB0893C}"/>
              </a:ext>
            </a:extLst>
          </p:cNvPr>
          <p:cNvPicPr>
            <a:picLocks/>
          </p:cNvPicPr>
          <p:nvPr/>
        </p:nvPicPr>
        <p:blipFill rotWithShape="1">
          <a:blip r:embed="rId5"/>
          <a:srcRect l="35557" t="49851" r="34876" b="1280"/>
          <a:stretch/>
        </p:blipFill>
        <p:spPr>
          <a:xfrm rot="10800000">
            <a:off x="2963762" y="4042474"/>
            <a:ext cx="1236827" cy="1206758"/>
          </a:xfrm>
          <a:prstGeom prst="rect">
            <a:avLst/>
          </a:prstGeom>
        </p:spPr>
      </p:pic>
      <p:sp>
        <p:nvSpPr>
          <p:cNvPr id="10" name="Google Shape;200;p10">
            <a:extLst>
              <a:ext uri="{FF2B5EF4-FFF2-40B4-BE49-F238E27FC236}">
                <a16:creationId xmlns:a16="http://schemas.microsoft.com/office/drawing/2014/main" id="{35435759-7FD1-2213-5AC9-C89D13E95899}"/>
              </a:ext>
            </a:extLst>
          </p:cNvPr>
          <p:cNvSpPr/>
          <p:nvPr/>
        </p:nvSpPr>
        <p:spPr>
          <a:xfrm rot="11170336">
            <a:off x="3654350" y="2776331"/>
            <a:ext cx="3552091" cy="2710068"/>
          </a:xfrm>
          <a:prstGeom prst="arc">
            <a:avLst>
              <a:gd name="adj1" fmla="val 10221520"/>
              <a:gd name="adj2" fmla="val 19669604"/>
            </a:avLst>
          </a:prstGeom>
          <a:noFill/>
          <a:ln w="28575" cap="flat" cmpd="sng">
            <a:solidFill>
              <a:srgbClr val="008891"/>
            </a:solidFill>
            <a:prstDash val="solid"/>
            <a:round/>
            <a:headEnd type="triangle" w="lg" len="lg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D9591F2-4714-FA4F-49BA-E74480031FC2}"/>
              </a:ext>
            </a:extLst>
          </p:cNvPr>
          <p:cNvSpPr txBox="1"/>
          <p:nvPr/>
        </p:nvSpPr>
        <p:spPr>
          <a:xfrm rot="21136568">
            <a:off x="5072158" y="5427345"/>
            <a:ext cx="1967205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e-DE" sz="1800" dirty="0">
                <a:solidFill>
                  <a:srgbClr val="008891"/>
                </a:solidFill>
                <a:latin typeface="Smash" pitchFamily="2" charset="0"/>
              </a:rPr>
              <a:t>„</a:t>
            </a:r>
            <a:r>
              <a:rPr lang="de-DE" sz="1800" dirty="0" err="1">
                <a:solidFill>
                  <a:srgbClr val="008891"/>
                </a:solidFill>
                <a:latin typeface="Smash" pitchFamily="2" charset="0"/>
              </a:rPr>
              <a:t>you</a:t>
            </a:r>
            <a:r>
              <a:rPr lang="de-DE" sz="1800" dirty="0">
                <a:solidFill>
                  <a:srgbClr val="008891"/>
                </a:solidFill>
                <a:latin typeface="Smash" pitchFamily="2" charset="0"/>
              </a:rPr>
              <a:t> </a:t>
            </a:r>
            <a:r>
              <a:rPr lang="de-DE" sz="1800" dirty="0" err="1">
                <a:solidFill>
                  <a:srgbClr val="008891"/>
                </a:solidFill>
                <a:latin typeface="Smash" pitchFamily="2" charset="0"/>
              </a:rPr>
              <a:t>are</a:t>
            </a:r>
            <a:r>
              <a:rPr lang="de-DE" sz="1800" dirty="0">
                <a:solidFill>
                  <a:srgbClr val="008891"/>
                </a:solidFill>
                <a:latin typeface="Smash" pitchFamily="2" charset="0"/>
              </a:rPr>
              <a:t> </a:t>
            </a:r>
            <a:r>
              <a:rPr lang="de-DE" sz="1800" dirty="0" err="1">
                <a:solidFill>
                  <a:srgbClr val="008891"/>
                </a:solidFill>
                <a:latin typeface="Smash" pitchFamily="2" charset="0"/>
              </a:rPr>
              <a:t>here</a:t>
            </a:r>
            <a:r>
              <a:rPr lang="de-DE" sz="1800" dirty="0">
                <a:solidFill>
                  <a:srgbClr val="008891"/>
                </a:solidFill>
                <a:latin typeface="Smash" pitchFamily="2" charset="0"/>
              </a:rPr>
              <a:t>…“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27A9261A-E9F3-F584-263B-E375B586F3DA}"/>
              </a:ext>
            </a:extLst>
          </p:cNvPr>
          <p:cNvCxnSpPr/>
          <p:nvPr/>
        </p:nvCxnSpPr>
        <p:spPr>
          <a:xfrm>
            <a:off x="2292751" y="3734661"/>
            <a:ext cx="628806" cy="4501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25F2CE60-3B03-D4ED-6089-95D98D321235}"/>
              </a:ext>
            </a:extLst>
          </p:cNvPr>
          <p:cNvCxnSpPr>
            <a:cxnSpLocks/>
          </p:cNvCxnSpPr>
          <p:nvPr/>
        </p:nvCxnSpPr>
        <p:spPr>
          <a:xfrm flipH="1">
            <a:off x="2302351" y="5109827"/>
            <a:ext cx="628806" cy="4501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1349A780-59A8-BA88-E415-2ECF694D927D}"/>
              </a:ext>
            </a:extLst>
          </p:cNvPr>
          <p:cNvCxnSpPr>
            <a:cxnSpLocks/>
          </p:cNvCxnSpPr>
          <p:nvPr/>
        </p:nvCxnSpPr>
        <p:spPr>
          <a:xfrm>
            <a:off x="2303402" y="4340902"/>
            <a:ext cx="628806" cy="1439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C53C07D0-DECC-A738-3E01-9C0B308FFCF8}"/>
              </a:ext>
            </a:extLst>
          </p:cNvPr>
          <p:cNvCxnSpPr>
            <a:cxnSpLocks/>
          </p:cNvCxnSpPr>
          <p:nvPr/>
        </p:nvCxnSpPr>
        <p:spPr>
          <a:xfrm flipH="1">
            <a:off x="2303402" y="4795705"/>
            <a:ext cx="628806" cy="1439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Google Shape;200;p10">
            <a:extLst>
              <a:ext uri="{FF2B5EF4-FFF2-40B4-BE49-F238E27FC236}">
                <a16:creationId xmlns:a16="http://schemas.microsoft.com/office/drawing/2014/main" id="{78396B1A-B83F-9978-DDDF-EB95259273F0}"/>
              </a:ext>
            </a:extLst>
          </p:cNvPr>
          <p:cNvSpPr/>
          <p:nvPr/>
        </p:nvSpPr>
        <p:spPr>
          <a:xfrm>
            <a:off x="9215950" y="3248258"/>
            <a:ext cx="1997278" cy="1170342"/>
          </a:xfrm>
          <a:prstGeom prst="arc">
            <a:avLst>
              <a:gd name="adj1" fmla="val 10921800"/>
              <a:gd name="adj2" fmla="val 15169602"/>
            </a:avLst>
          </a:prstGeom>
          <a:noFill/>
          <a:ln w="28575" cap="flat" cmpd="sng">
            <a:solidFill>
              <a:srgbClr val="008891"/>
            </a:solidFill>
            <a:prstDash val="solid"/>
            <a:round/>
            <a:headEnd type="triangle" w="lg" len="lg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1491E74C-B69D-5482-01B9-B41AE8864088}"/>
              </a:ext>
            </a:extLst>
          </p:cNvPr>
          <p:cNvSpPr txBox="1"/>
          <p:nvPr/>
        </p:nvSpPr>
        <p:spPr>
          <a:xfrm rot="21136568">
            <a:off x="10005453" y="2909377"/>
            <a:ext cx="697627" cy="64633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rgbClr val="008891"/>
                </a:solidFill>
                <a:latin typeface="Smash" pitchFamily="2" charset="0"/>
              </a:rPr>
              <a:t>??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9155185-DB4B-AD31-D726-E70D54692CF3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</p:spTree>
    <p:extLst>
      <p:ext uri="{BB962C8B-B14F-4D97-AF65-F5344CB8AC3E}">
        <p14:creationId xmlns:p14="http://schemas.microsoft.com/office/powerpoint/2010/main" val="40392719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C4883D4E-2269-3481-8FD7-C25C4030B706}"/>
              </a:ext>
            </a:extLst>
          </p:cNvPr>
          <p:cNvSpPr txBox="1"/>
          <p:nvPr/>
        </p:nvSpPr>
        <p:spPr>
          <a:xfrm>
            <a:off x="533213" y="1062039"/>
            <a:ext cx="9451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>
                    <a:lumMod val="50000"/>
                  </a:schemeClr>
                </a:solidFill>
                <a:effectLst/>
                <a:latin typeface="Noto Sans Semibold"/>
              </a:rPr>
              <a:t>3. Attention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Mehrere Köpfe: Multi-Head-Attention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F0045A23-68D0-FE1A-43D5-C59E6B887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233" y="6505106"/>
            <a:ext cx="534844" cy="531845"/>
          </a:xfrm>
        </p:spPr>
        <p:txBody>
          <a:bodyPr/>
          <a:lstStyle/>
          <a:p>
            <a:pPr marL="108002" indent="0">
              <a:buNone/>
            </a:pPr>
            <a:r>
              <a:rPr lang="de-DE" dirty="0"/>
              <a:t> 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B1D53AC-14F0-CAE3-946A-B2D39872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421" y="6457037"/>
            <a:ext cx="768818" cy="579914"/>
          </a:xfrm>
        </p:spPr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9" name="Google Shape;177;p8">
            <a:extLst>
              <a:ext uri="{FF2B5EF4-FFF2-40B4-BE49-F238E27FC236}">
                <a16:creationId xmlns:a16="http://schemas.microsoft.com/office/drawing/2014/main" id="{45E07785-A324-632A-3BF4-3BBAB9E14542}"/>
              </a:ext>
            </a:extLst>
          </p:cNvPr>
          <p:cNvSpPr txBox="1">
            <a:spLocks/>
          </p:cNvSpPr>
          <p:nvPr/>
        </p:nvSpPr>
        <p:spPr>
          <a:xfrm>
            <a:off x="573830" y="1587422"/>
            <a:ext cx="10307530" cy="1191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400" b="1" dirty="0">
                <a:solidFill>
                  <a:schemeClr val="bg2"/>
                </a:solidFill>
                <a:latin typeface="Noto Sans Semibold"/>
              </a:rPr>
              <a:t>Mehrere Köpfe rechnen parallel, jeder mit eigenen W</a:t>
            </a:r>
            <a:r>
              <a:rPr lang="de-DE" b="1" baseline="-25000" dirty="0">
                <a:solidFill>
                  <a:schemeClr val="bg2"/>
                </a:solidFill>
                <a:latin typeface="Noto Sans Semibold"/>
              </a:rPr>
              <a:t>Q</a:t>
            </a:r>
            <a:r>
              <a:rPr lang="de-DE" sz="1400" b="1" dirty="0">
                <a:solidFill>
                  <a:schemeClr val="bg2"/>
                </a:solidFill>
                <a:latin typeface="Noto Sans Semibold"/>
              </a:rPr>
              <a:t>, W</a:t>
            </a:r>
            <a:r>
              <a:rPr lang="de-DE" b="1" baseline="-25000" dirty="0">
                <a:solidFill>
                  <a:schemeClr val="bg2"/>
                </a:solidFill>
                <a:latin typeface="Noto Sans Semibold"/>
              </a:rPr>
              <a:t>K</a:t>
            </a:r>
            <a:r>
              <a:rPr lang="de-DE" sz="1400" b="1" dirty="0">
                <a:solidFill>
                  <a:schemeClr val="bg2"/>
                </a:solidFill>
                <a:latin typeface="Noto Sans Semibold"/>
              </a:rPr>
              <a:t>, W</a:t>
            </a:r>
            <a:r>
              <a:rPr lang="de-DE" b="1" baseline="-25000" dirty="0">
                <a:solidFill>
                  <a:schemeClr val="bg2"/>
                </a:solidFill>
                <a:latin typeface="Noto Sans Semibold"/>
              </a:rPr>
              <a:t>V</a:t>
            </a:r>
            <a:r>
              <a:rPr lang="de-DE" sz="1400" b="1" dirty="0">
                <a:solidFill>
                  <a:schemeClr val="bg2"/>
                </a:solidFill>
                <a:latin typeface="Noto Sans Semibold"/>
              </a:rPr>
              <a:t> im kleineren Raum d</a:t>
            </a:r>
            <a:r>
              <a:rPr lang="de-DE" b="1" baseline="-25000" dirty="0">
                <a:solidFill>
                  <a:schemeClr val="bg2"/>
                </a:solidFill>
                <a:latin typeface="Noto Sans Semibold"/>
              </a:rPr>
              <a:t>k</a:t>
            </a:r>
            <a:r>
              <a:rPr lang="de-DE" sz="1400" b="1" dirty="0">
                <a:solidFill>
                  <a:schemeClr val="bg2"/>
                </a:solidFill>
                <a:latin typeface="Noto Sans Semibold"/>
              </a:rPr>
              <a:t> = d</a:t>
            </a:r>
            <a:r>
              <a:rPr lang="de-DE" b="1" baseline="-25000" dirty="0">
                <a:solidFill>
                  <a:schemeClr val="bg2"/>
                </a:solidFill>
                <a:latin typeface="Noto Sans Semibold"/>
              </a:rPr>
              <a:t>model</a:t>
            </a:r>
            <a:r>
              <a:rPr lang="de-DE" sz="1400" b="1" dirty="0">
                <a:solidFill>
                  <a:schemeClr val="bg2"/>
                </a:solidFill>
                <a:latin typeface="Noto Sans Semibold"/>
              </a:rPr>
              <a:t> / h.</a:t>
            </a: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400" b="1" dirty="0">
                <a:solidFill>
                  <a:schemeClr val="bg2"/>
                </a:solidFill>
                <a:latin typeface="Noto Sans Semibold"/>
              </a:rPr>
              <a:t>Spezialisierung auf verschiedene Beziehungen ist eine Beobachtung, keine Vorgabe –</a:t>
            </a: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400" b="1" dirty="0">
                <a:solidFill>
                  <a:schemeClr val="bg2"/>
                </a:solidFill>
                <a:latin typeface="Noto Sans Semibold"/>
              </a:rPr>
              <a:t>viele Köpfe lassen sich nachträglich entfernen (Michel et al. 2019).</a:t>
            </a:r>
          </a:p>
        </p:txBody>
      </p:sp>
      <p:sp>
        <p:nvSpPr>
          <p:cNvPr id="16" name="Textplatzhalter 16">
            <a:extLst>
              <a:ext uri="{FF2B5EF4-FFF2-40B4-BE49-F238E27FC236}">
                <a16:creationId xmlns:a16="http://schemas.microsoft.com/office/drawing/2014/main" id="{0CBC959A-C26E-6130-DD5F-9633F3FDC577}"/>
              </a:ext>
            </a:extLst>
          </p:cNvPr>
          <p:cNvSpPr txBox="1">
            <a:spLocks/>
          </p:cNvSpPr>
          <p:nvPr/>
        </p:nvSpPr>
        <p:spPr>
          <a:xfrm>
            <a:off x="125233" y="6505106"/>
            <a:ext cx="534844" cy="53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108002" indent="0">
              <a:buFont typeface="Noto Sans Symbols"/>
              <a:buNone/>
            </a:pPr>
            <a:r>
              <a:rPr lang="de-DE" dirty="0">
                <a:latin typeface="Noto Sans Semibold"/>
              </a:rPr>
              <a:t> </a:t>
            </a:r>
          </a:p>
        </p:txBody>
      </p:sp>
      <p:sp>
        <p:nvSpPr>
          <p:cNvPr id="18" name="Titel 19">
            <a:extLst>
              <a:ext uri="{FF2B5EF4-FFF2-40B4-BE49-F238E27FC236}">
                <a16:creationId xmlns:a16="http://schemas.microsoft.com/office/drawing/2014/main" id="{9816C09E-0DA8-A0AC-D7DE-18F5EB150B45}"/>
              </a:ext>
            </a:extLst>
          </p:cNvPr>
          <p:cNvSpPr txBox="1">
            <a:spLocks/>
          </p:cNvSpPr>
          <p:nvPr/>
        </p:nvSpPr>
        <p:spPr>
          <a:xfrm>
            <a:off x="189422" y="5303284"/>
            <a:ext cx="768818" cy="579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  <a:defRPr sz="3600" b="0" i="0" u="none" strike="noStrike" cap="none">
                <a:solidFill>
                  <a:srgbClr val="FFFFFF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 dirty="0">
                <a:latin typeface="Noto Sans Semibold"/>
              </a:rPr>
              <a:t>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01644EF-FE01-6F29-97F5-BDF8B5E0B207}"/>
              </a:ext>
            </a:extLst>
          </p:cNvPr>
          <p:cNvSpPr txBox="1"/>
          <p:nvPr/>
        </p:nvSpPr>
        <p:spPr>
          <a:xfrm>
            <a:off x="742971" y="3349617"/>
            <a:ext cx="9969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b="1" dirty="0">
                <a:solidFill>
                  <a:schemeClr val="bg2"/>
                </a:solidFill>
                <a:latin typeface="Noto Sans Semibold"/>
              </a:rPr>
              <a:t>Attention-Head 1        Attention-Head 2        Attention-Head 3         Attention-Head 4    …</a:t>
            </a:r>
          </a:p>
        </p:txBody>
      </p:sp>
      <p:sp>
        <p:nvSpPr>
          <p:cNvPr id="27" name="Geschweifte Klammer links 26">
            <a:extLst>
              <a:ext uri="{FF2B5EF4-FFF2-40B4-BE49-F238E27FC236}">
                <a16:creationId xmlns:a16="http://schemas.microsoft.com/office/drawing/2014/main" id="{8E8424FA-FCA7-407A-766E-5F5C644CEE81}"/>
              </a:ext>
            </a:extLst>
          </p:cNvPr>
          <p:cNvSpPr/>
          <p:nvPr/>
        </p:nvSpPr>
        <p:spPr>
          <a:xfrm rot="16200000">
            <a:off x="5181113" y="971016"/>
            <a:ext cx="580407" cy="9281750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8" name="Grafik 37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FA09ED83-5DFB-9A81-453B-E63431EDBCA3}"/>
              </a:ext>
            </a:extLst>
          </p:cNvPr>
          <p:cNvPicPr>
            <a:picLocks/>
          </p:cNvPicPr>
          <p:nvPr/>
        </p:nvPicPr>
        <p:blipFill rotWithShape="1">
          <a:blip r:embed="rId5"/>
          <a:srcRect l="35557" t="49851" r="34876" b="1280"/>
          <a:stretch/>
        </p:blipFill>
        <p:spPr>
          <a:xfrm>
            <a:off x="7238199" y="3769298"/>
            <a:ext cx="1516784" cy="1479910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</p:pic>
      <p:pic>
        <p:nvPicPr>
          <p:cNvPr id="39" name="Grafik 38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B23BB093-6BDA-BA3C-4D25-7F4D83E5ECED}"/>
              </a:ext>
            </a:extLst>
          </p:cNvPr>
          <p:cNvPicPr>
            <a:picLocks/>
          </p:cNvPicPr>
          <p:nvPr/>
        </p:nvPicPr>
        <p:blipFill rotWithShape="1">
          <a:blip r:embed="rId5"/>
          <a:srcRect l="17465" t="804" r="52968" b="50327"/>
          <a:stretch/>
        </p:blipFill>
        <p:spPr>
          <a:xfrm rot="10800000">
            <a:off x="5102279" y="3769298"/>
            <a:ext cx="1516784" cy="1479910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</p:pic>
      <p:pic>
        <p:nvPicPr>
          <p:cNvPr id="40" name="Grafik 39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8C8DA31F-0C9C-524D-0071-433BE1989ECF}"/>
              </a:ext>
            </a:extLst>
          </p:cNvPr>
          <p:cNvPicPr>
            <a:picLocks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6650"/>
                    </a14:imgEffect>
                    <a14:imgEffect>
                      <a14:saturation sat="140000"/>
                    </a14:imgEffect>
                  </a14:imgLayer>
                </a14:imgProps>
              </a:ext>
            </a:extLst>
          </a:blip>
          <a:srcRect l="55164" t="13149" r="15269" b="37982"/>
          <a:stretch/>
        </p:blipFill>
        <p:spPr>
          <a:xfrm rot="10800000">
            <a:off x="2966360" y="3769298"/>
            <a:ext cx="1516784" cy="1479910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</p:pic>
      <p:pic>
        <p:nvPicPr>
          <p:cNvPr id="41" name="Grafik 40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CF8FC2EF-50FE-E64D-F5DE-AC8FD8A9D545}"/>
              </a:ext>
            </a:extLst>
          </p:cNvPr>
          <p:cNvPicPr>
            <a:picLocks/>
          </p:cNvPicPr>
          <p:nvPr/>
        </p:nvPicPr>
        <p:blipFill rotWithShape="1">
          <a:blip r:embed="rId5"/>
          <a:srcRect l="35557" t="49851" r="34876" b="1280"/>
          <a:stretch/>
        </p:blipFill>
        <p:spPr>
          <a:xfrm rot="10800000">
            <a:off x="830441" y="3769298"/>
            <a:ext cx="1516784" cy="1479910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</p:pic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8A12998D-7526-4ECD-181E-EFBA3458825E}"/>
              </a:ext>
            </a:extLst>
          </p:cNvPr>
          <p:cNvGrpSpPr/>
          <p:nvPr/>
        </p:nvGrpSpPr>
        <p:grpSpPr>
          <a:xfrm>
            <a:off x="765568" y="3733624"/>
            <a:ext cx="2005519" cy="1479912"/>
            <a:chOff x="2521717" y="4834735"/>
            <a:chExt cx="2005519" cy="1562576"/>
          </a:xfrm>
          <a:effectLst>
            <a:glow rad="63500">
              <a:schemeClr val="bg1">
                <a:alpha val="73000"/>
              </a:schemeClr>
            </a:glow>
          </a:effectLst>
        </p:grpSpPr>
        <p:sp>
          <p:nvSpPr>
            <p:cNvPr id="44" name="Google Shape;177;p8">
              <a:extLst>
                <a:ext uri="{FF2B5EF4-FFF2-40B4-BE49-F238E27FC236}">
                  <a16:creationId xmlns:a16="http://schemas.microsoft.com/office/drawing/2014/main" id="{3676CB18-0960-9DAE-42C3-9D79D4EFCA1E}"/>
                </a:ext>
              </a:extLst>
            </p:cNvPr>
            <p:cNvSpPr txBox="1">
              <a:spLocks/>
            </p:cNvSpPr>
            <p:nvPr/>
          </p:nvSpPr>
          <p:spPr>
            <a:xfrm>
              <a:off x="2927185" y="4834735"/>
              <a:ext cx="1600051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Gut </a:t>
              </a:r>
              <a:r>
                <a:rPr lang="de-DE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 Head1</a:t>
              </a:r>
              <a:endParaRPr lang="en-US" sz="1600" b="1" i="1" dirty="0">
                <a:latin typeface="Noto Sans Semibold"/>
              </a:endParaRPr>
            </a:p>
          </p:txBody>
        </p:sp>
        <p:sp>
          <p:nvSpPr>
            <p:cNvPr id="45" name="Google Shape;177;p8">
              <a:extLst>
                <a:ext uri="{FF2B5EF4-FFF2-40B4-BE49-F238E27FC236}">
                  <a16:creationId xmlns:a16="http://schemas.microsoft.com/office/drawing/2014/main" id="{D9A14DCE-E3AD-CCE6-B4EC-4C186F85658D}"/>
                </a:ext>
              </a:extLst>
            </p:cNvPr>
            <p:cNvSpPr txBox="1">
              <a:spLocks/>
            </p:cNvSpPr>
            <p:nvPr/>
          </p:nvSpPr>
          <p:spPr>
            <a:xfrm>
              <a:off x="2797384" y="5235875"/>
              <a:ext cx="1650940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chemeClr val="tx1"/>
                  </a:solidFill>
                  <a:latin typeface="Noto Sans Semibold"/>
                  <a:ea typeface="Arial"/>
                  <a:cs typeface="Arial"/>
                  <a:sym typeface="Arial"/>
                </a:rPr>
                <a:t>Ding </a:t>
              </a:r>
              <a:r>
                <a:rPr lang="de-DE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 Head1</a:t>
              </a:r>
              <a:endParaRPr lang="en-US" sz="1600" b="1" i="1" dirty="0">
                <a:latin typeface="Noto Sans Semibold"/>
              </a:endParaRPr>
            </a:p>
          </p:txBody>
        </p:sp>
        <p:sp>
          <p:nvSpPr>
            <p:cNvPr id="46" name="Google Shape;177;p8">
              <a:extLst>
                <a:ext uri="{FF2B5EF4-FFF2-40B4-BE49-F238E27FC236}">
                  <a16:creationId xmlns:a16="http://schemas.microsoft.com/office/drawing/2014/main" id="{05DF0AA6-F403-DCC7-7D92-45B8CD915836}"/>
                </a:ext>
              </a:extLst>
            </p:cNvPr>
            <p:cNvSpPr txBox="1">
              <a:spLocks/>
            </p:cNvSpPr>
            <p:nvPr/>
          </p:nvSpPr>
          <p:spPr>
            <a:xfrm>
              <a:off x="2521717" y="5637015"/>
              <a:ext cx="1705567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chemeClr val="tx1"/>
                  </a:solidFill>
                  <a:latin typeface="Noto Sans Semibold"/>
                  <a:ea typeface="Arial"/>
                  <a:cs typeface="Arial"/>
                  <a:sym typeface="Arial"/>
                </a:rPr>
                <a:t>braucht </a:t>
              </a:r>
              <a:r>
                <a:rPr lang="de-DE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 Head1</a:t>
              </a:r>
              <a:endParaRPr lang="en-US" sz="1600" b="1" i="1" dirty="0">
                <a:latin typeface="Noto Sans Semibold"/>
              </a:endParaRPr>
            </a:p>
          </p:txBody>
        </p:sp>
        <p:sp>
          <p:nvSpPr>
            <p:cNvPr id="47" name="Google Shape;177;p8">
              <a:extLst>
                <a:ext uri="{FF2B5EF4-FFF2-40B4-BE49-F238E27FC236}">
                  <a16:creationId xmlns:a16="http://schemas.microsoft.com/office/drawing/2014/main" id="{13E02656-BB39-F13F-AE21-87BD627B1091}"/>
                </a:ext>
              </a:extLst>
            </p:cNvPr>
            <p:cNvSpPr txBox="1">
              <a:spLocks/>
            </p:cNvSpPr>
            <p:nvPr/>
          </p:nvSpPr>
          <p:spPr>
            <a:xfrm>
              <a:off x="2750318" y="6038155"/>
              <a:ext cx="1503596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chemeClr val="tx1"/>
                  </a:solidFill>
                  <a:latin typeface="Noto Sans Semibold"/>
                  <a:ea typeface="Arial"/>
                  <a:cs typeface="Arial"/>
                  <a:sym typeface="Arial"/>
                </a:rPr>
                <a:t>Weile </a:t>
              </a:r>
              <a:r>
                <a:rPr lang="de-DE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 Head1</a:t>
              </a:r>
              <a:endParaRPr lang="en-US" sz="1600" b="1" i="1" dirty="0">
                <a:latin typeface="Noto Sans Semibold"/>
              </a:endParaRPr>
            </a:p>
          </p:txBody>
        </p: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9CE3604A-1E2C-B489-4916-00EDBA755AE8}"/>
              </a:ext>
            </a:extLst>
          </p:cNvPr>
          <p:cNvGrpSpPr/>
          <p:nvPr/>
        </p:nvGrpSpPr>
        <p:grpSpPr>
          <a:xfrm>
            <a:off x="2884582" y="3733624"/>
            <a:ext cx="2005519" cy="1479912"/>
            <a:chOff x="2521717" y="4834735"/>
            <a:chExt cx="2005519" cy="1562576"/>
          </a:xfrm>
          <a:effectLst>
            <a:glow rad="63500">
              <a:schemeClr val="bg1">
                <a:alpha val="73000"/>
              </a:schemeClr>
            </a:glow>
          </a:effectLst>
        </p:grpSpPr>
        <p:sp>
          <p:nvSpPr>
            <p:cNvPr id="49" name="Google Shape;177;p8">
              <a:extLst>
                <a:ext uri="{FF2B5EF4-FFF2-40B4-BE49-F238E27FC236}">
                  <a16:creationId xmlns:a16="http://schemas.microsoft.com/office/drawing/2014/main" id="{423CBD21-C443-A5A7-9A73-A6F3E8AE6E27}"/>
                </a:ext>
              </a:extLst>
            </p:cNvPr>
            <p:cNvSpPr txBox="1">
              <a:spLocks/>
            </p:cNvSpPr>
            <p:nvPr/>
          </p:nvSpPr>
          <p:spPr>
            <a:xfrm>
              <a:off x="2927185" y="4834735"/>
              <a:ext cx="1600051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Gut </a:t>
              </a:r>
              <a:r>
                <a:rPr lang="de-DE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 Head2</a:t>
              </a:r>
              <a:endParaRPr lang="en-US" sz="1600" b="1" i="1" dirty="0">
                <a:latin typeface="Noto Sans Semibold"/>
              </a:endParaRPr>
            </a:p>
          </p:txBody>
        </p:sp>
        <p:sp>
          <p:nvSpPr>
            <p:cNvPr id="50" name="Google Shape;177;p8">
              <a:extLst>
                <a:ext uri="{FF2B5EF4-FFF2-40B4-BE49-F238E27FC236}">
                  <a16:creationId xmlns:a16="http://schemas.microsoft.com/office/drawing/2014/main" id="{33BEAB83-E87A-2D2A-641C-A091D1D9FE72}"/>
                </a:ext>
              </a:extLst>
            </p:cNvPr>
            <p:cNvSpPr txBox="1">
              <a:spLocks/>
            </p:cNvSpPr>
            <p:nvPr/>
          </p:nvSpPr>
          <p:spPr>
            <a:xfrm>
              <a:off x="2797384" y="5235875"/>
              <a:ext cx="1650940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chemeClr val="tx1"/>
                  </a:solidFill>
                  <a:latin typeface="Noto Sans Semibold"/>
                  <a:ea typeface="Arial"/>
                  <a:cs typeface="Arial"/>
                  <a:sym typeface="Arial"/>
                </a:rPr>
                <a:t>Ding </a:t>
              </a:r>
              <a:r>
                <a:rPr lang="de-DE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 Head2</a:t>
              </a:r>
              <a:endParaRPr lang="en-US" sz="1600" b="1" i="1" dirty="0">
                <a:latin typeface="Noto Sans Semibold"/>
              </a:endParaRPr>
            </a:p>
          </p:txBody>
        </p:sp>
        <p:sp>
          <p:nvSpPr>
            <p:cNvPr id="51" name="Google Shape;177;p8">
              <a:extLst>
                <a:ext uri="{FF2B5EF4-FFF2-40B4-BE49-F238E27FC236}">
                  <a16:creationId xmlns:a16="http://schemas.microsoft.com/office/drawing/2014/main" id="{F8A0F645-69B8-2F76-05E0-117CD596239C}"/>
                </a:ext>
              </a:extLst>
            </p:cNvPr>
            <p:cNvSpPr txBox="1">
              <a:spLocks/>
            </p:cNvSpPr>
            <p:nvPr/>
          </p:nvSpPr>
          <p:spPr>
            <a:xfrm>
              <a:off x="2521717" y="5637015"/>
              <a:ext cx="1705567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chemeClr val="tx1"/>
                  </a:solidFill>
                  <a:latin typeface="Noto Sans Semibold"/>
                  <a:ea typeface="Arial"/>
                  <a:cs typeface="Arial"/>
                  <a:sym typeface="Arial"/>
                </a:rPr>
                <a:t>braucht </a:t>
              </a:r>
              <a:r>
                <a:rPr lang="de-DE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 Head2</a:t>
              </a:r>
              <a:endParaRPr lang="en-US" sz="1600" b="1" i="1" dirty="0">
                <a:latin typeface="Noto Sans Semibold"/>
              </a:endParaRPr>
            </a:p>
          </p:txBody>
        </p:sp>
        <p:sp>
          <p:nvSpPr>
            <p:cNvPr id="52" name="Google Shape;177;p8">
              <a:extLst>
                <a:ext uri="{FF2B5EF4-FFF2-40B4-BE49-F238E27FC236}">
                  <a16:creationId xmlns:a16="http://schemas.microsoft.com/office/drawing/2014/main" id="{061FB835-E7CA-319F-79D1-2E1461E81CCB}"/>
                </a:ext>
              </a:extLst>
            </p:cNvPr>
            <p:cNvSpPr txBox="1">
              <a:spLocks/>
            </p:cNvSpPr>
            <p:nvPr/>
          </p:nvSpPr>
          <p:spPr>
            <a:xfrm>
              <a:off x="2750318" y="6038155"/>
              <a:ext cx="1503596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chemeClr val="tx1"/>
                  </a:solidFill>
                  <a:latin typeface="Noto Sans Semibold"/>
                  <a:ea typeface="Arial"/>
                  <a:cs typeface="Arial"/>
                  <a:sym typeface="Arial"/>
                </a:rPr>
                <a:t>Weile </a:t>
              </a:r>
              <a:r>
                <a:rPr lang="de-DE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 Head2</a:t>
              </a:r>
              <a:endParaRPr lang="en-US" sz="1600" b="1" i="1" dirty="0">
                <a:latin typeface="Noto Sans Semibold"/>
              </a:endParaRPr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09D46362-0B2A-1796-4931-079320AFD9E1}"/>
              </a:ext>
            </a:extLst>
          </p:cNvPr>
          <p:cNvGrpSpPr/>
          <p:nvPr/>
        </p:nvGrpSpPr>
        <p:grpSpPr>
          <a:xfrm>
            <a:off x="5034552" y="3733624"/>
            <a:ext cx="2005519" cy="1479912"/>
            <a:chOff x="2521717" y="4834735"/>
            <a:chExt cx="2005519" cy="1562576"/>
          </a:xfrm>
          <a:effectLst>
            <a:glow rad="63500">
              <a:schemeClr val="bg1">
                <a:alpha val="73000"/>
              </a:schemeClr>
            </a:glow>
          </a:effectLst>
        </p:grpSpPr>
        <p:sp>
          <p:nvSpPr>
            <p:cNvPr id="54" name="Google Shape;177;p8">
              <a:extLst>
                <a:ext uri="{FF2B5EF4-FFF2-40B4-BE49-F238E27FC236}">
                  <a16:creationId xmlns:a16="http://schemas.microsoft.com/office/drawing/2014/main" id="{84CEC733-9E48-D652-6C0A-610308ADA403}"/>
                </a:ext>
              </a:extLst>
            </p:cNvPr>
            <p:cNvSpPr txBox="1">
              <a:spLocks/>
            </p:cNvSpPr>
            <p:nvPr/>
          </p:nvSpPr>
          <p:spPr>
            <a:xfrm>
              <a:off x="2927185" y="4834735"/>
              <a:ext cx="1600051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Gut </a:t>
              </a:r>
              <a:r>
                <a:rPr lang="de-DE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 Head3</a:t>
              </a:r>
              <a:endParaRPr lang="en-US" sz="1600" b="1" i="1" dirty="0">
                <a:latin typeface="Noto Sans Semibold"/>
              </a:endParaRPr>
            </a:p>
          </p:txBody>
        </p:sp>
        <p:sp>
          <p:nvSpPr>
            <p:cNvPr id="55" name="Google Shape;177;p8">
              <a:extLst>
                <a:ext uri="{FF2B5EF4-FFF2-40B4-BE49-F238E27FC236}">
                  <a16:creationId xmlns:a16="http://schemas.microsoft.com/office/drawing/2014/main" id="{6476656D-EE2D-C95C-1D94-F5AB74816CA2}"/>
                </a:ext>
              </a:extLst>
            </p:cNvPr>
            <p:cNvSpPr txBox="1">
              <a:spLocks/>
            </p:cNvSpPr>
            <p:nvPr/>
          </p:nvSpPr>
          <p:spPr>
            <a:xfrm>
              <a:off x="2797384" y="5235875"/>
              <a:ext cx="1650940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chemeClr val="tx1"/>
                  </a:solidFill>
                  <a:latin typeface="Noto Sans Semibold"/>
                  <a:ea typeface="Arial"/>
                  <a:cs typeface="Arial"/>
                  <a:sym typeface="Arial"/>
                </a:rPr>
                <a:t>Ding </a:t>
              </a:r>
              <a:r>
                <a:rPr lang="de-DE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 Head3</a:t>
              </a:r>
              <a:endParaRPr lang="en-US" sz="1600" b="1" i="1" dirty="0">
                <a:latin typeface="Noto Sans Semibold"/>
              </a:endParaRPr>
            </a:p>
          </p:txBody>
        </p:sp>
        <p:sp>
          <p:nvSpPr>
            <p:cNvPr id="56" name="Google Shape;177;p8">
              <a:extLst>
                <a:ext uri="{FF2B5EF4-FFF2-40B4-BE49-F238E27FC236}">
                  <a16:creationId xmlns:a16="http://schemas.microsoft.com/office/drawing/2014/main" id="{18C3608F-8156-0D2E-52B8-6F208ABDDB3D}"/>
                </a:ext>
              </a:extLst>
            </p:cNvPr>
            <p:cNvSpPr txBox="1">
              <a:spLocks/>
            </p:cNvSpPr>
            <p:nvPr/>
          </p:nvSpPr>
          <p:spPr>
            <a:xfrm>
              <a:off x="2521717" y="5637015"/>
              <a:ext cx="1705567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chemeClr val="tx1"/>
                  </a:solidFill>
                  <a:latin typeface="Noto Sans Semibold"/>
                  <a:ea typeface="Arial"/>
                  <a:cs typeface="Arial"/>
                  <a:sym typeface="Arial"/>
                </a:rPr>
                <a:t>braucht </a:t>
              </a:r>
              <a:r>
                <a:rPr lang="de-DE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 Head3</a:t>
              </a:r>
              <a:endParaRPr lang="en-US" sz="1600" b="1" i="1" dirty="0">
                <a:latin typeface="Noto Sans Semibold"/>
              </a:endParaRPr>
            </a:p>
          </p:txBody>
        </p:sp>
        <p:sp>
          <p:nvSpPr>
            <p:cNvPr id="57" name="Google Shape;177;p8">
              <a:extLst>
                <a:ext uri="{FF2B5EF4-FFF2-40B4-BE49-F238E27FC236}">
                  <a16:creationId xmlns:a16="http://schemas.microsoft.com/office/drawing/2014/main" id="{988B4D99-E9B4-F409-6309-52F8363171A9}"/>
                </a:ext>
              </a:extLst>
            </p:cNvPr>
            <p:cNvSpPr txBox="1">
              <a:spLocks/>
            </p:cNvSpPr>
            <p:nvPr/>
          </p:nvSpPr>
          <p:spPr>
            <a:xfrm>
              <a:off x="2750318" y="6038155"/>
              <a:ext cx="1503596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chemeClr val="tx1"/>
                  </a:solidFill>
                  <a:latin typeface="Noto Sans Semibold"/>
                  <a:ea typeface="Arial"/>
                  <a:cs typeface="Arial"/>
                  <a:sym typeface="Arial"/>
                </a:rPr>
                <a:t>Weile </a:t>
              </a:r>
              <a:r>
                <a:rPr lang="de-DE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 Head3</a:t>
              </a:r>
              <a:endParaRPr lang="en-US" sz="1600" b="1" i="1" dirty="0">
                <a:latin typeface="Noto Sans Semibold"/>
              </a:endParaRPr>
            </a:p>
          </p:txBody>
        </p:sp>
      </p:grp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613CBDC9-6A74-D50E-E64D-38AB048CF43E}"/>
              </a:ext>
            </a:extLst>
          </p:cNvPr>
          <p:cNvGrpSpPr/>
          <p:nvPr/>
        </p:nvGrpSpPr>
        <p:grpSpPr>
          <a:xfrm>
            <a:off x="7184522" y="3733624"/>
            <a:ext cx="2005519" cy="1479912"/>
            <a:chOff x="2521717" y="4834735"/>
            <a:chExt cx="2005519" cy="1562576"/>
          </a:xfrm>
          <a:effectLst>
            <a:glow rad="63500">
              <a:schemeClr val="bg1">
                <a:alpha val="73000"/>
              </a:schemeClr>
            </a:glow>
          </a:effectLst>
        </p:grpSpPr>
        <p:sp>
          <p:nvSpPr>
            <p:cNvPr id="59" name="Google Shape;177;p8">
              <a:extLst>
                <a:ext uri="{FF2B5EF4-FFF2-40B4-BE49-F238E27FC236}">
                  <a16:creationId xmlns:a16="http://schemas.microsoft.com/office/drawing/2014/main" id="{F5350519-C84D-C7A6-82CD-B6C548C7D9F1}"/>
                </a:ext>
              </a:extLst>
            </p:cNvPr>
            <p:cNvSpPr txBox="1">
              <a:spLocks/>
            </p:cNvSpPr>
            <p:nvPr/>
          </p:nvSpPr>
          <p:spPr>
            <a:xfrm>
              <a:off x="2927185" y="4834735"/>
              <a:ext cx="1600051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Gut </a:t>
              </a:r>
              <a:r>
                <a:rPr lang="de-DE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 Head4</a:t>
              </a:r>
              <a:endParaRPr lang="en-US" sz="1600" b="1" i="1" dirty="0">
                <a:latin typeface="Noto Sans Semibold"/>
              </a:endParaRPr>
            </a:p>
          </p:txBody>
        </p:sp>
        <p:sp>
          <p:nvSpPr>
            <p:cNvPr id="60" name="Google Shape;177;p8">
              <a:extLst>
                <a:ext uri="{FF2B5EF4-FFF2-40B4-BE49-F238E27FC236}">
                  <a16:creationId xmlns:a16="http://schemas.microsoft.com/office/drawing/2014/main" id="{65EE70B7-65B7-8699-80F2-9F8777EDC823}"/>
                </a:ext>
              </a:extLst>
            </p:cNvPr>
            <p:cNvSpPr txBox="1">
              <a:spLocks/>
            </p:cNvSpPr>
            <p:nvPr/>
          </p:nvSpPr>
          <p:spPr>
            <a:xfrm>
              <a:off x="2797384" y="5235875"/>
              <a:ext cx="1650940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chemeClr val="tx1"/>
                  </a:solidFill>
                  <a:latin typeface="Noto Sans Semibold"/>
                  <a:ea typeface="Arial"/>
                  <a:cs typeface="Arial"/>
                  <a:sym typeface="Arial"/>
                </a:rPr>
                <a:t>Ding </a:t>
              </a:r>
              <a:r>
                <a:rPr lang="de-DE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 Head4</a:t>
              </a:r>
              <a:endParaRPr lang="en-US" sz="1600" b="1" i="1" dirty="0">
                <a:latin typeface="Noto Sans Semibold"/>
              </a:endParaRPr>
            </a:p>
          </p:txBody>
        </p:sp>
        <p:sp>
          <p:nvSpPr>
            <p:cNvPr id="61" name="Google Shape;177;p8">
              <a:extLst>
                <a:ext uri="{FF2B5EF4-FFF2-40B4-BE49-F238E27FC236}">
                  <a16:creationId xmlns:a16="http://schemas.microsoft.com/office/drawing/2014/main" id="{20DB0617-F936-B0B2-CDF4-C151CE94AC7F}"/>
                </a:ext>
              </a:extLst>
            </p:cNvPr>
            <p:cNvSpPr txBox="1">
              <a:spLocks/>
            </p:cNvSpPr>
            <p:nvPr/>
          </p:nvSpPr>
          <p:spPr>
            <a:xfrm>
              <a:off x="2521717" y="5637015"/>
              <a:ext cx="1705567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chemeClr val="tx1"/>
                  </a:solidFill>
                  <a:latin typeface="Noto Sans Semibold"/>
                  <a:ea typeface="Arial"/>
                  <a:cs typeface="Arial"/>
                  <a:sym typeface="Arial"/>
                </a:rPr>
                <a:t>braucht </a:t>
              </a:r>
              <a:r>
                <a:rPr lang="de-DE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 Head4</a:t>
              </a:r>
              <a:endParaRPr lang="en-US" sz="1600" b="1" i="1" dirty="0">
                <a:latin typeface="Noto Sans Semibold"/>
              </a:endParaRPr>
            </a:p>
          </p:txBody>
        </p:sp>
        <p:sp>
          <p:nvSpPr>
            <p:cNvPr id="62" name="Google Shape;177;p8">
              <a:extLst>
                <a:ext uri="{FF2B5EF4-FFF2-40B4-BE49-F238E27FC236}">
                  <a16:creationId xmlns:a16="http://schemas.microsoft.com/office/drawing/2014/main" id="{A728A7B5-C7C6-E3EB-A469-B1E925587AA1}"/>
                </a:ext>
              </a:extLst>
            </p:cNvPr>
            <p:cNvSpPr txBox="1">
              <a:spLocks/>
            </p:cNvSpPr>
            <p:nvPr/>
          </p:nvSpPr>
          <p:spPr>
            <a:xfrm>
              <a:off x="2750318" y="6038155"/>
              <a:ext cx="1503596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chemeClr val="tx1"/>
                  </a:solidFill>
                  <a:latin typeface="Noto Sans Semibold"/>
                  <a:ea typeface="Arial"/>
                  <a:cs typeface="Arial"/>
                  <a:sym typeface="Arial"/>
                </a:rPr>
                <a:t>Weile </a:t>
              </a:r>
              <a:r>
                <a:rPr lang="de-DE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 Head4</a:t>
              </a:r>
              <a:endParaRPr lang="en-US" sz="1600" b="1" i="1" dirty="0">
                <a:latin typeface="Noto Sans Semibold"/>
              </a:endParaRPr>
            </a:p>
          </p:txBody>
        </p:sp>
      </p:grpSp>
      <p:sp>
        <p:nvSpPr>
          <p:cNvPr id="63" name="Textfeld 62">
            <a:extLst>
              <a:ext uri="{FF2B5EF4-FFF2-40B4-BE49-F238E27FC236}">
                <a16:creationId xmlns:a16="http://schemas.microsoft.com/office/drawing/2014/main" id="{F69801B8-52BF-9E22-B321-5F3781832B4E}"/>
              </a:ext>
            </a:extLst>
          </p:cNvPr>
          <p:cNvSpPr txBox="1"/>
          <p:nvPr/>
        </p:nvSpPr>
        <p:spPr>
          <a:xfrm>
            <a:off x="9434560" y="4300995"/>
            <a:ext cx="677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C00000"/>
                </a:solidFill>
                <a:latin typeface="Noto Sans Semibold"/>
              </a:rPr>
              <a:t>…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28D9C6E0-EEB8-E71A-0459-D7269F716BD5}"/>
              </a:ext>
            </a:extLst>
          </p:cNvPr>
          <p:cNvSpPr txBox="1"/>
          <p:nvPr/>
        </p:nvSpPr>
        <p:spPr>
          <a:xfrm>
            <a:off x="2561261" y="5933817"/>
            <a:ext cx="5831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rgbClr val="CE1617"/>
                </a:solidFill>
                <a:latin typeface="Noto Sans Semibold"/>
              </a:rPr>
              <a:t>Multi-Head Attention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CFADF1B-1577-AF63-3AAF-FC63434D8B4B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</p:spTree>
    <p:extLst>
      <p:ext uri="{BB962C8B-B14F-4D97-AF65-F5344CB8AC3E}">
        <p14:creationId xmlns:p14="http://schemas.microsoft.com/office/powerpoint/2010/main" val="25285913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C4883D4E-2269-3481-8FD7-C25C4030B706}"/>
              </a:ext>
            </a:extLst>
          </p:cNvPr>
          <p:cNvSpPr txBox="1"/>
          <p:nvPr/>
        </p:nvSpPr>
        <p:spPr>
          <a:xfrm>
            <a:off x="533213" y="1062039"/>
            <a:ext cx="9451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>
                    <a:lumMod val="50000"/>
                  </a:schemeClr>
                </a:solidFill>
                <a:effectLst/>
                <a:latin typeface="Noto Sans Semibold"/>
              </a:rPr>
              <a:t>3. Attention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Köpfe zusammenführen: Concat und W_O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F0045A23-68D0-FE1A-43D5-C59E6B887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824" y="6390807"/>
            <a:ext cx="460822" cy="458238"/>
          </a:xfrm>
        </p:spPr>
        <p:txBody>
          <a:bodyPr>
            <a:normAutofit/>
          </a:bodyPr>
          <a:lstStyle/>
          <a:p>
            <a:pPr marL="108002" indent="0">
              <a:buNone/>
            </a:pPr>
            <a:r>
              <a:rPr lang="de-DE" dirty="0"/>
              <a:t> 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B1D53AC-14F0-CAE3-946A-B2D39872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12" y="6342737"/>
            <a:ext cx="662414" cy="499654"/>
          </a:xfrm>
        </p:spPr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16" name="Textplatzhalter 16">
            <a:extLst>
              <a:ext uri="{FF2B5EF4-FFF2-40B4-BE49-F238E27FC236}">
                <a16:creationId xmlns:a16="http://schemas.microsoft.com/office/drawing/2014/main" id="{0CBC959A-C26E-6130-DD5F-9633F3FDC577}"/>
              </a:ext>
            </a:extLst>
          </p:cNvPr>
          <p:cNvSpPr txBox="1">
            <a:spLocks/>
          </p:cNvSpPr>
          <p:nvPr/>
        </p:nvSpPr>
        <p:spPr>
          <a:xfrm>
            <a:off x="226824" y="6390807"/>
            <a:ext cx="460822" cy="458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108002" indent="0">
              <a:buFont typeface="Noto Sans Symbols"/>
              <a:buNone/>
            </a:pPr>
            <a:r>
              <a:rPr lang="de-DE" dirty="0">
                <a:latin typeface="Noto Sans Semibold"/>
              </a:rPr>
              <a:t> </a:t>
            </a:r>
          </a:p>
        </p:txBody>
      </p:sp>
      <p:sp>
        <p:nvSpPr>
          <p:cNvPr id="18" name="Titel 19">
            <a:extLst>
              <a:ext uri="{FF2B5EF4-FFF2-40B4-BE49-F238E27FC236}">
                <a16:creationId xmlns:a16="http://schemas.microsoft.com/office/drawing/2014/main" id="{9816C09E-0DA8-A0AC-D7DE-18F5EB150B45}"/>
              </a:ext>
            </a:extLst>
          </p:cNvPr>
          <p:cNvSpPr txBox="1">
            <a:spLocks/>
          </p:cNvSpPr>
          <p:nvPr/>
        </p:nvSpPr>
        <p:spPr>
          <a:xfrm>
            <a:off x="291012" y="5654671"/>
            <a:ext cx="662414" cy="499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  <a:defRPr sz="3600" b="0" i="0" u="none" strike="noStrike" cap="none">
                <a:solidFill>
                  <a:srgbClr val="FFFFFF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 dirty="0">
                <a:latin typeface="Noto Sans Semibold"/>
              </a:rPr>
              <a:t> </a:t>
            </a:r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1EEAAA38-41BF-E551-050D-D3247C3FEA2B}"/>
              </a:ext>
            </a:extLst>
          </p:cNvPr>
          <p:cNvGrpSpPr/>
          <p:nvPr/>
        </p:nvGrpSpPr>
        <p:grpSpPr>
          <a:xfrm>
            <a:off x="445054" y="1773671"/>
            <a:ext cx="635810" cy="3952388"/>
            <a:chOff x="2562376" y="2094730"/>
            <a:chExt cx="737941" cy="458726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1" name="Grafik 10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C73D63C4-CC83-C8E4-C0E0-A0C67CDAC75B}"/>
                </a:ext>
              </a:extLst>
            </p:cNvPr>
            <p:cNvPicPr>
              <a:picLocks/>
            </p:cNvPicPr>
            <p:nvPr/>
          </p:nvPicPr>
          <p:blipFill rotWithShape="1">
            <a:blip r:embed="rId4"/>
            <a:srcRect l="17465" t="804" r="52968" b="50327"/>
            <a:stretch/>
          </p:blipFill>
          <p:spPr>
            <a:xfrm>
              <a:off x="2562376" y="2094730"/>
              <a:ext cx="72000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  <p:pic>
          <p:nvPicPr>
            <p:cNvPr id="12" name="Grafik 11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421F43B2-52E0-D3E2-B6AD-0EE7C5019E7B}"/>
                </a:ext>
              </a:extLst>
            </p:cNvPr>
            <p:cNvPicPr>
              <a:picLocks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6650"/>
                      </a14:imgEffect>
                      <a14:imgEffect>
                        <a14:saturation sat="140000"/>
                      </a14:imgEffect>
                    </a14:imgLayer>
                  </a14:imgProps>
                </a:ext>
              </a:extLst>
            </a:blip>
            <a:srcRect l="55164" t="13149" r="15269" b="37982"/>
            <a:stretch/>
          </p:blipFill>
          <p:spPr>
            <a:xfrm>
              <a:off x="2562376" y="2868183"/>
              <a:ext cx="72000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  <p:pic>
          <p:nvPicPr>
            <p:cNvPr id="13" name="Grafik 12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F767B4F8-7527-5983-91EB-02EF8637E0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5557" t="49851" r="34876" b="1280"/>
            <a:stretch/>
          </p:blipFill>
          <p:spPr>
            <a:xfrm>
              <a:off x="2562376" y="5961996"/>
              <a:ext cx="72000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  <p:pic>
          <p:nvPicPr>
            <p:cNvPr id="8" name="Grafik 7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94609D5D-CBFC-C1FB-E38A-ED25B3F695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7465" t="804" r="52968" b="50327"/>
            <a:stretch/>
          </p:blipFill>
          <p:spPr>
            <a:xfrm rot="10800000">
              <a:off x="2562377" y="3641636"/>
              <a:ext cx="73794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  <p:pic>
          <p:nvPicPr>
            <p:cNvPr id="3" name="Grafik 2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8EC08D0A-F568-0092-D48A-6C36B431CB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6650"/>
                      </a14:imgEffect>
                      <a14:imgEffect>
                        <a14:saturation sat="140000"/>
                      </a14:imgEffect>
                    </a14:imgLayer>
                  </a14:imgProps>
                </a:ext>
              </a:extLst>
            </a:blip>
            <a:srcRect l="55164" t="13149" r="15269" b="37982"/>
            <a:stretch/>
          </p:blipFill>
          <p:spPr>
            <a:xfrm rot="10800000">
              <a:off x="2562377" y="4415089"/>
              <a:ext cx="73794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  <p:pic>
          <p:nvPicPr>
            <p:cNvPr id="14" name="Grafik 13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B96104AC-DCB1-0D48-2B10-B9334B14E6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5557" t="49851" r="34876" b="1280"/>
            <a:stretch/>
          </p:blipFill>
          <p:spPr>
            <a:xfrm rot="10800000">
              <a:off x="2562377" y="5188542"/>
              <a:ext cx="72000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67D3F185-D246-7749-616E-99F0ABD462BF}"/>
              </a:ext>
            </a:extLst>
          </p:cNvPr>
          <p:cNvGrpSpPr/>
          <p:nvPr/>
        </p:nvGrpSpPr>
        <p:grpSpPr>
          <a:xfrm>
            <a:off x="4117040" y="1773671"/>
            <a:ext cx="635810" cy="3952388"/>
            <a:chOff x="2562376" y="2094730"/>
            <a:chExt cx="737941" cy="458726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57" name="Grafik 56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C852ADDF-78D5-0C1B-5182-E4B96E19FEF9}"/>
                </a:ext>
              </a:extLst>
            </p:cNvPr>
            <p:cNvPicPr>
              <a:picLocks/>
            </p:cNvPicPr>
            <p:nvPr/>
          </p:nvPicPr>
          <p:blipFill rotWithShape="1"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7465" t="804" r="52968" b="50327"/>
            <a:stretch/>
          </p:blipFill>
          <p:spPr>
            <a:xfrm>
              <a:off x="2562376" y="2094730"/>
              <a:ext cx="72000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  <p:pic>
          <p:nvPicPr>
            <p:cNvPr id="58" name="Grafik 57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D0D7185A-ABBE-4B92-E80F-B2E4DB423B3E}"/>
                </a:ext>
              </a:extLst>
            </p:cNvPr>
            <p:cNvPicPr>
              <a:picLocks/>
            </p:cNvPicPr>
            <p:nvPr/>
          </p:nvPicPr>
          <p:blipFill rotWithShape="1"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6650"/>
                      </a14:imgEffect>
                      <a14:imgEffect>
                        <a14:saturation sat="140000"/>
                      </a14:imgEffect>
                    </a14:imgLayer>
                  </a14:imgProps>
                </a:ext>
              </a:extLst>
            </a:blip>
            <a:srcRect l="55164" t="13149" r="15269" b="37982"/>
            <a:stretch/>
          </p:blipFill>
          <p:spPr>
            <a:xfrm>
              <a:off x="2562376" y="2868183"/>
              <a:ext cx="72000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  <p:pic>
          <p:nvPicPr>
            <p:cNvPr id="59" name="Grafik 58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7FEFAAA9-0DFA-77DD-5567-85AAFD1128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35557" t="49851" r="34876" b="1280"/>
            <a:stretch/>
          </p:blipFill>
          <p:spPr>
            <a:xfrm>
              <a:off x="2562376" y="5961996"/>
              <a:ext cx="72000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  <p:pic>
          <p:nvPicPr>
            <p:cNvPr id="60" name="Grafik 59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CA05D2D6-FA68-D9EC-1766-0D466CC812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7465" t="804" r="52968" b="50327"/>
            <a:stretch/>
          </p:blipFill>
          <p:spPr>
            <a:xfrm rot="10800000">
              <a:off x="2562377" y="3641636"/>
              <a:ext cx="73794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  <p:pic>
          <p:nvPicPr>
            <p:cNvPr id="61" name="Grafik 60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8BC185E5-F05F-7285-B098-9EC2C949F2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6650"/>
                      </a14:imgEffect>
                      <a14:imgEffect>
                        <a14:saturation sat="140000"/>
                      </a14:imgEffect>
                    </a14:imgLayer>
                  </a14:imgProps>
                </a:ext>
              </a:extLst>
            </a:blip>
            <a:srcRect l="55164" t="13149" r="15269" b="37982"/>
            <a:stretch/>
          </p:blipFill>
          <p:spPr>
            <a:xfrm rot="10800000">
              <a:off x="2562377" y="4415089"/>
              <a:ext cx="73794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  <p:pic>
          <p:nvPicPr>
            <p:cNvPr id="62" name="Grafik 61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EA64AEA1-C872-ACE0-CF8A-09A7BC6466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35557" t="49851" r="34876" b="1280"/>
            <a:stretch/>
          </p:blipFill>
          <p:spPr>
            <a:xfrm rot="10800000">
              <a:off x="2562377" y="5188542"/>
              <a:ext cx="72000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</p:grp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DCDFC129-F2DF-2CB3-FFC6-CD564A4D8B02}"/>
              </a:ext>
            </a:extLst>
          </p:cNvPr>
          <p:cNvGrpSpPr/>
          <p:nvPr/>
        </p:nvGrpSpPr>
        <p:grpSpPr>
          <a:xfrm>
            <a:off x="1309778" y="1969907"/>
            <a:ext cx="347805" cy="3627617"/>
            <a:chOff x="4553464" y="2014735"/>
            <a:chExt cx="403674" cy="2178266"/>
          </a:xfrm>
        </p:grpSpPr>
        <p:sp>
          <p:nvSpPr>
            <p:cNvPr id="39" name="Pfeil: nach rechts 38">
              <a:extLst>
                <a:ext uri="{FF2B5EF4-FFF2-40B4-BE49-F238E27FC236}">
                  <a16:creationId xmlns:a16="http://schemas.microsoft.com/office/drawing/2014/main" id="{166B226A-0B72-A3C1-41A3-085D00D8E59E}"/>
                </a:ext>
              </a:extLst>
            </p:cNvPr>
            <p:cNvSpPr/>
            <p:nvPr/>
          </p:nvSpPr>
          <p:spPr>
            <a:xfrm>
              <a:off x="4553464" y="2014735"/>
              <a:ext cx="403674" cy="295110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Pfeil: nach rechts 39">
              <a:extLst>
                <a:ext uri="{FF2B5EF4-FFF2-40B4-BE49-F238E27FC236}">
                  <a16:creationId xmlns:a16="http://schemas.microsoft.com/office/drawing/2014/main" id="{CF7F53D9-2AF4-142A-7157-18332792A1E3}"/>
                </a:ext>
              </a:extLst>
            </p:cNvPr>
            <p:cNvSpPr/>
            <p:nvPr/>
          </p:nvSpPr>
          <p:spPr>
            <a:xfrm>
              <a:off x="4553464" y="2391366"/>
              <a:ext cx="403674" cy="295110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FFC000"/>
                </a:solidFill>
              </a:endParaRPr>
            </a:p>
          </p:txBody>
        </p:sp>
        <p:sp>
          <p:nvSpPr>
            <p:cNvPr id="41" name="Pfeil: nach rechts 40">
              <a:extLst>
                <a:ext uri="{FF2B5EF4-FFF2-40B4-BE49-F238E27FC236}">
                  <a16:creationId xmlns:a16="http://schemas.microsoft.com/office/drawing/2014/main" id="{B41A8FFF-048F-58B2-6F85-3B64DFB2D426}"/>
                </a:ext>
              </a:extLst>
            </p:cNvPr>
            <p:cNvSpPr/>
            <p:nvPr/>
          </p:nvSpPr>
          <p:spPr>
            <a:xfrm>
              <a:off x="4553464" y="2767997"/>
              <a:ext cx="403674" cy="295110"/>
            </a:xfrm>
            <a:prstGeom prst="rightArrow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Pfeil: nach rechts 41">
              <a:extLst>
                <a:ext uri="{FF2B5EF4-FFF2-40B4-BE49-F238E27FC236}">
                  <a16:creationId xmlns:a16="http://schemas.microsoft.com/office/drawing/2014/main" id="{172435E1-4A75-EB16-7AAD-924B647ED969}"/>
                </a:ext>
              </a:extLst>
            </p:cNvPr>
            <p:cNvSpPr/>
            <p:nvPr/>
          </p:nvSpPr>
          <p:spPr>
            <a:xfrm>
              <a:off x="4553464" y="3144628"/>
              <a:ext cx="403674" cy="295110"/>
            </a:xfrm>
            <a:prstGeom prst="right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Pfeil: nach rechts 42">
              <a:extLst>
                <a:ext uri="{FF2B5EF4-FFF2-40B4-BE49-F238E27FC236}">
                  <a16:creationId xmlns:a16="http://schemas.microsoft.com/office/drawing/2014/main" id="{99CFBE57-001D-6959-BE12-471DB776C8A1}"/>
                </a:ext>
              </a:extLst>
            </p:cNvPr>
            <p:cNvSpPr/>
            <p:nvPr/>
          </p:nvSpPr>
          <p:spPr>
            <a:xfrm>
              <a:off x="4553464" y="3521259"/>
              <a:ext cx="403674" cy="295110"/>
            </a:xfrm>
            <a:prstGeom prst="rightArrow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Pfeil: nach rechts 43">
              <a:extLst>
                <a:ext uri="{FF2B5EF4-FFF2-40B4-BE49-F238E27FC236}">
                  <a16:creationId xmlns:a16="http://schemas.microsoft.com/office/drawing/2014/main" id="{96D1799A-2BC7-273F-9ED5-617278AEBB6F}"/>
                </a:ext>
              </a:extLst>
            </p:cNvPr>
            <p:cNvSpPr/>
            <p:nvPr/>
          </p:nvSpPr>
          <p:spPr>
            <a:xfrm>
              <a:off x="4553464" y="3897891"/>
              <a:ext cx="403674" cy="295110"/>
            </a:xfrm>
            <a:prstGeom prst="rightArrow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52" name="Grafik 51" descr="Ein Bild, das Entwurf, Zeichnung, Reihe, Schwarzweiß enthält.&#10;&#10;Automatisch generierte Beschreibung">
            <a:extLst>
              <a:ext uri="{FF2B5EF4-FFF2-40B4-BE49-F238E27FC236}">
                <a16:creationId xmlns:a16="http://schemas.microsoft.com/office/drawing/2014/main" id="{5DE0779C-7EB4-4B1C-F534-8F68886CD1F5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85113" y="1851870"/>
            <a:ext cx="1514700" cy="3786749"/>
          </a:xfrm>
          <a:prstGeom prst="rect">
            <a:avLst/>
          </a:prstGeom>
        </p:spPr>
      </p:pic>
      <p:sp>
        <p:nvSpPr>
          <p:cNvPr id="66" name="Pfeil: nach rechts 65">
            <a:extLst>
              <a:ext uri="{FF2B5EF4-FFF2-40B4-BE49-F238E27FC236}">
                <a16:creationId xmlns:a16="http://schemas.microsoft.com/office/drawing/2014/main" id="{3ECD49BF-4297-6F31-A0A7-CDEFC68F95DB}"/>
              </a:ext>
            </a:extLst>
          </p:cNvPr>
          <p:cNvSpPr/>
          <p:nvPr/>
        </p:nvSpPr>
        <p:spPr>
          <a:xfrm>
            <a:off x="3342046" y="1903755"/>
            <a:ext cx="643239" cy="3693769"/>
          </a:xfrm>
          <a:prstGeom prst="rightArrow">
            <a:avLst>
              <a:gd name="adj1" fmla="val 41482"/>
              <a:gd name="adj2" fmla="val 70301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CBCC3328-873A-AD55-F2CE-9841539B77A9}"/>
              </a:ext>
            </a:extLst>
          </p:cNvPr>
          <p:cNvGrpSpPr/>
          <p:nvPr/>
        </p:nvGrpSpPr>
        <p:grpSpPr>
          <a:xfrm>
            <a:off x="4895083" y="1969907"/>
            <a:ext cx="347805" cy="3627617"/>
            <a:chOff x="4553464" y="2014735"/>
            <a:chExt cx="403674" cy="2178266"/>
          </a:xfrm>
        </p:grpSpPr>
        <p:sp>
          <p:nvSpPr>
            <p:cNvPr id="83" name="Pfeil: nach rechts 82">
              <a:extLst>
                <a:ext uri="{FF2B5EF4-FFF2-40B4-BE49-F238E27FC236}">
                  <a16:creationId xmlns:a16="http://schemas.microsoft.com/office/drawing/2014/main" id="{1B5F1412-2F95-7636-5FD0-75737C9235EF}"/>
                </a:ext>
              </a:extLst>
            </p:cNvPr>
            <p:cNvSpPr/>
            <p:nvPr/>
          </p:nvSpPr>
          <p:spPr>
            <a:xfrm>
              <a:off x="4553464" y="2014735"/>
              <a:ext cx="403674" cy="295110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" name="Pfeil: nach rechts 83">
              <a:extLst>
                <a:ext uri="{FF2B5EF4-FFF2-40B4-BE49-F238E27FC236}">
                  <a16:creationId xmlns:a16="http://schemas.microsoft.com/office/drawing/2014/main" id="{3BE471CD-2DF6-14A9-2A28-D5B6C4693AE9}"/>
                </a:ext>
              </a:extLst>
            </p:cNvPr>
            <p:cNvSpPr/>
            <p:nvPr/>
          </p:nvSpPr>
          <p:spPr>
            <a:xfrm>
              <a:off x="4553464" y="2391366"/>
              <a:ext cx="403674" cy="295110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FFC000"/>
                </a:solidFill>
              </a:endParaRPr>
            </a:p>
          </p:txBody>
        </p:sp>
        <p:sp>
          <p:nvSpPr>
            <p:cNvPr id="85" name="Pfeil: nach rechts 84">
              <a:extLst>
                <a:ext uri="{FF2B5EF4-FFF2-40B4-BE49-F238E27FC236}">
                  <a16:creationId xmlns:a16="http://schemas.microsoft.com/office/drawing/2014/main" id="{65ADEAE9-CC3E-0400-FDB1-AE5C815455FD}"/>
                </a:ext>
              </a:extLst>
            </p:cNvPr>
            <p:cNvSpPr/>
            <p:nvPr/>
          </p:nvSpPr>
          <p:spPr>
            <a:xfrm>
              <a:off x="4553464" y="2767997"/>
              <a:ext cx="403674" cy="295110"/>
            </a:xfrm>
            <a:prstGeom prst="rightArrow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" name="Pfeil: nach rechts 85">
              <a:extLst>
                <a:ext uri="{FF2B5EF4-FFF2-40B4-BE49-F238E27FC236}">
                  <a16:creationId xmlns:a16="http://schemas.microsoft.com/office/drawing/2014/main" id="{B0D7C35B-4100-C497-6E31-AE8E167D0FA3}"/>
                </a:ext>
              </a:extLst>
            </p:cNvPr>
            <p:cNvSpPr/>
            <p:nvPr/>
          </p:nvSpPr>
          <p:spPr>
            <a:xfrm>
              <a:off x="4553464" y="3144628"/>
              <a:ext cx="403674" cy="295110"/>
            </a:xfrm>
            <a:prstGeom prst="right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" name="Pfeil: nach rechts 86">
              <a:extLst>
                <a:ext uri="{FF2B5EF4-FFF2-40B4-BE49-F238E27FC236}">
                  <a16:creationId xmlns:a16="http://schemas.microsoft.com/office/drawing/2014/main" id="{5E7305D2-3A66-6D74-73B6-51708EE8F982}"/>
                </a:ext>
              </a:extLst>
            </p:cNvPr>
            <p:cNvSpPr/>
            <p:nvPr/>
          </p:nvSpPr>
          <p:spPr>
            <a:xfrm>
              <a:off x="4553464" y="3521259"/>
              <a:ext cx="403674" cy="295110"/>
            </a:xfrm>
            <a:prstGeom prst="rightArrow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" name="Pfeil: nach rechts 87">
              <a:extLst>
                <a:ext uri="{FF2B5EF4-FFF2-40B4-BE49-F238E27FC236}">
                  <a16:creationId xmlns:a16="http://schemas.microsoft.com/office/drawing/2014/main" id="{87984C68-36E3-5354-7368-AAEAD32661DA}"/>
                </a:ext>
              </a:extLst>
            </p:cNvPr>
            <p:cNvSpPr/>
            <p:nvPr/>
          </p:nvSpPr>
          <p:spPr>
            <a:xfrm>
              <a:off x="4553464" y="3897891"/>
              <a:ext cx="403674" cy="295110"/>
            </a:xfrm>
            <a:prstGeom prst="rightArrow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74" name="Grafik 73" descr="Ein Bild, das Entwurf, Zeichnung, Reihe, Schwarzweiß enthält.&#10;&#10;Automatisch generierte Beschreibung">
            <a:extLst>
              <a:ext uri="{FF2B5EF4-FFF2-40B4-BE49-F238E27FC236}">
                <a16:creationId xmlns:a16="http://schemas.microsoft.com/office/drawing/2014/main" id="{DE52EA56-1608-CF2C-A2E0-4A52B3B8A899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0800000">
            <a:off x="5270418" y="1851870"/>
            <a:ext cx="1514700" cy="3786749"/>
          </a:xfrm>
          <a:prstGeom prst="rect">
            <a:avLst/>
          </a:prstGeom>
        </p:spPr>
      </p:pic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B94B7E0D-9ABE-B4D6-2685-C5ABBAEE284E}"/>
              </a:ext>
            </a:extLst>
          </p:cNvPr>
          <p:cNvGrpSpPr/>
          <p:nvPr/>
        </p:nvGrpSpPr>
        <p:grpSpPr>
          <a:xfrm>
            <a:off x="7694916" y="1773671"/>
            <a:ext cx="635810" cy="3952388"/>
            <a:chOff x="2562376" y="2094730"/>
            <a:chExt cx="737941" cy="458726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90" name="Grafik 89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B2C4AB04-262B-6C52-5021-79C24D2B448E}"/>
                </a:ext>
              </a:extLst>
            </p:cNvPr>
            <p:cNvPicPr>
              <a:picLocks/>
            </p:cNvPicPr>
            <p:nvPr/>
          </p:nvPicPr>
          <p:blipFill rotWithShape="1"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17465" t="804" r="52968" b="50327"/>
            <a:stretch/>
          </p:blipFill>
          <p:spPr>
            <a:xfrm>
              <a:off x="2562376" y="2094730"/>
              <a:ext cx="72000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  <p:pic>
          <p:nvPicPr>
            <p:cNvPr id="91" name="Grafik 90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18A685F8-B18A-6CC0-5569-4B6143AB62CC}"/>
                </a:ext>
              </a:extLst>
            </p:cNvPr>
            <p:cNvPicPr>
              <a:picLocks/>
            </p:cNvPicPr>
            <p:nvPr/>
          </p:nvPicPr>
          <p:blipFill rotWithShape="1"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6650"/>
                      </a14:imgEffect>
                      <a14:imgEffect>
                        <a14:saturation sat="140000"/>
                      </a14:imgEffect>
                    </a14:imgLayer>
                  </a14:imgProps>
                </a:ext>
              </a:extLst>
            </a:blip>
            <a:srcRect l="55164" t="13149" r="15269" b="37982"/>
            <a:stretch/>
          </p:blipFill>
          <p:spPr>
            <a:xfrm>
              <a:off x="2562376" y="2868183"/>
              <a:ext cx="72000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  <p:pic>
          <p:nvPicPr>
            <p:cNvPr id="92" name="Grafik 91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E4B962A0-72BF-8D7E-97B8-55ADB3D64F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35557" t="49851" r="34876" b="1280"/>
            <a:stretch/>
          </p:blipFill>
          <p:spPr>
            <a:xfrm>
              <a:off x="2562376" y="5961996"/>
              <a:ext cx="72000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  <p:pic>
          <p:nvPicPr>
            <p:cNvPr id="93" name="Grafik 92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38782A6C-E44A-D5FC-E5C2-48D020C7D4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17465" t="804" r="52968" b="50327"/>
            <a:stretch/>
          </p:blipFill>
          <p:spPr>
            <a:xfrm rot="10800000">
              <a:off x="2562377" y="3641636"/>
              <a:ext cx="73794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  <p:pic>
          <p:nvPicPr>
            <p:cNvPr id="94" name="Grafik 93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3659FC3A-B114-BCCA-9CAD-429D0DF5E7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6650"/>
                      </a14:imgEffect>
                      <a14:imgEffect>
                        <a14:saturation sat="140000"/>
                      </a14:imgEffect>
                    </a14:imgLayer>
                  </a14:imgProps>
                </a:ext>
              </a:extLst>
            </a:blip>
            <a:srcRect l="55164" t="13149" r="15269" b="37982"/>
            <a:stretch/>
          </p:blipFill>
          <p:spPr>
            <a:xfrm rot="10800000">
              <a:off x="2562377" y="4415089"/>
              <a:ext cx="73794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  <p:pic>
          <p:nvPicPr>
            <p:cNvPr id="95" name="Grafik 94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85A9399D-B3F6-3A4F-535E-491D6D4DF6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35557" t="49851" r="34876" b="1280"/>
            <a:stretch/>
          </p:blipFill>
          <p:spPr>
            <a:xfrm rot="10800000">
              <a:off x="2562377" y="5188542"/>
              <a:ext cx="72000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9F913FEF-5DE4-B6D0-AD8E-EE90384A66DA}"/>
              </a:ext>
            </a:extLst>
          </p:cNvPr>
          <p:cNvGrpSpPr/>
          <p:nvPr/>
        </p:nvGrpSpPr>
        <p:grpSpPr>
          <a:xfrm>
            <a:off x="8578309" y="1969907"/>
            <a:ext cx="347805" cy="3627617"/>
            <a:chOff x="4553464" y="2014735"/>
            <a:chExt cx="403674" cy="2178266"/>
          </a:xfrm>
        </p:grpSpPr>
        <p:sp>
          <p:nvSpPr>
            <p:cNvPr id="107" name="Pfeil: nach rechts 106">
              <a:extLst>
                <a:ext uri="{FF2B5EF4-FFF2-40B4-BE49-F238E27FC236}">
                  <a16:creationId xmlns:a16="http://schemas.microsoft.com/office/drawing/2014/main" id="{D0A98C1A-9E7B-BBBD-E4FA-94D040767EC3}"/>
                </a:ext>
              </a:extLst>
            </p:cNvPr>
            <p:cNvSpPr/>
            <p:nvPr/>
          </p:nvSpPr>
          <p:spPr>
            <a:xfrm>
              <a:off x="4553464" y="2014735"/>
              <a:ext cx="403674" cy="295110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8" name="Pfeil: nach rechts 107">
              <a:extLst>
                <a:ext uri="{FF2B5EF4-FFF2-40B4-BE49-F238E27FC236}">
                  <a16:creationId xmlns:a16="http://schemas.microsoft.com/office/drawing/2014/main" id="{689CE41D-3682-4BD3-F61E-A8EEAE68D7AB}"/>
                </a:ext>
              </a:extLst>
            </p:cNvPr>
            <p:cNvSpPr/>
            <p:nvPr/>
          </p:nvSpPr>
          <p:spPr>
            <a:xfrm>
              <a:off x="4553464" y="2391366"/>
              <a:ext cx="403674" cy="295110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FFC000"/>
                </a:solidFill>
              </a:endParaRPr>
            </a:p>
          </p:txBody>
        </p:sp>
        <p:sp>
          <p:nvSpPr>
            <p:cNvPr id="109" name="Pfeil: nach rechts 108">
              <a:extLst>
                <a:ext uri="{FF2B5EF4-FFF2-40B4-BE49-F238E27FC236}">
                  <a16:creationId xmlns:a16="http://schemas.microsoft.com/office/drawing/2014/main" id="{6F928E28-1BF5-4E99-1C17-A3D90EB4FF84}"/>
                </a:ext>
              </a:extLst>
            </p:cNvPr>
            <p:cNvSpPr/>
            <p:nvPr/>
          </p:nvSpPr>
          <p:spPr>
            <a:xfrm>
              <a:off x="4553464" y="2767997"/>
              <a:ext cx="403674" cy="295110"/>
            </a:xfrm>
            <a:prstGeom prst="rightArrow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0" name="Pfeil: nach rechts 109">
              <a:extLst>
                <a:ext uri="{FF2B5EF4-FFF2-40B4-BE49-F238E27FC236}">
                  <a16:creationId xmlns:a16="http://schemas.microsoft.com/office/drawing/2014/main" id="{DC39D81B-747B-C0EB-56A1-70ACC6643209}"/>
                </a:ext>
              </a:extLst>
            </p:cNvPr>
            <p:cNvSpPr/>
            <p:nvPr/>
          </p:nvSpPr>
          <p:spPr>
            <a:xfrm>
              <a:off x="4553464" y="3144628"/>
              <a:ext cx="403674" cy="295110"/>
            </a:xfrm>
            <a:prstGeom prst="right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1" name="Pfeil: nach rechts 110">
              <a:extLst>
                <a:ext uri="{FF2B5EF4-FFF2-40B4-BE49-F238E27FC236}">
                  <a16:creationId xmlns:a16="http://schemas.microsoft.com/office/drawing/2014/main" id="{D43951B1-55D7-1867-2F0A-22EB4E3F1C42}"/>
                </a:ext>
              </a:extLst>
            </p:cNvPr>
            <p:cNvSpPr/>
            <p:nvPr/>
          </p:nvSpPr>
          <p:spPr>
            <a:xfrm>
              <a:off x="4553464" y="3521259"/>
              <a:ext cx="403674" cy="295110"/>
            </a:xfrm>
            <a:prstGeom prst="rightArrow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Pfeil: nach rechts 111">
              <a:extLst>
                <a:ext uri="{FF2B5EF4-FFF2-40B4-BE49-F238E27FC236}">
                  <a16:creationId xmlns:a16="http://schemas.microsoft.com/office/drawing/2014/main" id="{5CF510D8-6096-032A-6524-1A9E56B299E8}"/>
                </a:ext>
              </a:extLst>
            </p:cNvPr>
            <p:cNvSpPr/>
            <p:nvPr/>
          </p:nvSpPr>
          <p:spPr>
            <a:xfrm>
              <a:off x="4553464" y="3897891"/>
              <a:ext cx="403674" cy="295110"/>
            </a:xfrm>
            <a:prstGeom prst="rightArrow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98" name="Grafik 97" descr="Ein Bild, das Entwurf, Zeichnung, Reihe, Schwarzweiß enthält.&#10;&#10;Automatisch generierte Beschreibung">
            <a:extLst>
              <a:ext uri="{FF2B5EF4-FFF2-40B4-BE49-F238E27FC236}">
                <a16:creationId xmlns:a16="http://schemas.microsoft.com/office/drawing/2014/main" id="{DBEA3BDB-5B7B-FCAF-AF13-5FE9072D98E2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8953644" y="1851870"/>
            <a:ext cx="1514700" cy="3786749"/>
          </a:xfrm>
          <a:prstGeom prst="rect">
            <a:avLst/>
          </a:prstGeom>
        </p:spPr>
      </p:pic>
      <p:sp>
        <p:nvSpPr>
          <p:cNvPr id="113" name="Google Shape;177;p8">
            <a:extLst>
              <a:ext uri="{FF2B5EF4-FFF2-40B4-BE49-F238E27FC236}">
                <a16:creationId xmlns:a16="http://schemas.microsoft.com/office/drawing/2014/main" id="{C6B58AFF-FB0B-8BF3-7616-F6C4926B9D76}"/>
              </a:ext>
            </a:extLst>
          </p:cNvPr>
          <p:cNvSpPr txBox="1">
            <a:spLocks/>
          </p:cNvSpPr>
          <p:nvPr/>
        </p:nvSpPr>
        <p:spPr>
          <a:xfrm>
            <a:off x="615190" y="5957115"/>
            <a:ext cx="6300000" cy="92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</a:pPr>
            <a:r>
              <a:rPr lang="de-DE" sz="1400" b="1" dirty="0">
                <a:solidFill>
                  <a:schemeClr val="bg2"/>
                </a:solidFill>
                <a:latin typeface="Noto Sans Semibold"/>
              </a:rPr>
              <a:t>Jeder Kopf: 1/6 von d</a:t>
            </a:r>
            <a:r>
              <a:rPr lang="de-DE" sz="1400" b="1" baseline="-25000" dirty="0">
                <a:solidFill>
                  <a:schemeClr val="bg2"/>
                </a:solidFill>
                <a:latin typeface="Noto Sans Semibold"/>
              </a:rPr>
              <a:t>model</a:t>
            </a:r>
            <a:r>
              <a:rPr lang="de-DE" sz="1400" b="1" dirty="0">
                <a:solidFill>
                  <a:schemeClr val="bg2"/>
                </a:solidFill>
                <a:latin typeface="Noto Sans Semibold"/>
              </a:rPr>
              <a:t> (Guppy: 6 × 64 = 384).</a:t>
            </a: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</a:pPr>
            <a:r>
              <a:rPr lang="de-DE" sz="1400" b="1" dirty="0">
                <a:solidFill>
                  <a:schemeClr val="bg2"/>
                </a:solidFill>
                <a:latin typeface="Noto Sans Semibold"/>
              </a:rPr>
              <a:t>Ausgaben verketten, dann mit W</a:t>
            </a:r>
            <a:r>
              <a:rPr lang="de-DE" sz="1400" b="1" baseline="-25000" dirty="0">
                <a:solidFill>
                  <a:schemeClr val="bg2"/>
                </a:solidFill>
                <a:latin typeface="Noto Sans Semibold"/>
              </a:rPr>
              <a:t>O</a:t>
            </a:r>
            <a:r>
              <a:rPr lang="de-DE" sz="1400" b="1" dirty="0">
                <a:solidFill>
                  <a:schemeClr val="bg2"/>
                </a:solidFill>
                <a:latin typeface="Noto Sans Semibold"/>
              </a:rPr>
              <a:t> auf d</a:t>
            </a:r>
            <a:r>
              <a:rPr lang="de-DE" sz="1400" b="1" baseline="-25000" dirty="0">
                <a:solidFill>
                  <a:schemeClr val="bg2"/>
                </a:solidFill>
                <a:latin typeface="Noto Sans Semibold"/>
              </a:rPr>
              <a:t>model</a:t>
            </a:r>
            <a:r>
              <a:rPr lang="de-DE" sz="1400" b="1" dirty="0">
                <a:solidFill>
                  <a:schemeClr val="bg2"/>
                </a:solidFill>
                <a:latin typeface="Noto Sans Semibold"/>
              </a:rPr>
              <a:t> projizieren.</a:t>
            </a:r>
          </a:p>
        </p:txBody>
      </p:sp>
      <p:sp>
        <p:nvSpPr>
          <p:cNvPr id="114" name="Pfeil: nach rechts 113">
            <a:extLst>
              <a:ext uri="{FF2B5EF4-FFF2-40B4-BE49-F238E27FC236}">
                <a16:creationId xmlns:a16="http://schemas.microsoft.com/office/drawing/2014/main" id="{2CA2D737-3556-68FC-C5CF-26F857A6835E}"/>
              </a:ext>
            </a:extLst>
          </p:cNvPr>
          <p:cNvSpPr/>
          <p:nvPr/>
        </p:nvSpPr>
        <p:spPr>
          <a:xfrm>
            <a:off x="6916275" y="1898359"/>
            <a:ext cx="643239" cy="3693769"/>
          </a:xfrm>
          <a:prstGeom prst="rightArrow">
            <a:avLst>
              <a:gd name="adj1" fmla="val 41482"/>
              <a:gd name="adj2" fmla="val 70301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5" name="Pfeil: nach rechts 114">
            <a:extLst>
              <a:ext uri="{FF2B5EF4-FFF2-40B4-BE49-F238E27FC236}">
                <a16:creationId xmlns:a16="http://schemas.microsoft.com/office/drawing/2014/main" id="{5F273B39-8D72-1241-73DB-8F2F5938768A}"/>
              </a:ext>
            </a:extLst>
          </p:cNvPr>
          <p:cNvSpPr/>
          <p:nvPr/>
        </p:nvSpPr>
        <p:spPr>
          <a:xfrm>
            <a:off x="10528222" y="1924302"/>
            <a:ext cx="643239" cy="3693769"/>
          </a:xfrm>
          <a:prstGeom prst="rightArrow">
            <a:avLst>
              <a:gd name="adj1" fmla="val 41482"/>
              <a:gd name="adj2" fmla="val 70301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592257D-F17F-F798-B7E1-FFBC0CF7A2D2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Formel 116"/>
              <p:cNvSpPr txBox="1"/>
              <p:nvPr/>
            </p:nvSpPr>
            <p:spPr>
              <a:xfrm>
                <a:off x="7259508" y="5976000"/>
                <a:ext cx="3480984" cy="20878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DE" sz="15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MHA</m:t>
                      </m:r>
                      <m:d>
                        <m:dPr>
                          <m:ctrlPr>
                            <a:rPr lang="de-DE" sz="15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5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de-DE" sz="15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sz="15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Concat</m:t>
                      </m:r>
                      <m:d>
                        <m:dPr>
                          <m:ctrlPr>
                            <a:rPr lang="de-DE" sz="15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5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15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head</m:t>
                              </m:r>
                            </m:e>
                            <m:sub>
                              <m:r>
                                <a:rPr lang="de-DE" sz="15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sz="15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de-DE" sz="15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15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head</m:t>
                              </m:r>
                            </m:e>
                            <m:sub>
                              <m:r>
                                <a:rPr lang="de-DE" sz="15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sub>
                          </m:sSub>
                        </m:e>
                      </m:d>
                      <m:r>
                        <a:rPr lang="de-DE" sz="15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de-DE" sz="15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5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e-DE" sz="15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de-DE" sz="1500"/>
              </a:p>
            </p:txBody>
          </p:sp>
        </mc:Choice>
        <mc:Fallback xmlns="" xmlns:m="http://schemas.openxmlformats.org/officeDocument/2006/math">
          <p:sp>
            <p:nvSpPr>
              <p:cNvPr id="116" name="Formel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508" y="5976000"/>
                <a:ext cx="3300984" cy="2087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Formel 117"/>
              <p:cNvSpPr txBox="1"/>
              <p:nvPr/>
            </p:nvSpPr>
            <p:spPr>
              <a:xfrm>
                <a:off x="7332660" y="6426000"/>
                <a:ext cx="3334680" cy="26974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5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5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head</m:t>
                          </m:r>
                        </m:e>
                        <m:sub>
                          <m:r>
                            <a:rPr lang="de-DE" sz="15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15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sz="15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Attention</m:t>
                      </m:r>
                      <m:d>
                        <m:dPr>
                          <m:ctrlPr>
                            <a:rPr lang="de-DE" sz="15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5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sSubSup>
                            <m:sSubSupPr>
                              <m:ctrlPr>
                                <a:rPr lang="de-DE" sz="15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sz="15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de-DE" sz="15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  <m:sup>
                              <m:r>
                                <a:rPr lang="de-DE" sz="15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de-DE" sz="15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5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de-DE" sz="15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sSubSup>
                            <m:sSubSupPr>
                              <m:ctrlPr>
                                <a:rPr lang="de-DE" sz="15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sz="15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de-DE" sz="15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  <m:sup>
                              <m:r>
                                <a:rPr lang="de-DE" sz="15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de-DE" sz="15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5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de-DE" sz="15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sSubSup>
                            <m:sSubSupPr>
                              <m:ctrlPr>
                                <a:rPr lang="de-DE" sz="15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sz="15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de-DE" sz="15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  <m:sup>
                              <m:r>
                                <a:rPr lang="de-DE" sz="15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de-DE" sz="1500"/>
              </a:p>
            </p:txBody>
          </p:sp>
        </mc:Choice>
        <mc:Fallback xmlns="" xmlns:m="http://schemas.openxmlformats.org/officeDocument/2006/math">
          <p:sp>
            <p:nvSpPr>
              <p:cNvPr id="117" name="Formel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660" y="6426000"/>
                <a:ext cx="3154680" cy="26974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3177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4. Transformer-Block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Residualstrom: addieren statt ersetzen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76000" y="3168000"/>
            <a:ext cx="10440000" cy="0"/>
          </a:xfrm>
          <a:prstGeom prst="line">
            <a:avLst/>
          </a:prstGeom>
          <a:ln w="63500">
            <a:solidFill>
              <a:srgbClr val="F59E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76000" y="3276000"/>
            <a:ext cx="324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F59E00"/>
                </a:solidFill>
              </a:rPr>
              <a:t>Residualstrom (d_model je Token)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40000" y="2376000"/>
            <a:ext cx="1080000" cy="4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8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rgbClr val="374151"/>
                </a:solidFill>
              </a:rPr>
              <a:t>LayerNorm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8000" y="2232000"/>
            <a:ext cx="1655999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0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rgbClr val="374151"/>
                </a:solidFill>
              </a:rPr>
              <a:t>Masked</a:t>
            </a:r>
          </a:p>
          <a:p>
            <a:pPr algn="ctr"/>
            <a:r>
              <a:rPr sz="1300" b="1">
                <a:solidFill>
                  <a:srgbClr val="374151"/>
                </a:solidFill>
              </a:rPr>
              <a:t>Multi-Head-Att.</a:t>
            </a:r>
          </a:p>
        </p:txBody>
      </p:sp>
      <p:sp>
        <p:nvSpPr>
          <p:cNvPr id="9" name="Oval 8"/>
          <p:cNvSpPr/>
          <p:nvPr/>
        </p:nvSpPr>
        <p:spPr>
          <a:xfrm>
            <a:off x="4752000" y="2934000"/>
            <a:ext cx="468000" cy="46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800" b="1">
                <a:solidFill>
                  <a:srgbClr val="374151"/>
                </a:solidFill>
              </a:rPr>
              <a:t>+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655999" y="2826000"/>
            <a:ext cx="0" cy="34200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520000" y="2592000"/>
            <a:ext cx="270000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464000" y="2592000"/>
            <a:ext cx="522000" cy="0"/>
          </a:xfrm>
          <a:prstGeom prst="line">
            <a:avLst/>
          </a:prstGeom>
          <a:ln w="222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86000" y="2592000"/>
            <a:ext cx="0" cy="32400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20000" y="2376000"/>
            <a:ext cx="1080000" cy="4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8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rgbClr val="374151"/>
                </a:solidFill>
              </a:rPr>
              <a:t>LayerNorm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88000" y="2232000"/>
            <a:ext cx="1655999" cy="7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0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rgbClr val="374151"/>
                </a:solidFill>
              </a:rPr>
              <a:t>FFN</a:t>
            </a:r>
          </a:p>
        </p:txBody>
      </p:sp>
      <p:sp>
        <p:nvSpPr>
          <p:cNvPr id="16" name="Oval 15"/>
          <p:cNvSpPr/>
          <p:nvPr/>
        </p:nvSpPr>
        <p:spPr>
          <a:xfrm>
            <a:off x="9432000" y="2934000"/>
            <a:ext cx="468000" cy="46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800" b="1">
                <a:solidFill>
                  <a:srgbClr val="374151"/>
                </a:solidFill>
              </a:rPr>
              <a:t>+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336000" y="2826000"/>
            <a:ext cx="0" cy="34200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200000" y="2592000"/>
            <a:ext cx="270000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144000" y="2592000"/>
            <a:ext cx="522000" cy="0"/>
          </a:xfrm>
          <a:prstGeom prst="line">
            <a:avLst/>
          </a:prstGeom>
          <a:ln w="222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66000" y="2592000"/>
            <a:ext cx="0" cy="32400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2000" y="1745999"/>
            <a:ext cx="10584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374151"/>
                </a:solidFill>
              </a:rPr>
              <a:t>Jedes Teilmodul liest aus dem Strom und addiert seinen Beitrag (Pre-LN, wie GPT-2 und Guppy):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ormel 22"/>
              <p:cNvSpPr txBox="1"/>
              <p:nvPr/>
            </p:nvSpPr>
            <p:spPr>
              <a:xfrm>
                <a:off x="1658226" y="3744000"/>
                <a:ext cx="2659548" cy="33985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𝐡</m:t>
                      </m:r>
                      <m: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MHA</m:t>
                      </m:r>
                      <m:d>
                        <m:dPr>
                          <m:ctrlP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  <m:d>
                            <m:dPr>
                              <m:ctrlPr>
                                <a:rPr lang="de-DE" sz="20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de-DE" sz="2000"/>
              </a:p>
            </p:txBody>
          </p:sp>
        </mc:Choice>
        <mc:Fallback xmlns="" xmlns:m="http://schemas.openxmlformats.org/officeDocument/2006/math">
          <p:sp>
            <p:nvSpPr>
              <p:cNvPr id="22" name="Formel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8226" y="3744000"/>
                <a:ext cx="2479548" cy="3398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Formel 23"/>
              <p:cNvSpPr txBox="1"/>
              <p:nvPr/>
            </p:nvSpPr>
            <p:spPr>
              <a:xfrm>
                <a:off x="1670418" y="4284000"/>
                <a:ext cx="2635164" cy="33985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𝐡</m:t>
                      </m:r>
                      <m: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FFN</m:t>
                      </m:r>
                      <m:d>
                        <m:dPr>
                          <m:ctrlP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  <m:d>
                            <m:dPr>
                              <m:ctrlPr>
                                <a:rPr lang="de-DE" sz="20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de-DE" sz="2000"/>
              </a:p>
            </p:txBody>
          </p:sp>
        </mc:Choice>
        <mc:Fallback xmlns="" xmlns:m="http://schemas.openxmlformats.org/officeDocument/2006/math">
          <p:sp>
            <p:nvSpPr>
              <p:cNvPr id="23" name="Formel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418" y="4284000"/>
                <a:ext cx="2455164" cy="3398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522000" y="4932000"/>
            <a:ext cx="5040000" cy="1655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05000"/>
              </a:lnSpc>
              <a:buBlip>
                <a:blip r:embed="rId5"/>
              </a:buBlip>
            </a:pPr>
            <a:r>
              <a:rPr sz="1400" b="1">
                <a:solidFill>
                  <a:srgbClr val="374151"/>
                </a:solidFill>
              </a:rPr>
              <a:t>Attention tauscht Information zwischen Positionen aus; das FFN arbeitet je Position.</a:t>
            </a:r>
          </a:p>
          <a:p>
            <a:pPr marL="285750" indent="-285750">
              <a:lnSpc>
                <a:spcPct val="105000"/>
              </a:lnSpc>
              <a:buBlip>
                <a:blip r:embed="rId5"/>
              </a:buBlip>
            </a:pPr>
            <a:r>
              <a:rPr sz="1400" b="1">
                <a:solidFill>
                  <a:srgbClr val="374151"/>
                </a:solidFill>
              </a:rPr>
              <a:t>Guppy-Beobachtung: Ein untrainierter Block ändert den Strom nur um 28,7 % – er ergänzt, statt zu ersetzen.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3999" y="3744000"/>
            <a:ext cx="5184000" cy="28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05000"/>
              </a:lnSpc>
              <a:buBlip>
                <a:blip r:embed="rId5"/>
              </a:buBlip>
            </a:pPr>
            <a:r>
              <a:rPr sz="1400" b="1">
                <a:solidFill>
                  <a:srgbClr val="374151"/>
                </a:solidFill>
              </a:rPr>
              <a:t>Direkte Additionspfade erleichtern das Training sehr tiefer Netze (He et al. 2016).</a:t>
            </a:r>
          </a:p>
          <a:p>
            <a:pPr marL="285750" indent="-285750">
              <a:lnSpc>
                <a:spcPct val="105000"/>
              </a:lnSpc>
              <a:buBlip>
                <a:blip r:embed="rId5"/>
              </a:buBlip>
            </a:pPr>
            <a:r>
              <a:rPr sz="1400" b="1">
                <a:solidFill>
                  <a:srgbClr val="374151"/>
                </a:solidFill>
              </a:rPr>
              <a:t>Ohne Skip-Verbindungen und FFN konvergiert reine Attention mit der Tiefe doppelt exponentiell gegen eine Rang-1-Matrix – alle Tokens würden gleich (Dong et al. 2021).</a:t>
            </a:r>
          </a:p>
          <a:p>
            <a:pPr marL="285750" indent="-285750">
              <a:lnSpc>
                <a:spcPct val="105000"/>
              </a:lnSpc>
              <a:buBlip>
                <a:blip r:embed="rId5"/>
              </a:buBlip>
            </a:pPr>
            <a:r>
              <a:rPr sz="1400" b="1">
                <a:solidFill>
                  <a:srgbClr val="374151"/>
                </a:solidFill>
              </a:rPr>
              <a:t>Bild „Kommunikationskanal“: Jede Schicht liest aus dem Strom und schreibt hinein (Elhage et al. 2021).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000" y="6750000"/>
            <a:ext cx="10620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He et al. (2016), CVPR  ·  Dong, Cordonnier &amp; Loukas (2021), ICML  ·  Elhage et al. (2021), transformer-circuits.pub  ·  Original 2017: Post-LN, LayerNorm(x + Sublayer(x))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4. Transformer-Block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LayerNorm: Pre-LN statt Post-LN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Formel 5"/>
              <p:cNvSpPr txBox="1"/>
              <p:nvPr/>
            </p:nvSpPr>
            <p:spPr>
              <a:xfrm>
                <a:off x="4163340" y="1800000"/>
                <a:ext cx="3121320" cy="60350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DE" sz="22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de-DE" sz="22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2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de-DE" sz="22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2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𝛄</m:t>
                      </m:r>
                      <m:r>
                        <a:rPr lang="de-DE" sz="22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⊙</m:t>
                      </m:r>
                      <m:f>
                        <m:fPr>
                          <m:ctrlPr>
                            <a:rPr lang="de-DE" sz="22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2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de-DE" sz="22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sz="22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sz="22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sz="22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2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de-DE" sz="22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 sz="22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sz="22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rad>
                        </m:den>
                      </m:f>
                      <m:r>
                        <a:rPr lang="de-DE" sz="22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2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𝛃</m:t>
                      </m:r>
                    </m:oMath>
                  </m:oMathPara>
                </a14:m>
                <a:endParaRPr lang="de-DE" sz="2200"/>
              </a:p>
            </p:txBody>
          </p:sp>
        </mc:Choice>
        <mc:Fallback xmlns="" xmlns:m="http://schemas.openxmlformats.org/officeDocument/2006/math">
          <p:sp>
            <p:nvSpPr>
              <p:cNvPr id="5" name="Formel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340" y="1800000"/>
                <a:ext cx="2941320" cy="6035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Formel 6"/>
              <p:cNvSpPr txBox="1"/>
              <p:nvPr/>
            </p:nvSpPr>
            <p:spPr>
              <a:xfrm>
                <a:off x="3873018" y="2700000"/>
                <a:ext cx="3701964" cy="72999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18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de-DE" sz="18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sz="18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sSub>
                            <m:sSubPr>
                              <m:ctrlP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de-DE" sz="18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18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  </m:t>
                      </m:r>
                      <m:sSup>
                        <m:sSupPr>
                          <m:ctrlP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sz="18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sz="18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sSup>
                            <m:sSupPr>
                              <m:ctrlP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18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sz="18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8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DE" sz="18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de-DE" sz="18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sz="18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de-DE" sz="1800"/>
              </a:p>
            </p:txBody>
          </p:sp>
        </mc:Choice>
        <mc:Fallback xmlns="" xmlns:m="http://schemas.openxmlformats.org/officeDocument/2006/math">
          <p:sp>
            <p:nvSpPr>
              <p:cNvPr id="6" name="Formel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3018" y="2700000"/>
                <a:ext cx="3521964" cy="7299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22000" y="3564000"/>
            <a:ext cx="10584000" cy="7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0">
                <a:solidFill>
                  <a:srgbClr val="374151"/>
                </a:solidFill>
              </a:rPr>
              <a:t>Normiert wird jeder Token-Vektor für sich über seine d</a:t>
            </a:r>
            <a:r>
              <a:rPr sz="1500" b="0" baseline="-25000">
                <a:solidFill>
                  <a:srgbClr val="374151"/>
                </a:solidFill>
              </a:rPr>
              <a:t>model</a:t>
            </a:r>
            <a:r>
              <a:rPr sz="1500" b="0">
                <a:solidFill>
                  <a:srgbClr val="374151"/>
                </a:solidFill>
              </a:rPr>
              <a:t> Komponenten; γ und β sind gelernte Parameter (Ba et al. 2016).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22000" y="4212000"/>
          <a:ext cx="10584000" cy="129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74151"/>
                          </a:solidFill>
                        </a:rPr>
                        <a:t>Formel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74151"/>
                          </a:solidFill>
                        </a:rPr>
                        <a:t>Verwendet in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74151"/>
                          </a:solidFill>
                        </a:rPr>
                        <a:t>Post-LN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151"/>
                          </a:solidFill>
                        </a:rPr>
                        <a:t>x ← LN(x + Sublayer(x))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151"/>
                          </a:solidFill>
                        </a:rPr>
                        <a:t>Original-Transformer 2017, GPT-1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74151"/>
                          </a:solidFill>
                        </a:rPr>
                        <a:t>Pre-LN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151"/>
                          </a:solidFill>
                        </a:rPr>
                        <a:t>x ← x + Sublayer(LN(x)), am Ende eine finale LN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74151"/>
                          </a:solidFill>
                        </a:rPr>
                        <a:t>GPT-2, GPT-3, GuppyLM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22000" y="5652000"/>
            <a:ext cx="10584000" cy="93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05000"/>
              </a:lnSpc>
              <a:buBlip>
                <a:blip r:embed="rId5"/>
              </a:buBlip>
            </a:pPr>
            <a:r>
              <a:rPr sz="1400" b="1">
                <a:solidFill>
                  <a:srgbClr val="374151"/>
                </a:solidFill>
              </a:rPr>
              <a:t>Post-LN braucht eine sorgfältige Lernraten-Aufwärmphase; Pre-LN hat bei der Initialisierung gutartige Gradienten (Xiong et al. 2020).</a:t>
            </a:r>
          </a:p>
          <a:p>
            <a:pPr marL="285750" indent="-285750">
              <a:lnSpc>
                <a:spcPct val="105000"/>
              </a:lnSpc>
              <a:buBlip>
                <a:blip r:embed="rId5"/>
              </a:buBlip>
            </a:pPr>
            <a:r>
              <a:rPr sz="1400" b="1">
                <a:solidFill>
                  <a:srgbClr val="374151"/>
                </a:solidFill>
              </a:rPr>
              <a:t>Guppy nutzt trotzdem 200 Warmup-Schritte (Kap. 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" y="6750000"/>
            <a:ext cx="10620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Ba, Kiros &amp; Hinton (2016)  ·  Xiong et al. (2020), ICML  ·  Brown et al. (2020), Abschn. 2.1: GPT-3 nutzt die GPT-2-Architektur „including the modified initialization, pre-normalization“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4. Transformer-Block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Das FFN: je Position gleich, je Block verschieden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Formel 5"/>
              <p:cNvSpPr txBox="1"/>
              <p:nvPr/>
            </p:nvSpPr>
            <p:spPr>
              <a:xfrm>
                <a:off x="1369968" y="1764000"/>
                <a:ext cx="3740064" cy="28803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FFN</m:t>
                      </m:r>
                      <m:d>
                        <m:dPr>
                          <m:ctrlP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0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sSub>
                            <m:sSubPr>
                              <m:ctrlP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sz="20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b>
                              <m: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de-DE" sz="20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  <m:sub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2000"/>
              </a:p>
            </p:txBody>
          </p:sp>
        </mc:Choice>
        <mc:Fallback xmlns="" xmlns:m="http://schemas.openxmlformats.org/officeDocument/2006/math">
          <p:sp>
            <p:nvSpPr>
              <p:cNvPr id="5" name="Formel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968" y="1764000"/>
                <a:ext cx="3560064" cy="2880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22000" y="2412000"/>
            <a:ext cx="5580000" cy="39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sz="1500" b="1">
                <a:solidFill>
                  <a:srgbClr val="374151"/>
                </a:solidFill>
              </a:rPr>
              <a:t>φ: ReLU (2017) bzw. GELU (GPT, Guppy). Ohne φ wären W</a:t>
            </a:r>
            <a:r>
              <a:rPr sz="1500" b="1" baseline="-25000">
                <a:solidFill>
                  <a:srgbClr val="374151"/>
                </a:solidFill>
              </a:rPr>
              <a:t>1</a:t>
            </a:r>
            <a:r>
              <a:rPr sz="1500" b="1">
                <a:solidFill>
                  <a:srgbClr val="374151"/>
                </a:solidFill>
              </a:rPr>
              <a:t> und W</a:t>
            </a:r>
            <a:r>
              <a:rPr sz="1500" b="1" baseline="-25000">
                <a:solidFill>
                  <a:srgbClr val="374151"/>
                </a:solidFill>
              </a:rPr>
              <a:t>2</a:t>
            </a:r>
            <a:r>
              <a:rPr sz="1500" b="1">
                <a:solidFill>
                  <a:srgbClr val="374151"/>
                </a:solidFill>
              </a:rPr>
              <a:t> zusammen nur eine lineare Abbildung.</a:t>
            </a: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sz="1500" b="1">
                <a:solidFill>
                  <a:srgbClr val="374151"/>
                </a:solidFill>
              </a:rPr>
              <a:t>Breite d</a:t>
            </a:r>
            <a:r>
              <a:rPr sz="1500" b="1" baseline="-25000">
                <a:solidFill>
                  <a:srgbClr val="374151"/>
                </a:solidFill>
              </a:rPr>
              <a:t>ff</a:t>
            </a:r>
            <a:r>
              <a:rPr sz="1500" b="1">
                <a:solidFill>
                  <a:srgbClr val="374151"/>
                </a:solidFill>
              </a:rPr>
              <a:t> = 4·d</a:t>
            </a:r>
            <a:r>
              <a:rPr sz="1500" b="1" baseline="-25000">
                <a:solidFill>
                  <a:srgbClr val="374151"/>
                </a:solidFill>
              </a:rPr>
              <a:t>model</a:t>
            </a:r>
            <a:r>
              <a:rPr sz="1500" b="1">
                <a:solidFill>
                  <a:srgbClr val="374151"/>
                </a:solidFill>
              </a:rPr>
              <a:t> (2017: 2 048; Guppy: 1 536).</a:t>
            </a: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sz="1500" b="1">
                <a:solidFill>
                  <a:srgbClr val="374151"/>
                </a:solidFill>
              </a:rPr>
              <a:t>Dieselben Gewichte für alle Positionen eines Blocks – aber jeder Block hat sein eigenes FFN: „they use different parameters from layer to layer“ (Vaswani et al. 2017).</a:t>
            </a: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sz="1500" b="1">
                <a:solidFill>
                  <a:srgbClr val="374151"/>
                </a:solidFill>
              </a:rPr>
              <a:t>Parameter je Block: Attention 4d² + 4d, FFN 8d² + 5d → FFN ≈ 2/3. </a:t>
            </a:r>
            <a:r>
              <a:rPr sz="1500" b="1">
                <a:solidFill>
                  <a:srgbClr val="008891"/>
                </a:solidFill>
              </a:rPr>
              <a:t>Guppy: 1 181 568 von 1 774 464 = 66,6 %.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6000" y="1764000"/>
            <a:ext cx="4752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6001AD"/>
                </a:solidFill>
              </a:rPr>
              <a:t>Guppy: 6 Blöcke, jeder mit eigenem Satz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36000" y="2088000"/>
          <a:ext cx="4752000" cy="252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74151"/>
                          </a:solidFill>
                        </a:rPr>
                        <a:t>Block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74151"/>
                          </a:solidFill>
                        </a:rPr>
                        <a:t>Attention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74151"/>
                          </a:solidFill>
                        </a:rPr>
                        <a:t>FFN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74151"/>
                          </a:solidFill>
                        </a:rPr>
                        <a:t>Norm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74151"/>
                          </a:solidFill>
                        </a:rPr>
                        <a:t>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</a:rPr>
                        <a:t>W_Q¹ W_K¹ W_V¹ W_O¹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</a:rPr>
                        <a:t>W₁¹ W₂¹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</a:rPr>
                        <a:t>γ¹, β¹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74151"/>
                          </a:solidFill>
                        </a:rPr>
                        <a:t>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</a:rPr>
                        <a:t>W_Q² W_K² W_V² W_O²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</a:rPr>
                        <a:t>W₁² W₂²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</a:rPr>
                        <a:t>γ², β²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74151"/>
                          </a:solidFill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</a:rPr>
                        <a:t>W_Q³ W_K³ W_V³ W_O³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</a:rPr>
                        <a:t>W₁³ W₂³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</a:rPr>
                        <a:t>γ³, β³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74151"/>
                          </a:solidFill>
                        </a:rPr>
                        <a:t>…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</a:rPr>
                        <a:t>…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</a:rPr>
                        <a:t>…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</a:rPr>
                        <a:t>…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74151"/>
                          </a:solidFill>
                        </a:rPr>
                        <a:t>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</a:rPr>
                        <a:t>W_Q⁶ W_K⁶ W_V⁶ W_O⁶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</a:rPr>
                        <a:t>W₁⁶ W₂⁶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</a:rPr>
                        <a:t>γ⁶, β⁶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36000" y="4968000"/>
            <a:ext cx="4752000" cy="1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374151"/>
                </a:solidFill>
              </a:rPr>
              <a:t>Keine Gewichte werden zwischen Blöcken geteilt. Nur die Embedding-Matrix wird am Ausgang wiederverwendet (Weight Tying).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" y="6750000"/>
            <a:ext cx="10620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Vaswani et al. (2017), Abschn. 3.3  ·  Radford et al. (2018): GELU  ·  Geva et al. (2021): „Feed-forward layers constitute two-thirds of a transformer model’s parameters“  ·  Guppy: Notebook-Ausgabe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138;p5" descr="Diagram of a Transformer">
            <a:extLst>
              <a:ext uri="{FF2B5EF4-FFF2-40B4-BE49-F238E27FC236}">
                <a16:creationId xmlns:a16="http://schemas.microsoft.com/office/drawing/2014/main" id="{4067E135-EE76-6C40-327E-362AEA7990E4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24509" t="68179" r="50063" b="18330"/>
          <a:stretch/>
        </p:blipFill>
        <p:spPr>
          <a:xfrm>
            <a:off x="4850520" y="5647081"/>
            <a:ext cx="1336272" cy="980386"/>
          </a:xfrm>
          <a:prstGeom prst="rect">
            <a:avLst/>
          </a:prstGeom>
          <a:noFill/>
          <a:ln w="76200" cap="sq" cmpd="sng">
            <a:noFill/>
            <a:prstDash val="solid"/>
            <a:miter lim="800000"/>
            <a:headEnd type="none" w="sm" len="sm"/>
            <a:tailEnd type="none" w="sm" len="sm"/>
          </a:ln>
          <a:effectLst>
            <a:glow rad="63500">
              <a:schemeClr val="bg1">
                <a:alpha val="79000"/>
              </a:schemeClr>
            </a:glow>
            <a:softEdge rad="0"/>
          </a:effec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4883D4E-2269-3481-8FD7-C25C4030B706}"/>
              </a:ext>
            </a:extLst>
          </p:cNvPr>
          <p:cNvSpPr txBox="1"/>
          <p:nvPr/>
        </p:nvSpPr>
        <p:spPr>
          <a:xfrm>
            <a:off x="533213" y="1062039"/>
            <a:ext cx="9451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>
                    <a:lumMod val="50000"/>
                  </a:schemeClr>
                </a:solidFill>
                <a:effectLst/>
                <a:latin typeface="Noto Sans Semibold"/>
              </a:rPr>
              <a:t>4. Transformer-Block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N Blöcke hintereinander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F0045A23-68D0-FE1A-43D5-C59E6B887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213" y="6058468"/>
            <a:ext cx="490442" cy="487692"/>
          </a:xfrm>
        </p:spPr>
        <p:txBody>
          <a:bodyPr>
            <a:normAutofit/>
          </a:bodyPr>
          <a:lstStyle/>
          <a:p>
            <a:pPr marL="108002" indent="0">
              <a:buNone/>
            </a:pPr>
            <a:r>
              <a:rPr lang="de-DE" dirty="0"/>
              <a:t> 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B1D53AC-14F0-CAE3-946A-B2D39872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401" y="6014388"/>
            <a:ext cx="704993" cy="531771"/>
          </a:xfrm>
        </p:spPr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16" name="Textplatzhalter 16">
            <a:extLst>
              <a:ext uri="{FF2B5EF4-FFF2-40B4-BE49-F238E27FC236}">
                <a16:creationId xmlns:a16="http://schemas.microsoft.com/office/drawing/2014/main" id="{0CBC959A-C26E-6130-DD5F-9633F3FDC577}"/>
              </a:ext>
            </a:extLst>
          </p:cNvPr>
          <p:cNvSpPr txBox="1">
            <a:spLocks/>
          </p:cNvSpPr>
          <p:nvPr/>
        </p:nvSpPr>
        <p:spPr>
          <a:xfrm>
            <a:off x="533213" y="6058468"/>
            <a:ext cx="490442" cy="487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108002" indent="0">
              <a:buFont typeface="Noto Sans Symbols"/>
              <a:buNone/>
            </a:pPr>
            <a:r>
              <a:rPr lang="de-DE" dirty="0">
                <a:latin typeface="Noto Sans Semibold"/>
              </a:rPr>
              <a:t> </a:t>
            </a:r>
          </a:p>
        </p:txBody>
      </p:sp>
      <p:sp>
        <p:nvSpPr>
          <p:cNvPr id="18" name="Titel 19">
            <a:extLst>
              <a:ext uri="{FF2B5EF4-FFF2-40B4-BE49-F238E27FC236}">
                <a16:creationId xmlns:a16="http://schemas.microsoft.com/office/drawing/2014/main" id="{9816C09E-0DA8-A0AC-D7DE-18F5EB150B45}"/>
              </a:ext>
            </a:extLst>
          </p:cNvPr>
          <p:cNvSpPr txBox="1">
            <a:spLocks/>
          </p:cNvSpPr>
          <p:nvPr/>
        </p:nvSpPr>
        <p:spPr>
          <a:xfrm>
            <a:off x="597401" y="5326322"/>
            <a:ext cx="704993" cy="531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  <a:defRPr sz="3600" b="0" i="0" u="none" strike="noStrike" cap="none">
                <a:solidFill>
                  <a:srgbClr val="FFFFFF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 dirty="0">
                <a:latin typeface="Noto Sans Semibold"/>
              </a:rPr>
              <a:t> </a:t>
            </a:r>
          </a:p>
        </p:txBody>
      </p:sp>
      <p:pic>
        <p:nvPicPr>
          <p:cNvPr id="2" name="Google Shape;138;p5" descr="Diagram of a Transformer">
            <a:extLst>
              <a:ext uri="{FF2B5EF4-FFF2-40B4-BE49-F238E27FC236}">
                <a16:creationId xmlns:a16="http://schemas.microsoft.com/office/drawing/2014/main" id="{A77E2BA2-1772-0B40-B36C-E55D61B39B38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9045" t="36415" r="50063" b="31573"/>
          <a:stretch/>
        </p:blipFill>
        <p:spPr>
          <a:xfrm>
            <a:off x="764909" y="3286121"/>
            <a:ext cx="2148912" cy="2326338"/>
          </a:xfrm>
          <a:prstGeom prst="rect">
            <a:avLst/>
          </a:prstGeom>
          <a:noFill/>
          <a:ln w="76200" cap="sq" cmpd="sng">
            <a:noFill/>
            <a:prstDash val="solid"/>
            <a:miter lim="800000"/>
            <a:headEnd type="none" w="sm" len="sm"/>
            <a:tailEnd type="none" w="sm" len="sm"/>
          </a:ln>
          <a:effectLst>
            <a:glow rad="63500">
              <a:schemeClr val="bg1">
                <a:alpha val="79000"/>
              </a:schemeClr>
            </a:glow>
            <a:softEdge rad="0"/>
          </a:effectLst>
        </p:spPr>
      </p:pic>
      <p:pic>
        <p:nvPicPr>
          <p:cNvPr id="12" name="Google Shape;138;p5" descr="Diagram of a Transformer">
            <a:extLst>
              <a:ext uri="{FF2B5EF4-FFF2-40B4-BE49-F238E27FC236}">
                <a16:creationId xmlns:a16="http://schemas.microsoft.com/office/drawing/2014/main" id="{225F93A7-7166-D31D-E0D5-A26BD6A79BD4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18524" t="36417" r="50063" b="32053"/>
          <a:stretch/>
        </p:blipFill>
        <p:spPr>
          <a:xfrm>
            <a:off x="4505830" y="3289599"/>
            <a:ext cx="1650776" cy="2291327"/>
          </a:xfrm>
          <a:prstGeom prst="rect">
            <a:avLst/>
          </a:prstGeom>
          <a:noFill/>
          <a:ln w="76200" cap="sq" cmpd="sng">
            <a:noFill/>
            <a:prstDash val="solid"/>
            <a:miter lim="800000"/>
            <a:headEnd type="none" w="sm" len="sm"/>
            <a:tailEnd type="none" w="sm" len="sm"/>
          </a:ln>
          <a:effectLst>
            <a:softEdge rad="0"/>
          </a:effectLst>
        </p:spPr>
      </p:pic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9D316182-1980-46BC-5686-E43B22365F6E}"/>
              </a:ext>
            </a:extLst>
          </p:cNvPr>
          <p:cNvGrpSpPr/>
          <p:nvPr/>
        </p:nvGrpSpPr>
        <p:grpSpPr>
          <a:xfrm>
            <a:off x="5440129" y="3149217"/>
            <a:ext cx="2575908" cy="2617132"/>
            <a:chOff x="5608320" y="3102864"/>
            <a:chExt cx="2809115" cy="2854071"/>
          </a:xfrm>
        </p:grpSpPr>
        <p:pic>
          <p:nvPicPr>
            <p:cNvPr id="13" name="Google Shape;138;p5" descr="Diagram of a Transformer">
              <a:extLst>
                <a:ext uri="{FF2B5EF4-FFF2-40B4-BE49-F238E27FC236}">
                  <a16:creationId xmlns:a16="http://schemas.microsoft.com/office/drawing/2014/main" id="{345C6EB1-C37F-1586-1D6D-42F393F19355}"/>
                </a:ext>
              </a:extLst>
            </p:cNvPr>
            <p:cNvPicPr preferRelativeResize="0"/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-40000"/>
                      </a14:imgEffect>
                    </a14:imgLayer>
                  </a14:imgProps>
                </a:ext>
              </a:extLst>
            </a:blip>
            <a:srcRect l="18524" t="36415" r="50063" b="32263"/>
            <a:stretch/>
          </p:blipFill>
          <p:spPr>
            <a:xfrm>
              <a:off x="6617208" y="3272743"/>
              <a:ext cx="1800227" cy="2482262"/>
            </a:xfrm>
            <a:prstGeom prst="rect">
              <a:avLst/>
            </a:prstGeom>
            <a:noFill/>
            <a:ln w="76200" cap="sq" cmpd="sng">
              <a:noFill/>
              <a:prstDash val="solid"/>
              <a:miter lim="800000"/>
              <a:headEnd type="none" w="sm" len="sm"/>
              <a:tailEnd type="none" w="sm" len="sm"/>
            </a:ln>
            <a:effectLst>
              <a:glow rad="63500">
                <a:schemeClr val="bg1">
                  <a:alpha val="79000"/>
                </a:schemeClr>
              </a:glow>
              <a:softEdge rad="0"/>
            </a:effectLst>
          </p:spPr>
        </p:pic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A4C0EDD3-9AE4-00C0-169C-97E08589D67C}"/>
                </a:ext>
              </a:extLst>
            </p:cNvPr>
            <p:cNvGrpSpPr/>
            <p:nvPr/>
          </p:nvGrpSpPr>
          <p:grpSpPr>
            <a:xfrm>
              <a:off x="5608320" y="3102864"/>
              <a:ext cx="2048256" cy="2854071"/>
              <a:chOff x="5608320" y="3072384"/>
              <a:chExt cx="2048256" cy="2854071"/>
            </a:xfrm>
          </p:grpSpPr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CF2BAC97-D51D-C105-A342-9885760FF8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6608" y="3072384"/>
                <a:ext cx="0" cy="200359"/>
              </a:xfrm>
              <a:prstGeom prst="line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0D66C7B3-59BF-82EB-29AB-F2978C2D63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8320" y="3072384"/>
                <a:ext cx="864870" cy="0"/>
              </a:xfrm>
              <a:prstGeom prst="line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1D39371F-6C35-651E-AEEE-14A8E95312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55664" y="3072384"/>
                <a:ext cx="0" cy="2854071"/>
              </a:xfrm>
              <a:prstGeom prst="line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049D127B-C91F-F4E1-F46F-2E2454DEFDBE}"/>
                  </a:ext>
                </a:extLst>
              </p:cNvPr>
              <p:cNvCxnSpPr/>
              <p:nvPr/>
            </p:nvCxnSpPr>
            <p:spPr>
              <a:xfrm>
                <a:off x="6449568" y="5908052"/>
                <a:ext cx="1207008" cy="0"/>
              </a:xfrm>
              <a:prstGeom prst="line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68D4F675-031E-13EE-360F-8C895096E8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3147" y="5718429"/>
                <a:ext cx="0" cy="208026"/>
              </a:xfrm>
              <a:prstGeom prst="line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CD56E64C-049D-E00E-CEB2-295E2E008C39}"/>
              </a:ext>
            </a:extLst>
          </p:cNvPr>
          <p:cNvGrpSpPr/>
          <p:nvPr/>
        </p:nvGrpSpPr>
        <p:grpSpPr>
          <a:xfrm>
            <a:off x="7299052" y="3149217"/>
            <a:ext cx="2575908" cy="2617132"/>
            <a:chOff x="5608320" y="3102864"/>
            <a:chExt cx="2809115" cy="2854071"/>
          </a:xfrm>
        </p:grpSpPr>
        <p:pic>
          <p:nvPicPr>
            <p:cNvPr id="39" name="Google Shape;138;p5" descr="Diagram of a Transformer">
              <a:extLst>
                <a:ext uri="{FF2B5EF4-FFF2-40B4-BE49-F238E27FC236}">
                  <a16:creationId xmlns:a16="http://schemas.microsoft.com/office/drawing/2014/main" id="{79DAA7AC-C0E4-F1F3-507F-5E0E96F08526}"/>
                </a:ext>
              </a:extLst>
            </p:cNvPr>
            <p:cNvPicPr preferRelativeResize="0"/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-40000"/>
                      </a14:imgEffect>
                    </a14:imgLayer>
                  </a14:imgProps>
                </a:ext>
              </a:extLst>
            </a:blip>
            <a:srcRect l="18524" t="36415" r="50063" b="32263"/>
            <a:stretch/>
          </p:blipFill>
          <p:spPr>
            <a:xfrm>
              <a:off x="6617208" y="3272743"/>
              <a:ext cx="1800227" cy="2482262"/>
            </a:xfrm>
            <a:prstGeom prst="rect">
              <a:avLst/>
            </a:prstGeom>
            <a:noFill/>
            <a:ln w="76200" cap="sq" cmpd="sng">
              <a:noFill/>
              <a:prstDash val="solid"/>
              <a:miter lim="800000"/>
              <a:headEnd type="none" w="sm" len="sm"/>
              <a:tailEnd type="none" w="sm" len="sm"/>
            </a:ln>
            <a:effectLst>
              <a:glow rad="63500">
                <a:schemeClr val="bg1">
                  <a:alpha val="79000"/>
                </a:schemeClr>
              </a:glow>
              <a:softEdge rad="0"/>
            </a:effectLst>
          </p:spPr>
        </p:pic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8FC0820A-20CE-21BE-A4B9-78DA8C588C15}"/>
                </a:ext>
              </a:extLst>
            </p:cNvPr>
            <p:cNvGrpSpPr/>
            <p:nvPr/>
          </p:nvGrpSpPr>
          <p:grpSpPr>
            <a:xfrm>
              <a:off x="5608320" y="3102864"/>
              <a:ext cx="2048256" cy="2854071"/>
              <a:chOff x="5608320" y="3072384"/>
              <a:chExt cx="2048256" cy="2854071"/>
            </a:xfrm>
          </p:grpSpPr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9A38F1E8-6B2D-B944-F8B8-BAA8DA4533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6608" y="3072384"/>
                <a:ext cx="0" cy="200359"/>
              </a:xfrm>
              <a:prstGeom prst="line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CDAC2276-FF92-97D6-DB5A-11080E1CD7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8320" y="3072384"/>
                <a:ext cx="864870" cy="0"/>
              </a:xfrm>
              <a:prstGeom prst="line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F71BAF24-D2D7-EC55-1B5E-F1B3EAC600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55664" y="3072384"/>
                <a:ext cx="0" cy="2854071"/>
              </a:xfrm>
              <a:prstGeom prst="line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8656517C-1C68-404B-10D7-CF23CE60FBB2}"/>
                  </a:ext>
                </a:extLst>
              </p:cNvPr>
              <p:cNvCxnSpPr/>
              <p:nvPr/>
            </p:nvCxnSpPr>
            <p:spPr>
              <a:xfrm>
                <a:off x="6449568" y="5908052"/>
                <a:ext cx="1207008" cy="0"/>
              </a:xfrm>
              <a:prstGeom prst="line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DD6A8A20-8626-BDEF-DA87-024627108D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3147" y="5718429"/>
                <a:ext cx="0" cy="208026"/>
              </a:xfrm>
              <a:prstGeom prst="line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16F98940-2DD7-8C8B-DC09-6CBEECAABBE1}"/>
              </a:ext>
            </a:extLst>
          </p:cNvPr>
          <p:cNvGrpSpPr/>
          <p:nvPr/>
        </p:nvGrpSpPr>
        <p:grpSpPr>
          <a:xfrm>
            <a:off x="9157985" y="3139915"/>
            <a:ext cx="1226881" cy="2617132"/>
            <a:chOff x="5608320" y="3072384"/>
            <a:chExt cx="1337955" cy="2854071"/>
          </a:xfrm>
        </p:grpSpPr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F9C6CF7E-5C84-BB93-115B-B1A1A31EA2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6608" y="3072384"/>
              <a:ext cx="0" cy="200359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Gerader Verbinder 49">
              <a:extLst>
                <a:ext uri="{FF2B5EF4-FFF2-40B4-BE49-F238E27FC236}">
                  <a16:creationId xmlns:a16="http://schemas.microsoft.com/office/drawing/2014/main" id="{E3D4923E-FD18-CD49-9DFB-AE22BA8611B3}"/>
                </a:ext>
              </a:extLst>
            </p:cNvPr>
            <p:cNvCxnSpPr>
              <a:cxnSpLocks/>
            </p:cNvCxnSpPr>
            <p:nvPr/>
          </p:nvCxnSpPr>
          <p:spPr>
            <a:xfrm>
              <a:off x="5608320" y="3072384"/>
              <a:ext cx="864870" cy="0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Gerader Verbinder 50">
              <a:extLst>
                <a:ext uri="{FF2B5EF4-FFF2-40B4-BE49-F238E27FC236}">
                  <a16:creationId xmlns:a16="http://schemas.microsoft.com/office/drawing/2014/main" id="{BCC88A37-3D51-761B-DC94-30F8F786065A}"/>
                </a:ext>
              </a:extLst>
            </p:cNvPr>
            <p:cNvCxnSpPr>
              <a:cxnSpLocks/>
            </p:cNvCxnSpPr>
            <p:nvPr/>
          </p:nvCxnSpPr>
          <p:spPr>
            <a:xfrm>
              <a:off x="6455664" y="3072384"/>
              <a:ext cx="0" cy="2854071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9092E8B4-1B08-B6F7-8E14-05584967E6B9}"/>
                </a:ext>
              </a:extLst>
            </p:cNvPr>
            <p:cNvCxnSpPr>
              <a:cxnSpLocks/>
            </p:cNvCxnSpPr>
            <p:nvPr/>
          </p:nvCxnSpPr>
          <p:spPr>
            <a:xfrm>
              <a:off x="6449568" y="5908052"/>
              <a:ext cx="496707" cy="0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6" name="Textfeld 55">
            <a:extLst>
              <a:ext uri="{FF2B5EF4-FFF2-40B4-BE49-F238E27FC236}">
                <a16:creationId xmlns:a16="http://schemas.microsoft.com/office/drawing/2014/main" id="{C37F46DE-50B9-00C8-6816-948CEAEEC5A1}"/>
              </a:ext>
            </a:extLst>
          </p:cNvPr>
          <p:cNvSpPr txBox="1"/>
          <p:nvPr/>
        </p:nvSpPr>
        <p:spPr>
          <a:xfrm>
            <a:off x="3496024" y="4126327"/>
            <a:ext cx="351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bg2"/>
                </a:solidFill>
                <a:latin typeface="Noto Sans Semibold"/>
              </a:rPr>
              <a:t>=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CF8D53D-F6E2-698A-250C-3A6DEF5AD097}"/>
              </a:ext>
            </a:extLst>
          </p:cNvPr>
          <p:cNvSpPr/>
          <p:nvPr/>
        </p:nvSpPr>
        <p:spPr>
          <a:xfrm>
            <a:off x="791923" y="4169001"/>
            <a:ext cx="493469" cy="665628"/>
          </a:xfrm>
          <a:prstGeom prst="rect">
            <a:avLst/>
          </a:prstGeom>
          <a:noFill/>
          <a:ln>
            <a:solidFill>
              <a:srgbClr val="00889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oogle Shape;200;p10">
            <a:extLst>
              <a:ext uri="{FF2B5EF4-FFF2-40B4-BE49-F238E27FC236}">
                <a16:creationId xmlns:a16="http://schemas.microsoft.com/office/drawing/2014/main" id="{8D60E8E5-AD99-EF91-20EB-C19FE0C7D36F}"/>
              </a:ext>
            </a:extLst>
          </p:cNvPr>
          <p:cNvSpPr/>
          <p:nvPr/>
        </p:nvSpPr>
        <p:spPr>
          <a:xfrm rot="13496685" flipH="1">
            <a:off x="581176" y="4992252"/>
            <a:ext cx="1997278" cy="1170342"/>
          </a:xfrm>
          <a:prstGeom prst="arc">
            <a:avLst>
              <a:gd name="adj1" fmla="val 10921800"/>
              <a:gd name="adj2" fmla="val 15169602"/>
            </a:avLst>
          </a:prstGeom>
          <a:noFill/>
          <a:ln w="28575" cap="flat" cmpd="sng">
            <a:solidFill>
              <a:srgbClr val="008891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CA17545-8728-118C-41C7-6108F448A08C}"/>
              </a:ext>
            </a:extLst>
          </p:cNvPr>
          <p:cNvSpPr txBox="1"/>
          <p:nvPr/>
        </p:nvSpPr>
        <p:spPr>
          <a:xfrm rot="21136568">
            <a:off x="870165" y="5823709"/>
            <a:ext cx="434734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rgbClr val="008891"/>
                </a:solidFill>
                <a:latin typeface="Smash" pitchFamily="2" charset="0"/>
              </a:rPr>
              <a:t>!!</a:t>
            </a:r>
          </a:p>
        </p:txBody>
      </p:sp>
      <p:sp>
        <p:nvSpPr>
          <p:cNvPr id="11" name="Google Shape;177;p8">
            <a:extLst>
              <a:ext uri="{FF2B5EF4-FFF2-40B4-BE49-F238E27FC236}">
                <a16:creationId xmlns:a16="http://schemas.microsoft.com/office/drawing/2014/main" id="{6FC4E4B8-9B9E-F4F4-7892-630C2FFA47A7}"/>
              </a:ext>
            </a:extLst>
          </p:cNvPr>
          <p:cNvSpPr txBox="1">
            <a:spLocks/>
          </p:cNvSpPr>
          <p:nvPr/>
        </p:nvSpPr>
        <p:spPr>
          <a:xfrm>
            <a:off x="573830" y="1389620"/>
            <a:ext cx="10307530" cy="155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171450" indent="-171450">
              <a:lnSpc>
                <a:spcPct val="130000"/>
              </a:lnSpc>
              <a:spcBef>
                <a:spcPts val="0"/>
              </a:spcBef>
              <a:buSzPts val="2000"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endParaRPr lang="de-DE" sz="1000" b="1" dirty="0">
              <a:solidFill>
                <a:srgbClr val="003C72"/>
              </a:solidFill>
              <a:effectLst/>
              <a:latin typeface="Noto Sans Semibold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de-DE" sz="1600" b="1" dirty="0">
                <a:solidFill>
                  <a:schemeClr val="bg2"/>
                </a:solidFill>
                <a:latin typeface="Noto Sans Semibold"/>
              </a:rPr>
              <a:t>Hintereinander geschaltet werden ganze Blöcke (Attention + FFN + Add &amp; Norm) mit jeweils eigenen Gewichten – Guppy: 6, GPT-3: 96. Schon eine Attention-Schicht verbindet alle Positionen; mehr Tiefe erlaubt Komposition (z. B. Induction Heads, Elhage et al. 2021).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9C1DC52-4417-0D03-6436-7A433EE83ADF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</p:spTree>
    <p:extLst>
      <p:ext uri="{BB962C8B-B14F-4D97-AF65-F5344CB8AC3E}">
        <p14:creationId xmlns:p14="http://schemas.microsoft.com/office/powerpoint/2010/main" val="18446294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C4883D4E-2269-3481-8FD7-C25C4030B706}"/>
              </a:ext>
            </a:extLst>
          </p:cNvPr>
          <p:cNvSpPr txBox="1"/>
          <p:nvPr/>
        </p:nvSpPr>
        <p:spPr>
          <a:xfrm>
            <a:off x="533213" y="1062039"/>
            <a:ext cx="9451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>
                    <a:lumMod val="50000"/>
                  </a:schemeClr>
                </a:solidFill>
                <a:effectLst/>
                <a:latin typeface="Noto Sans Semibold"/>
              </a:rPr>
              <a:t>4. Transformer-Block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N Blöcke hintereinander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F0045A23-68D0-FE1A-43D5-C59E6B887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824" y="6390806"/>
            <a:ext cx="534844" cy="531845"/>
          </a:xfrm>
        </p:spPr>
        <p:txBody>
          <a:bodyPr/>
          <a:lstStyle/>
          <a:p>
            <a:pPr marL="108002" indent="0">
              <a:buNone/>
            </a:pPr>
            <a:r>
              <a:rPr lang="de-DE" dirty="0"/>
              <a:t> 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B1D53AC-14F0-CAE3-946A-B2D39872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12" y="6342737"/>
            <a:ext cx="768818" cy="579914"/>
          </a:xfrm>
        </p:spPr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9" name="Google Shape;177;p8">
            <a:extLst>
              <a:ext uri="{FF2B5EF4-FFF2-40B4-BE49-F238E27FC236}">
                <a16:creationId xmlns:a16="http://schemas.microsoft.com/office/drawing/2014/main" id="{45E07785-A324-632A-3BF4-3BBAB9E14542}"/>
              </a:ext>
            </a:extLst>
          </p:cNvPr>
          <p:cNvSpPr txBox="1">
            <a:spLocks/>
          </p:cNvSpPr>
          <p:nvPr/>
        </p:nvSpPr>
        <p:spPr>
          <a:xfrm>
            <a:off x="573830" y="1389620"/>
            <a:ext cx="10307530" cy="155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171450" indent="-171450">
              <a:lnSpc>
                <a:spcPct val="130000"/>
              </a:lnSpc>
              <a:spcBef>
                <a:spcPts val="0"/>
              </a:spcBef>
              <a:buSzPts val="200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endParaRPr lang="de-DE" sz="1000" b="1" dirty="0">
              <a:solidFill>
                <a:srgbClr val="003C72"/>
              </a:solidFill>
              <a:effectLst/>
              <a:latin typeface="Noto Sans Semibold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SzPts val="200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600" b="1" dirty="0">
                <a:solidFill>
                  <a:schemeClr val="bg2"/>
                </a:solidFill>
                <a:latin typeface="Noto Sans Semibold"/>
              </a:rPr>
              <a:t>Von Block zu Block wird die Repräsentation jedes Tokens verfeinert: Spätere Blöcke arbeiten mit Vektoren, in die schon Kontext eingemischt ist. Welche „Ebene“ (Satzteil, Satz, Absatz) ein Block erfasst, ist nicht vorgegeben, sondern entsteht im Training.</a:t>
            </a:r>
          </a:p>
        </p:txBody>
      </p:sp>
      <p:sp>
        <p:nvSpPr>
          <p:cNvPr id="16" name="Textplatzhalter 16">
            <a:extLst>
              <a:ext uri="{FF2B5EF4-FFF2-40B4-BE49-F238E27FC236}">
                <a16:creationId xmlns:a16="http://schemas.microsoft.com/office/drawing/2014/main" id="{0CBC959A-C26E-6130-DD5F-9633F3FDC577}"/>
              </a:ext>
            </a:extLst>
          </p:cNvPr>
          <p:cNvSpPr txBox="1">
            <a:spLocks/>
          </p:cNvSpPr>
          <p:nvPr/>
        </p:nvSpPr>
        <p:spPr>
          <a:xfrm>
            <a:off x="226824" y="6390806"/>
            <a:ext cx="534844" cy="53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108002" indent="0">
              <a:buFont typeface="Noto Sans Symbols"/>
              <a:buNone/>
            </a:pPr>
            <a:r>
              <a:rPr lang="de-DE" dirty="0">
                <a:latin typeface="Noto Sans Semibold"/>
              </a:rPr>
              <a:t> </a:t>
            </a:r>
          </a:p>
        </p:txBody>
      </p:sp>
      <p:sp>
        <p:nvSpPr>
          <p:cNvPr id="18" name="Titel 19">
            <a:extLst>
              <a:ext uri="{FF2B5EF4-FFF2-40B4-BE49-F238E27FC236}">
                <a16:creationId xmlns:a16="http://schemas.microsoft.com/office/drawing/2014/main" id="{9816C09E-0DA8-A0AC-D7DE-18F5EB150B45}"/>
              </a:ext>
            </a:extLst>
          </p:cNvPr>
          <p:cNvSpPr txBox="1">
            <a:spLocks/>
          </p:cNvSpPr>
          <p:nvPr/>
        </p:nvSpPr>
        <p:spPr>
          <a:xfrm>
            <a:off x="291012" y="5654671"/>
            <a:ext cx="768818" cy="579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  <a:defRPr sz="3600" b="0" i="0" u="none" strike="noStrike" cap="none">
                <a:solidFill>
                  <a:srgbClr val="FFFFFF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 dirty="0">
                <a:latin typeface="Noto Sans Semibold"/>
              </a:rPr>
              <a:t> </a:t>
            </a:r>
          </a:p>
        </p:txBody>
      </p:sp>
      <p:sp>
        <p:nvSpPr>
          <p:cNvPr id="22" name="Pfeil: nach rechts 21">
            <a:extLst>
              <a:ext uri="{FF2B5EF4-FFF2-40B4-BE49-F238E27FC236}">
                <a16:creationId xmlns:a16="http://schemas.microsoft.com/office/drawing/2014/main" id="{07B41074-FF04-FAA1-7F17-911C9ABD3D86}"/>
              </a:ext>
            </a:extLst>
          </p:cNvPr>
          <p:cNvSpPr/>
          <p:nvPr/>
        </p:nvSpPr>
        <p:spPr>
          <a:xfrm>
            <a:off x="4014522" y="4805579"/>
            <a:ext cx="766018" cy="8749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Pfeil: nach rechts 36">
            <a:extLst>
              <a:ext uri="{FF2B5EF4-FFF2-40B4-BE49-F238E27FC236}">
                <a16:creationId xmlns:a16="http://schemas.microsoft.com/office/drawing/2014/main" id="{C1EC0EDB-F176-E290-4E00-CD385D24CB20}"/>
              </a:ext>
            </a:extLst>
          </p:cNvPr>
          <p:cNvSpPr/>
          <p:nvPr/>
        </p:nvSpPr>
        <p:spPr>
          <a:xfrm>
            <a:off x="7514912" y="4805579"/>
            <a:ext cx="766018" cy="8749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Google Shape;177;p8">
            <a:extLst>
              <a:ext uri="{FF2B5EF4-FFF2-40B4-BE49-F238E27FC236}">
                <a16:creationId xmlns:a16="http://schemas.microsoft.com/office/drawing/2014/main" id="{2CAAC727-DD2F-804F-C560-5BD7D79D1B5E}"/>
              </a:ext>
            </a:extLst>
          </p:cNvPr>
          <p:cNvSpPr txBox="1">
            <a:spLocks/>
          </p:cNvSpPr>
          <p:nvPr/>
        </p:nvSpPr>
        <p:spPr>
          <a:xfrm>
            <a:off x="1076545" y="3619078"/>
            <a:ext cx="3452250" cy="359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b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„Gut Ding  braucht Weile“</a:t>
            </a:r>
            <a:endParaRPr lang="en-US" b="1" dirty="0">
              <a:latin typeface="Noto Sans Semibold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E976B82A-F935-06BA-5F8C-48E4E8DCA4E8}"/>
              </a:ext>
            </a:extLst>
          </p:cNvPr>
          <p:cNvSpPr/>
          <p:nvPr/>
        </p:nvSpPr>
        <p:spPr>
          <a:xfrm>
            <a:off x="1223369" y="3612297"/>
            <a:ext cx="1014600" cy="340257"/>
          </a:xfrm>
          <a:prstGeom prst="rect">
            <a:avLst/>
          </a:prstGeom>
          <a:noFill/>
          <a:ln w="38100">
            <a:solidFill>
              <a:srgbClr val="6001AD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8F1263CB-3B1E-02AA-C1A7-F419F10B9DDE}"/>
              </a:ext>
            </a:extLst>
          </p:cNvPr>
          <p:cNvSpPr/>
          <p:nvPr/>
        </p:nvSpPr>
        <p:spPr>
          <a:xfrm>
            <a:off x="2276991" y="3612297"/>
            <a:ext cx="1543857" cy="340257"/>
          </a:xfrm>
          <a:prstGeom prst="rect">
            <a:avLst/>
          </a:prstGeom>
          <a:noFill/>
          <a:ln w="38100">
            <a:solidFill>
              <a:srgbClr val="FFB36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Google Shape;177;p8">
            <a:extLst>
              <a:ext uri="{FF2B5EF4-FFF2-40B4-BE49-F238E27FC236}">
                <a16:creationId xmlns:a16="http://schemas.microsoft.com/office/drawing/2014/main" id="{0CAE5E60-9AA2-5536-D870-C6017D8F98F7}"/>
              </a:ext>
            </a:extLst>
          </p:cNvPr>
          <p:cNvSpPr txBox="1">
            <a:spLocks/>
          </p:cNvSpPr>
          <p:nvPr/>
        </p:nvSpPr>
        <p:spPr>
          <a:xfrm>
            <a:off x="5111732" y="3583213"/>
            <a:ext cx="3452250" cy="359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b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„Gut Ding  braucht Weile“</a:t>
            </a:r>
            <a:endParaRPr lang="en-US" b="1" dirty="0">
              <a:latin typeface="Noto Sans Semibold"/>
            </a:endParaRP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F9754D4A-C277-8725-6DCF-CB2300B234BB}"/>
              </a:ext>
            </a:extLst>
          </p:cNvPr>
          <p:cNvSpPr/>
          <p:nvPr/>
        </p:nvSpPr>
        <p:spPr>
          <a:xfrm>
            <a:off x="5110821" y="3465405"/>
            <a:ext cx="2895422" cy="575870"/>
          </a:xfrm>
          <a:prstGeom prst="rect">
            <a:avLst/>
          </a:prstGeom>
          <a:noFill/>
          <a:ln w="38100">
            <a:solidFill>
              <a:srgbClr val="56B6A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6BBFB3"/>
              </a:solidFill>
            </a:endParaRPr>
          </a:p>
        </p:txBody>
      </p:sp>
      <p:grpSp>
        <p:nvGrpSpPr>
          <p:cNvPr id="98" name="Gruppieren 97">
            <a:extLst>
              <a:ext uri="{FF2B5EF4-FFF2-40B4-BE49-F238E27FC236}">
                <a16:creationId xmlns:a16="http://schemas.microsoft.com/office/drawing/2014/main" id="{69431942-A11C-A9E6-6F36-EF5FCE71C39E}"/>
              </a:ext>
            </a:extLst>
          </p:cNvPr>
          <p:cNvGrpSpPr/>
          <p:nvPr/>
        </p:nvGrpSpPr>
        <p:grpSpPr>
          <a:xfrm>
            <a:off x="1404137" y="4336722"/>
            <a:ext cx="2377689" cy="2065980"/>
            <a:chOff x="1773227" y="2972836"/>
            <a:chExt cx="3950316" cy="3432439"/>
          </a:xfrm>
        </p:grpSpPr>
        <p:pic>
          <p:nvPicPr>
            <p:cNvPr id="99" name="Grafik 98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5ED2BA7F-73F7-C45B-A1E9-D94355A41728}"/>
                </a:ext>
              </a:extLst>
            </p:cNvPr>
            <p:cNvPicPr>
              <a:picLocks/>
            </p:cNvPicPr>
            <p:nvPr/>
          </p:nvPicPr>
          <p:blipFill rotWithShape="1">
            <a:blip r:embed="rId5"/>
            <a:srcRect l="17465" t="804" r="52968" b="50327"/>
            <a:stretch/>
          </p:blipFill>
          <p:spPr>
            <a:xfrm>
              <a:off x="3203543" y="2972836"/>
              <a:ext cx="2520000" cy="245873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00" name="Grafik 99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931A2483-FAEB-3630-B802-210772256D40}"/>
                </a:ext>
              </a:extLst>
            </p:cNvPr>
            <p:cNvPicPr>
              <a:picLocks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6650"/>
                      </a14:imgEffect>
                      <a14:imgEffect>
                        <a14:saturation sat="140000"/>
                      </a14:imgEffect>
                    </a14:imgLayer>
                  </a14:imgProps>
                </a:ext>
              </a:extLst>
            </a:blip>
            <a:srcRect l="55164" t="13149" r="15269" b="37982"/>
            <a:stretch/>
          </p:blipFill>
          <p:spPr>
            <a:xfrm>
              <a:off x="2917479" y="3167577"/>
              <a:ext cx="2520000" cy="245873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1" name="Grafik 100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916E368F-4338-2AFC-C3E9-DE28A572C31C}"/>
                </a:ext>
              </a:extLst>
            </p:cNvPr>
            <p:cNvPicPr>
              <a:picLocks/>
            </p:cNvPicPr>
            <p:nvPr/>
          </p:nvPicPr>
          <p:blipFill rotWithShape="1">
            <a:blip r:embed="rId5"/>
            <a:srcRect l="35557" t="49851" r="34876" b="1280"/>
            <a:stretch/>
          </p:blipFill>
          <p:spPr>
            <a:xfrm>
              <a:off x="2631416" y="3362318"/>
              <a:ext cx="2520000" cy="245873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2" name="Grafik 101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81DBA2A6-7F93-CB61-A44F-EF11F83EAD33}"/>
                </a:ext>
              </a:extLst>
            </p:cNvPr>
            <p:cNvPicPr>
              <a:picLocks/>
            </p:cNvPicPr>
            <p:nvPr/>
          </p:nvPicPr>
          <p:blipFill rotWithShape="1">
            <a:blip r:embed="rId5"/>
            <a:srcRect l="17465" t="804" r="52968" b="50327"/>
            <a:stretch/>
          </p:blipFill>
          <p:spPr>
            <a:xfrm rot="10800000">
              <a:off x="2345353" y="3557059"/>
              <a:ext cx="2520000" cy="245873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03" name="Grafik 102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B5165DFA-B3D5-92F8-88F7-18921F6316FA}"/>
                </a:ext>
              </a:extLst>
            </p:cNvPr>
            <p:cNvPicPr>
              <a:picLocks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6650"/>
                      </a14:imgEffect>
                      <a14:imgEffect>
                        <a14:saturation sat="140000"/>
                      </a14:imgEffect>
                    </a14:imgLayer>
                  </a14:imgProps>
                </a:ext>
              </a:extLst>
            </a:blip>
            <a:srcRect l="55164" t="13149" r="15269" b="37982"/>
            <a:stretch/>
          </p:blipFill>
          <p:spPr>
            <a:xfrm rot="10800000">
              <a:off x="2059290" y="3751800"/>
              <a:ext cx="2520000" cy="245873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4" name="Grafik 103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00F6C2A2-23FE-5702-1B49-CC20DEFADC4D}"/>
                </a:ext>
              </a:extLst>
            </p:cNvPr>
            <p:cNvPicPr>
              <a:picLocks/>
            </p:cNvPicPr>
            <p:nvPr/>
          </p:nvPicPr>
          <p:blipFill rotWithShape="1">
            <a:blip r:embed="rId5"/>
            <a:srcRect l="35557" t="49851" r="34876" b="1280"/>
            <a:stretch/>
          </p:blipFill>
          <p:spPr>
            <a:xfrm rot="10800000">
              <a:off x="1773227" y="3946539"/>
              <a:ext cx="2520000" cy="245873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05" name="Gruppieren 104">
            <a:extLst>
              <a:ext uri="{FF2B5EF4-FFF2-40B4-BE49-F238E27FC236}">
                <a16:creationId xmlns:a16="http://schemas.microsoft.com/office/drawing/2014/main" id="{4C0872D5-7CE1-7A1F-25B4-C3A8A9BFAF12}"/>
              </a:ext>
            </a:extLst>
          </p:cNvPr>
          <p:cNvGrpSpPr/>
          <p:nvPr/>
        </p:nvGrpSpPr>
        <p:grpSpPr>
          <a:xfrm>
            <a:off x="4891413" y="4324826"/>
            <a:ext cx="2377689" cy="2065980"/>
            <a:chOff x="1773227" y="2972836"/>
            <a:chExt cx="3950316" cy="3432439"/>
          </a:xfrm>
        </p:grpSpPr>
        <p:pic>
          <p:nvPicPr>
            <p:cNvPr id="106" name="Grafik 105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383E5F1B-F20B-7132-9EE3-9491EDA87EC8}"/>
                </a:ext>
              </a:extLst>
            </p:cNvPr>
            <p:cNvPicPr>
              <a:picLocks/>
            </p:cNvPicPr>
            <p:nvPr/>
          </p:nvPicPr>
          <p:blipFill rotWithShape="1"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7465" t="804" r="52968" b="50327"/>
            <a:stretch/>
          </p:blipFill>
          <p:spPr>
            <a:xfrm>
              <a:off x="3203543" y="2972836"/>
              <a:ext cx="2520000" cy="245873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07" name="Grafik 106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B802D7C9-FA41-B424-A024-415181E5490E}"/>
                </a:ext>
              </a:extLst>
            </p:cNvPr>
            <p:cNvPicPr>
              <a:picLocks/>
            </p:cNvPicPr>
            <p:nvPr/>
          </p:nvPicPr>
          <p:blipFill rotWithShape="1">
            <a:blip r:embed="rId6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6650"/>
                      </a14:imgEffect>
                      <a14:imgEffect>
                        <a14:saturation sat="140000"/>
                      </a14:imgEffect>
                    </a14:imgLayer>
                  </a14:imgProps>
                </a:ext>
              </a:extLst>
            </a:blip>
            <a:srcRect l="55164" t="13149" r="15269" b="37982"/>
            <a:stretch/>
          </p:blipFill>
          <p:spPr>
            <a:xfrm>
              <a:off x="2917479" y="3167577"/>
              <a:ext cx="2520000" cy="245873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8" name="Grafik 107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64974671-5E18-DB1C-2A46-DF64A3C0ABCE}"/>
                </a:ext>
              </a:extLst>
            </p:cNvPr>
            <p:cNvPicPr>
              <a:picLocks/>
            </p:cNvPicPr>
            <p:nvPr/>
          </p:nvPicPr>
          <p:blipFill rotWithShape="1"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35557" t="49851" r="34876" b="1280"/>
            <a:stretch/>
          </p:blipFill>
          <p:spPr>
            <a:xfrm>
              <a:off x="2631416" y="3362318"/>
              <a:ext cx="2520000" cy="245873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9" name="Grafik 108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8056856C-F572-0C05-0E3C-C7A5BEB827EC}"/>
                </a:ext>
              </a:extLst>
            </p:cNvPr>
            <p:cNvPicPr>
              <a:picLocks/>
            </p:cNvPicPr>
            <p:nvPr/>
          </p:nvPicPr>
          <p:blipFill rotWithShape="1"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7465" t="804" r="52968" b="50327"/>
            <a:stretch/>
          </p:blipFill>
          <p:spPr>
            <a:xfrm rot="10800000">
              <a:off x="2345353" y="3557059"/>
              <a:ext cx="2520000" cy="245873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10" name="Grafik 109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9A8C94BF-C499-D6C7-91C0-AD23098501B0}"/>
                </a:ext>
              </a:extLst>
            </p:cNvPr>
            <p:cNvPicPr>
              <a:picLocks/>
            </p:cNvPicPr>
            <p:nvPr/>
          </p:nvPicPr>
          <p:blipFill rotWithShape="1">
            <a:blip r:embed="rId6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6650"/>
                      </a14:imgEffect>
                      <a14:imgEffect>
                        <a14:saturation sat="140000"/>
                      </a14:imgEffect>
                    </a14:imgLayer>
                  </a14:imgProps>
                </a:ext>
              </a:extLst>
            </a:blip>
            <a:srcRect l="55164" t="13149" r="15269" b="37982"/>
            <a:stretch/>
          </p:blipFill>
          <p:spPr>
            <a:xfrm rot="10800000">
              <a:off x="2059290" y="3751800"/>
              <a:ext cx="2520000" cy="245873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1" name="Grafik 110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643C3BBD-7BBE-0AB1-1BAC-891976546646}"/>
                </a:ext>
              </a:extLst>
            </p:cNvPr>
            <p:cNvPicPr>
              <a:picLocks/>
            </p:cNvPicPr>
            <p:nvPr/>
          </p:nvPicPr>
          <p:blipFill rotWithShape="1"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35557" t="49851" r="34876" b="1280"/>
            <a:stretch/>
          </p:blipFill>
          <p:spPr>
            <a:xfrm rot="10800000">
              <a:off x="1773227" y="3946539"/>
              <a:ext cx="2520000" cy="245873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61A98B00-F778-A0BF-274C-017BAE4BFB39}"/>
              </a:ext>
            </a:extLst>
          </p:cNvPr>
          <p:cNvGrpSpPr/>
          <p:nvPr/>
        </p:nvGrpSpPr>
        <p:grpSpPr>
          <a:xfrm>
            <a:off x="8378689" y="4336722"/>
            <a:ext cx="2377689" cy="2065980"/>
            <a:chOff x="1773227" y="2972836"/>
            <a:chExt cx="3950316" cy="3432439"/>
          </a:xfrm>
        </p:grpSpPr>
        <p:pic>
          <p:nvPicPr>
            <p:cNvPr id="113" name="Grafik 112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95AB2622-6119-74C0-C590-6ECAFD3E6C96}"/>
                </a:ext>
              </a:extLst>
            </p:cNvPr>
            <p:cNvPicPr>
              <a:picLocks/>
            </p:cNvPicPr>
            <p:nvPr/>
          </p:nvPicPr>
          <p:blipFill rotWithShape="1"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17465" t="804" r="52968" b="50327"/>
            <a:stretch/>
          </p:blipFill>
          <p:spPr>
            <a:xfrm>
              <a:off x="3203543" y="2972836"/>
              <a:ext cx="2520000" cy="245873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14" name="Grafik 113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57079B59-9B53-CB7F-51C4-1D6E0C89DE68}"/>
                </a:ext>
              </a:extLst>
            </p:cNvPr>
            <p:cNvPicPr>
              <a:picLocks/>
            </p:cNvPicPr>
            <p:nvPr/>
          </p:nvPicPr>
          <p:blipFill rotWithShape="1"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6650"/>
                      </a14:imgEffect>
                      <a14:imgEffect>
                        <a14:saturation sat="140000"/>
                      </a14:imgEffect>
                    </a14:imgLayer>
                  </a14:imgProps>
                </a:ext>
              </a:extLst>
            </a:blip>
            <a:srcRect l="55164" t="13149" r="15269" b="37982"/>
            <a:stretch/>
          </p:blipFill>
          <p:spPr>
            <a:xfrm>
              <a:off x="2917479" y="3167577"/>
              <a:ext cx="2520000" cy="245873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5" name="Grafik 114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F1EC0AB0-C0F6-64AC-07A4-86AC1058C777}"/>
                </a:ext>
              </a:extLst>
            </p:cNvPr>
            <p:cNvPicPr>
              <a:picLocks/>
            </p:cNvPicPr>
            <p:nvPr/>
          </p:nvPicPr>
          <p:blipFill rotWithShape="1"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35557" t="49851" r="34876" b="1280"/>
            <a:stretch/>
          </p:blipFill>
          <p:spPr>
            <a:xfrm>
              <a:off x="2631416" y="3362318"/>
              <a:ext cx="2520000" cy="245873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6" name="Grafik 115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D4F788D4-4ED3-1A22-CA75-66A3B6D6F0CE}"/>
                </a:ext>
              </a:extLst>
            </p:cNvPr>
            <p:cNvPicPr>
              <a:picLocks/>
            </p:cNvPicPr>
            <p:nvPr/>
          </p:nvPicPr>
          <p:blipFill rotWithShape="1"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17465" t="804" r="52968" b="50327"/>
            <a:stretch/>
          </p:blipFill>
          <p:spPr>
            <a:xfrm rot="10800000">
              <a:off x="2345353" y="3557059"/>
              <a:ext cx="2520000" cy="245873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17" name="Grafik 116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31C13BE6-A01A-37C3-952C-DE451536F623}"/>
                </a:ext>
              </a:extLst>
            </p:cNvPr>
            <p:cNvPicPr>
              <a:picLocks/>
            </p:cNvPicPr>
            <p:nvPr/>
          </p:nvPicPr>
          <p:blipFill rotWithShape="1"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6650"/>
                      </a14:imgEffect>
                      <a14:imgEffect>
                        <a14:saturation sat="140000"/>
                      </a14:imgEffect>
                    </a14:imgLayer>
                  </a14:imgProps>
                </a:ext>
              </a:extLst>
            </a:blip>
            <a:srcRect l="55164" t="13149" r="15269" b="37982"/>
            <a:stretch/>
          </p:blipFill>
          <p:spPr>
            <a:xfrm rot="10800000">
              <a:off x="2059290" y="3751800"/>
              <a:ext cx="2520000" cy="245873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8" name="Grafik 117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D412B09A-58B3-E820-6816-C6625940FF4C}"/>
                </a:ext>
              </a:extLst>
            </p:cNvPr>
            <p:cNvPicPr>
              <a:picLocks/>
            </p:cNvPicPr>
            <p:nvPr/>
          </p:nvPicPr>
          <p:blipFill rotWithShape="1"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35557" t="49851" r="34876" b="1280"/>
            <a:stretch/>
          </p:blipFill>
          <p:spPr>
            <a:xfrm rot="10800000">
              <a:off x="1773227" y="3946539"/>
              <a:ext cx="2520000" cy="245873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19" name="Rechteck 118">
            <a:extLst>
              <a:ext uri="{FF2B5EF4-FFF2-40B4-BE49-F238E27FC236}">
                <a16:creationId xmlns:a16="http://schemas.microsoft.com/office/drawing/2014/main" id="{672DF79A-F3BB-B489-CD8E-0CFBBAD4D503}"/>
              </a:ext>
            </a:extLst>
          </p:cNvPr>
          <p:cNvSpPr/>
          <p:nvPr/>
        </p:nvSpPr>
        <p:spPr>
          <a:xfrm>
            <a:off x="2237969" y="4403654"/>
            <a:ext cx="3955353" cy="1811712"/>
          </a:xfrm>
          <a:prstGeom prst="rect">
            <a:avLst/>
          </a:prstGeom>
          <a:solidFill>
            <a:srgbClr val="989898">
              <a:alpha val="34118"/>
            </a:srgbClr>
          </a:solidFill>
          <a:ln>
            <a:solidFill>
              <a:schemeClr val="bg2">
                <a:lumMod val="40000"/>
                <a:lumOff val="60000"/>
              </a:schemeClr>
            </a:solidFill>
          </a:ln>
          <a:scene3d>
            <a:camera prst="isometricOffAxis2Right">
              <a:rot lat="1075750" lon="1744464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0" name="Rechteck 119">
            <a:extLst>
              <a:ext uri="{FF2B5EF4-FFF2-40B4-BE49-F238E27FC236}">
                <a16:creationId xmlns:a16="http://schemas.microsoft.com/office/drawing/2014/main" id="{3CD38FA7-0482-010B-558E-92765AF28674}"/>
              </a:ext>
            </a:extLst>
          </p:cNvPr>
          <p:cNvSpPr/>
          <p:nvPr/>
        </p:nvSpPr>
        <p:spPr>
          <a:xfrm>
            <a:off x="5775053" y="4403654"/>
            <a:ext cx="3955353" cy="1811712"/>
          </a:xfrm>
          <a:prstGeom prst="rect">
            <a:avLst/>
          </a:prstGeom>
          <a:solidFill>
            <a:srgbClr val="989898">
              <a:alpha val="34118"/>
            </a:srgbClr>
          </a:solidFill>
          <a:ln>
            <a:solidFill>
              <a:schemeClr val="bg2">
                <a:lumMod val="40000"/>
                <a:lumOff val="60000"/>
              </a:schemeClr>
            </a:solidFill>
          </a:ln>
          <a:scene3d>
            <a:camera prst="isometricOffAxis2Right">
              <a:rot lat="1075750" lon="1744464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6A35C1A5-224E-C74E-2A77-EA6F175A5F3C}"/>
              </a:ext>
            </a:extLst>
          </p:cNvPr>
          <p:cNvGrpSpPr/>
          <p:nvPr/>
        </p:nvGrpSpPr>
        <p:grpSpPr>
          <a:xfrm>
            <a:off x="1308056" y="4917399"/>
            <a:ext cx="2005519" cy="1479912"/>
            <a:chOff x="2521717" y="4834735"/>
            <a:chExt cx="2005519" cy="1562576"/>
          </a:xfrm>
          <a:effectLst>
            <a:glow rad="63500">
              <a:schemeClr val="bg1">
                <a:alpha val="73000"/>
              </a:schemeClr>
            </a:glow>
          </a:effectLst>
        </p:grpSpPr>
        <p:sp>
          <p:nvSpPr>
            <p:cNvPr id="94" name="Google Shape;177;p8">
              <a:extLst>
                <a:ext uri="{FF2B5EF4-FFF2-40B4-BE49-F238E27FC236}">
                  <a16:creationId xmlns:a16="http://schemas.microsoft.com/office/drawing/2014/main" id="{43F69FDB-EC34-FFFA-F425-92E3AFF1055B}"/>
                </a:ext>
              </a:extLst>
            </p:cNvPr>
            <p:cNvSpPr txBox="1">
              <a:spLocks/>
            </p:cNvSpPr>
            <p:nvPr/>
          </p:nvSpPr>
          <p:spPr>
            <a:xfrm>
              <a:off x="2927185" y="4834735"/>
              <a:ext cx="1600051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rgbClr val="202123"/>
                  </a:solidFill>
                  <a:latin typeface="Noto Sans Semibold"/>
                  <a:ea typeface="Arial"/>
                  <a:cs typeface="Arial"/>
                  <a:sym typeface="Arial"/>
                </a:rPr>
                <a:t>Gut </a:t>
              </a:r>
              <a:r>
                <a:rPr lang="de-DE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Kontext</a:t>
              </a:r>
              <a:endParaRPr lang="en-US" sz="1600" b="1" i="1" dirty="0">
                <a:latin typeface="Noto Sans Semibold"/>
              </a:endParaRPr>
            </a:p>
          </p:txBody>
        </p:sp>
        <p:sp>
          <p:nvSpPr>
            <p:cNvPr id="95" name="Google Shape;177;p8">
              <a:extLst>
                <a:ext uri="{FF2B5EF4-FFF2-40B4-BE49-F238E27FC236}">
                  <a16:creationId xmlns:a16="http://schemas.microsoft.com/office/drawing/2014/main" id="{A7562220-648F-CEBF-9FC1-9C1BC9D99D01}"/>
                </a:ext>
              </a:extLst>
            </p:cNvPr>
            <p:cNvSpPr txBox="1">
              <a:spLocks/>
            </p:cNvSpPr>
            <p:nvPr/>
          </p:nvSpPr>
          <p:spPr>
            <a:xfrm>
              <a:off x="2797384" y="5235875"/>
              <a:ext cx="1650940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chemeClr val="tx1"/>
                  </a:solidFill>
                  <a:latin typeface="Noto Sans Semibold"/>
                  <a:ea typeface="Arial"/>
                  <a:cs typeface="Arial"/>
                  <a:sym typeface="Arial"/>
                </a:rPr>
                <a:t>Ding </a:t>
              </a:r>
              <a:r>
                <a:rPr lang="de-DE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Kontext</a:t>
              </a:r>
              <a:endParaRPr lang="en-US" sz="1600" b="1" i="1" dirty="0">
                <a:latin typeface="Noto Sans Semibold"/>
              </a:endParaRPr>
            </a:p>
          </p:txBody>
        </p:sp>
        <p:sp>
          <p:nvSpPr>
            <p:cNvPr id="96" name="Google Shape;177;p8">
              <a:extLst>
                <a:ext uri="{FF2B5EF4-FFF2-40B4-BE49-F238E27FC236}">
                  <a16:creationId xmlns:a16="http://schemas.microsoft.com/office/drawing/2014/main" id="{ECEE6561-D203-64D5-CFEF-1615F4C50C5D}"/>
                </a:ext>
              </a:extLst>
            </p:cNvPr>
            <p:cNvSpPr txBox="1">
              <a:spLocks/>
            </p:cNvSpPr>
            <p:nvPr/>
          </p:nvSpPr>
          <p:spPr>
            <a:xfrm>
              <a:off x="2521717" y="5637015"/>
              <a:ext cx="1705567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chemeClr val="tx1"/>
                  </a:solidFill>
                  <a:latin typeface="Noto Sans Semibold"/>
                  <a:ea typeface="Arial"/>
                  <a:cs typeface="Arial"/>
                  <a:sym typeface="Arial"/>
                </a:rPr>
                <a:t>braucht </a:t>
              </a:r>
              <a:r>
                <a:rPr lang="de-DE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Kontext</a:t>
              </a:r>
              <a:endParaRPr lang="en-US" sz="1600" b="1" i="1" dirty="0">
                <a:latin typeface="Noto Sans Semibold"/>
              </a:endParaRPr>
            </a:p>
          </p:txBody>
        </p:sp>
        <p:sp>
          <p:nvSpPr>
            <p:cNvPr id="97" name="Google Shape;177;p8">
              <a:extLst>
                <a:ext uri="{FF2B5EF4-FFF2-40B4-BE49-F238E27FC236}">
                  <a16:creationId xmlns:a16="http://schemas.microsoft.com/office/drawing/2014/main" id="{68266E8D-96C5-A123-1375-8AE6FDF0D6C8}"/>
                </a:ext>
              </a:extLst>
            </p:cNvPr>
            <p:cNvSpPr txBox="1">
              <a:spLocks/>
            </p:cNvSpPr>
            <p:nvPr/>
          </p:nvSpPr>
          <p:spPr>
            <a:xfrm>
              <a:off x="2750318" y="6038155"/>
              <a:ext cx="1503596" cy="359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i="1" dirty="0">
                  <a:solidFill>
                    <a:schemeClr val="tx1"/>
                  </a:solidFill>
                  <a:latin typeface="Noto Sans Semibold"/>
                  <a:ea typeface="Arial"/>
                  <a:cs typeface="Arial"/>
                  <a:sym typeface="Arial"/>
                </a:rPr>
                <a:t>Weile </a:t>
              </a:r>
              <a:r>
                <a:rPr lang="de-DE" b="1" baseline="-25000" dirty="0">
                  <a:solidFill>
                    <a:srgbClr val="003C72"/>
                  </a:solidFill>
                  <a:latin typeface="Noto Sans Semibold"/>
                  <a:ea typeface="Arial"/>
                  <a:cs typeface="Arial"/>
                  <a:sym typeface="Arial"/>
                </a:rPr>
                <a:t>Kontext</a:t>
              </a:r>
              <a:endParaRPr lang="en-US" sz="1600" b="1" i="1" dirty="0">
                <a:latin typeface="Noto Sans Semibold"/>
              </a:endParaRPr>
            </a:p>
          </p:txBody>
        </p:sp>
      </p:grpSp>
      <p:sp>
        <p:nvSpPr>
          <p:cNvPr id="8" name="Rechteck 7">
            <a:extLst>
              <a:ext uri="{FF2B5EF4-FFF2-40B4-BE49-F238E27FC236}">
                <a16:creationId xmlns:a16="http://schemas.microsoft.com/office/drawing/2014/main" id="{7EE2D592-8A30-7111-551E-7667A7CCD402}"/>
              </a:ext>
            </a:extLst>
          </p:cNvPr>
          <p:cNvSpPr/>
          <p:nvPr/>
        </p:nvSpPr>
        <p:spPr>
          <a:xfrm>
            <a:off x="5271369" y="3582992"/>
            <a:ext cx="1014600" cy="340257"/>
          </a:xfrm>
          <a:prstGeom prst="rect">
            <a:avLst/>
          </a:prstGeom>
          <a:noFill/>
          <a:ln w="38100">
            <a:solidFill>
              <a:srgbClr val="6001AD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DAA0956-3329-A3F6-7415-65A615C8CFE3}"/>
              </a:ext>
            </a:extLst>
          </p:cNvPr>
          <p:cNvSpPr/>
          <p:nvPr/>
        </p:nvSpPr>
        <p:spPr>
          <a:xfrm>
            <a:off x="6324991" y="3582992"/>
            <a:ext cx="1543857" cy="340257"/>
          </a:xfrm>
          <a:prstGeom prst="rect">
            <a:avLst/>
          </a:prstGeom>
          <a:noFill/>
          <a:ln w="38100">
            <a:solidFill>
              <a:srgbClr val="FFB36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10636D0-467E-6A51-1FA5-588D1A0AF4BE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</p:spTree>
    <p:extLst>
      <p:ext uri="{BB962C8B-B14F-4D97-AF65-F5344CB8AC3E}">
        <p14:creationId xmlns:p14="http://schemas.microsoft.com/office/powerpoint/2010/main" val="7466553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id="{DB8CAFF3-5820-1426-FA95-E5964E0BAC73}"/>
              </a:ext>
            </a:extLst>
          </p:cNvPr>
          <p:cNvSpPr/>
          <p:nvPr/>
        </p:nvSpPr>
        <p:spPr>
          <a:xfrm>
            <a:off x="714270" y="4907280"/>
            <a:ext cx="4160520" cy="821367"/>
          </a:xfrm>
          <a:prstGeom prst="rect">
            <a:avLst/>
          </a:prstGeom>
          <a:solidFill>
            <a:srgbClr val="6001AD">
              <a:alpha val="14000"/>
            </a:srgb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6001AD"/>
              </a:solidFill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EAC34CF-67A9-BACE-D44A-91326BCA9EDD}"/>
              </a:ext>
            </a:extLst>
          </p:cNvPr>
          <p:cNvSpPr/>
          <p:nvPr/>
        </p:nvSpPr>
        <p:spPr>
          <a:xfrm>
            <a:off x="714271" y="2788421"/>
            <a:ext cx="4160520" cy="2095999"/>
          </a:xfrm>
          <a:prstGeom prst="rect">
            <a:avLst/>
          </a:prstGeom>
          <a:solidFill>
            <a:srgbClr val="008891">
              <a:alpha val="19000"/>
            </a:srgb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6001AD"/>
              </a:solidFill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743348E-9C73-77D2-F0DC-6BBD8EF7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92" y="1516386"/>
            <a:ext cx="10700680" cy="636511"/>
          </a:xfrm>
        </p:spPr>
        <p:txBody>
          <a:bodyPr>
            <a:noAutofit/>
          </a:bodyPr>
          <a:lstStyle/>
          <a:p>
            <a:r>
              <a:rPr lang="de-DE" sz="120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Bills et al. (2023): Language models can explain neurons in language models (OpenAI)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7859DE2-D490-428A-7914-46E91BBA433C}"/>
              </a:ext>
            </a:extLst>
          </p:cNvPr>
          <p:cNvSpPr txBox="1"/>
          <p:nvPr/>
        </p:nvSpPr>
        <p:spPr>
          <a:xfrm>
            <a:off x="529267" y="1065253"/>
            <a:ext cx="10192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>
                    <a:lumMod val="50000"/>
                  </a:schemeClr>
                </a:solidFill>
                <a:effectLst/>
                <a:latin typeface="Noto Sans Semibold"/>
              </a:rPr>
              <a:t>4. Transformer-Block </a:t>
            </a:r>
            <a:r>
              <a:rPr lang="en-US" sz="1800" b="1" kern="1200" spc="-90" dirty="0">
                <a:solidFill>
                  <a:srgbClr val="018991"/>
                </a:solidFill>
                <a:latin typeface="Noto Sans Semibold"/>
              </a:rPr>
              <a:t>| Das FFN als Wissensspeicher?</a:t>
            </a:r>
            <a:endParaRPr lang="de-DE" sz="1800" b="1" i="0" kern="1200" spc="-90" dirty="0">
              <a:solidFill>
                <a:srgbClr val="018991"/>
              </a:solidFill>
              <a:effectLst/>
              <a:latin typeface="Noto Sans Semibold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355758-32D5-1F90-347B-91E0E43E0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4911" y="2604030"/>
            <a:ext cx="5924006" cy="3924130"/>
          </a:xfrm>
        </p:spPr>
        <p:txBody>
          <a:bodyPr lIns="0" tIns="0" rIns="0" bIns="0" anchor="t" anchorCtr="0">
            <a:noAutofit/>
          </a:bodyPr>
          <a:lstStyle/>
          <a:p>
            <a:pPr marL="285750" indent="-285750">
              <a:lnSpc>
                <a:spcPct val="13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de-DE" sz="1500" b="1" dirty="0">
                <a:solidFill>
                  <a:srgbClr val="374151"/>
                </a:solidFill>
              </a:rPr>
              <a:t>FFN-Schichten enthalten rund 2/3 der Block-Parameter.</a:t>
            </a:r>
            <a:endParaRPr lang="de-DE" sz="1800" b="1" dirty="0">
              <a:solidFill>
                <a:srgbClr val="374151"/>
              </a:solidFill>
            </a:endParaRP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de-DE" sz="1500" b="1" dirty="0">
                <a:solidFill>
                  <a:srgbClr val="374151"/>
                </a:solidFill>
              </a:rPr>
              <a:t>Befund: FFNs wirken wie Schlüssel-Wert-Speicher; untere Schichten erfassen eher Oberflächenmuster, obere eher semantische (Geva et al. 2021).</a:t>
            </a: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de-DE" sz="1500" b="1" dirty="0">
                <a:solidFill>
                  <a:srgbClr val="374151"/>
                </a:solidFill>
              </a:rPr>
              <a:t>Faktenassoziationen lassen sich in mittleren FFN-Schichten lokalisieren und gezielt editieren (Meng et al. 2022).</a:t>
            </a:r>
            <a:endParaRPr lang="de-DE" sz="1800" b="1" dirty="0">
              <a:solidFill>
                <a:srgbClr val="374151"/>
              </a:solidFill>
            </a:endParaRP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de-DE" sz="1500" b="1" dirty="0">
                <a:solidFill>
                  <a:srgbClr val="374151"/>
                </a:solidFill>
              </a:rPr>
              <a:t>Aber: Die Lokalisierung sagt kaum voraus, in welcher Schicht Editieren am besten wirkt (Hase et al. 2023).</a:t>
            </a: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buBlip>
                <a:blip r:embed="rId6"/>
              </a:buBlip>
            </a:pPr>
            <a:endParaRPr lang="de-DE" sz="1800" b="1" dirty="0">
              <a:solidFill>
                <a:srgbClr val="CE1719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0315409-5010-FE9D-E3C6-9924B12F074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 rot="10800000">
            <a:off x="845882" y="2871907"/>
            <a:ext cx="3897300" cy="1851137"/>
          </a:xfrm>
          <a:prstGeom prst="rect">
            <a:avLst/>
          </a:prstGeom>
          <a:effectLst>
            <a:innerShdw blurRad="63500">
              <a:prstClr val="black">
                <a:alpha val="84000"/>
              </a:prstClr>
            </a:innerShdw>
          </a:effectLst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F8973E8F-3530-A336-9658-B18ACDF06C6E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170EA857-247E-9CD4-74FD-E6DDF4AE0686}"/>
              </a:ext>
            </a:extLst>
          </p:cNvPr>
          <p:cNvGrpSpPr/>
          <p:nvPr/>
        </p:nvGrpSpPr>
        <p:grpSpPr>
          <a:xfrm rot="16200000">
            <a:off x="2515441" y="3571462"/>
            <a:ext cx="558180" cy="3469815"/>
            <a:chOff x="2562376" y="2094730"/>
            <a:chExt cx="737941" cy="4587266"/>
          </a:xfrm>
          <a:effectLst/>
        </p:grpSpPr>
        <p:pic>
          <p:nvPicPr>
            <p:cNvPr id="12" name="Grafik 11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CCEB2EF7-8B23-E95D-AA1F-BF060E867F50}"/>
                </a:ext>
              </a:extLst>
            </p:cNvPr>
            <p:cNvPicPr>
              <a:picLocks/>
            </p:cNvPicPr>
            <p:nvPr/>
          </p:nvPicPr>
          <p:blipFill rotWithShape="1">
            <a:blip r:embed="rId9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17465" t="804" r="52968" b="50327"/>
            <a:stretch/>
          </p:blipFill>
          <p:spPr>
            <a:xfrm>
              <a:off x="2562376" y="2094730"/>
              <a:ext cx="72000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  <p:pic>
          <p:nvPicPr>
            <p:cNvPr id="13" name="Grafik 12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B07ABF95-E117-C79F-FF9B-81149FF5B71C}"/>
                </a:ext>
              </a:extLst>
            </p:cNvPr>
            <p:cNvPicPr>
              <a:picLocks/>
            </p:cNvPicPr>
            <p:nvPr/>
          </p:nvPicPr>
          <p:blipFill rotWithShape="1">
            <a:blip r:embed="rId10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colorTemperature colorTemp="6650"/>
                      </a14:imgEffect>
                      <a14:imgEffect>
                        <a14:saturation sat="140000"/>
                      </a14:imgEffect>
                    </a14:imgLayer>
                  </a14:imgProps>
                </a:ext>
              </a:extLst>
            </a:blip>
            <a:srcRect l="55164" t="13149" r="15269" b="37982"/>
            <a:stretch/>
          </p:blipFill>
          <p:spPr>
            <a:xfrm>
              <a:off x="2562376" y="2868183"/>
              <a:ext cx="72000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  <p:pic>
          <p:nvPicPr>
            <p:cNvPr id="14" name="Grafik 13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01A4AA9D-2AED-2B1A-5974-6426A9AF56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35557" t="49851" r="34876" b="1280"/>
            <a:stretch/>
          </p:blipFill>
          <p:spPr>
            <a:xfrm>
              <a:off x="2562376" y="5961996"/>
              <a:ext cx="72000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  <p:pic>
          <p:nvPicPr>
            <p:cNvPr id="15" name="Grafik 14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121A3C6B-8C33-F944-66A5-D39DF6329F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17465" t="804" r="52968" b="50327"/>
            <a:stretch/>
          </p:blipFill>
          <p:spPr>
            <a:xfrm rot="10800000">
              <a:off x="2562377" y="3641636"/>
              <a:ext cx="73794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  <p:pic>
          <p:nvPicPr>
            <p:cNvPr id="16" name="Grafik 15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28175C68-F46A-497B-5E6A-1810EBBFCD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colorTemperature colorTemp="6650"/>
                      </a14:imgEffect>
                      <a14:imgEffect>
                        <a14:saturation sat="140000"/>
                      </a14:imgEffect>
                    </a14:imgLayer>
                  </a14:imgProps>
                </a:ext>
              </a:extLst>
            </a:blip>
            <a:srcRect l="55164" t="13149" r="15269" b="37982"/>
            <a:stretch/>
          </p:blipFill>
          <p:spPr>
            <a:xfrm rot="10800000">
              <a:off x="2562377" y="4415089"/>
              <a:ext cx="73794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  <p:pic>
          <p:nvPicPr>
            <p:cNvPr id="17" name="Grafik 16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9E7C0F0D-D40F-1EBB-4824-BFA75926AD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35557" t="49851" r="34876" b="1280"/>
            <a:stretch/>
          </p:blipFill>
          <p:spPr>
            <a:xfrm rot="10800000">
              <a:off x="2562377" y="5188542"/>
              <a:ext cx="720000" cy="720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</p:pic>
      </p:grp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0A634699-21EA-C423-5178-32ADC05B2E65}"/>
              </a:ext>
            </a:extLst>
          </p:cNvPr>
          <p:cNvSpPr/>
          <p:nvPr/>
        </p:nvSpPr>
        <p:spPr>
          <a:xfrm rot="16200000">
            <a:off x="2640088" y="4339804"/>
            <a:ext cx="308885" cy="974626"/>
          </a:xfrm>
          <a:prstGeom prst="rightArrow">
            <a:avLst>
              <a:gd name="adj1" fmla="val 41482"/>
              <a:gd name="adj2" fmla="val 70301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56106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body" idx="1"/>
          </p:nvPr>
        </p:nvSpPr>
        <p:spPr>
          <a:xfrm>
            <a:off x="430095" y="1059563"/>
            <a:ext cx="9426927" cy="461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2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None/>
            </a:pPr>
            <a:r>
              <a:rPr lang="de-DE" sz="2400" b="1" kern="1200" spc="-90" dirty="0">
                <a:solidFill>
                  <a:schemeClr val="bg2">
                    <a:lumMod val="50000"/>
                  </a:schemeClr>
                </a:solidFill>
                <a:cs typeface="Arial"/>
                <a:sym typeface="Arial"/>
              </a:rPr>
              <a:t>4. Transformer-Block </a:t>
            </a:r>
            <a:r>
              <a:rPr lang="en-US" sz="1800" b="1" kern="1200" spc="-90" dirty="0">
                <a:solidFill>
                  <a:srgbClr val="018991"/>
                </a:solidFill>
              </a:rPr>
              <a:t>| Aufteilung der Parameter (GPT-3)</a:t>
            </a:r>
            <a:endParaRPr sz="1800" b="1" kern="1200" spc="-90" dirty="0">
              <a:solidFill>
                <a:srgbClr val="018991"/>
              </a:solidFill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548803" y="1893891"/>
            <a:ext cx="5098961" cy="316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000" b="1" dirty="0">
                <a:solidFill>
                  <a:srgbClr val="6001AD"/>
                </a:solidFill>
                <a:latin typeface="Noto Sans Semibold"/>
                <a:ea typeface="Corbel"/>
                <a:cs typeface="Corbel"/>
                <a:sym typeface="Corbel"/>
              </a:rPr>
              <a:t>Im GPT-3 175B Modell:</a:t>
            </a:r>
          </a:p>
          <a:p>
            <a:pPr>
              <a:lnSpc>
                <a:spcPct val="150000"/>
              </a:lnSpc>
            </a:pPr>
            <a:endParaRPr lang="de-DE" sz="2000" b="1" dirty="0">
              <a:solidFill>
                <a:srgbClr val="4684B6"/>
              </a:solidFill>
              <a:latin typeface="Noto Sans Semibold"/>
              <a:ea typeface="Corbel"/>
              <a:cs typeface="Corbel"/>
              <a:sym typeface="Corbel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2000" b="1" dirty="0">
                <a:solidFill>
                  <a:srgbClr val="535151"/>
                </a:solidFill>
                <a:latin typeface="Noto Sans Semibold"/>
              </a:rPr>
              <a:t>≈ 2/3 FFN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2000" b="1" dirty="0">
                <a:solidFill>
                  <a:srgbClr val="535151"/>
                </a:solidFill>
                <a:latin typeface="Noto Sans Semibold"/>
              </a:rPr>
              <a:t>≈ 1/3 Attention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2000" b="1" dirty="0">
                <a:solidFill>
                  <a:srgbClr val="535151"/>
                </a:solidFill>
                <a:latin typeface="Noto Sans Semibold"/>
                <a:ea typeface="Corbel"/>
                <a:cs typeface="Corbel"/>
                <a:sym typeface="Corbel"/>
              </a:rPr>
              <a:t>&lt; 1 %: Token- und Positions-Embeddings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endParaRPr lang="de-DE" sz="2000" b="1" dirty="0">
              <a:solidFill>
                <a:srgbClr val="535151"/>
              </a:solidFill>
              <a:latin typeface="Noto Sans Semibold"/>
              <a:ea typeface="Corbel"/>
              <a:cs typeface="Corbel"/>
              <a:sym typeface="Corbel"/>
            </a:endParaRPr>
          </a:p>
          <a:p>
            <a:pPr marL="342900" indent="-342900"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2000" b="1" dirty="0">
                <a:solidFill>
                  <a:srgbClr val="6001AD"/>
                </a:solidFill>
                <a:latin typeface="Noto Sans Semibold"/>
                <a:ea typeface="Corbel"/>
                <a:cs typeface="Corbel"/>
                <a:sym typeface="Corbel"/>
              </a:rPr>
              <a:t>GPT-4: Architektur nicht veröffentlicht (OpenAI 2023)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869CBFB1-FC9B-F9BB-4264-1B13412A6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89" y="1179771"/>
            <a:ext cx="1963437" cy="646290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D50D28D-DFEA-6126-6552-8E2A57DF7D33}"/>
              </a:ext>
            </a:extLst>
          </p:cNvPr>
          <p:cNvSpPr txBox="1"/>
          <p:nvPr/>
        </p:nvSpPr>
        <p:spPr>
          <a:xfrm>
            <a:off x="443542" y="5867659"/>
            <a:ext cx="4657503" cy="802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chemeClr val="accent1"/>
              </a:buClr>
              <a:buSzPts val="2000"/>
              <a:buFont typeface="Noto Sans Symbols"/>
              <a:buNone/>
              <a:defRPr sz="2000" b="1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 sz="160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indent="-3429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r>
              <a:rPr lang="de-DE" sz="1800" b="1" dirty="0">
                <a:solidFill>
                  <a:srgbClr val="6001AD"/>
                </a:solidFill>
                <a:latin typeface="Noto Sans Semibold"/>
                <a:ea typeface="Corbel"/>
                <a:cs typeface="Corbel"/>
                <a:sym typeface="Corbel"/>
              </a:rPr>
              <a:t>[1] </a:t>
            </a:r>
            <a:r>
              <a:rPr lang="de-DE" sz="1800" b="0" u="sng" dirty="0">
                <a:solidFill>
                  <a:schemeClr val="tx1"/>
                </a:solidFill>
                <a:latin typeface="Noto Sans Semibold"/>
              </a:rPr>
              <a:t>https://www.lesswrong.com/posts/</a:t>
            </a:r>
            <a:br>
              <a:rPr lang="de-DE" sz="1800" b="0" u="sng" dirty="0">
                <a:solidFill>
                  <a:schemeClr val="tx1"/>
                </a:solidFill>
                <a:latin typeface="Noto Sans Semibold"/>
              </a:rPr>
            </a:br>
            <a:r>
              <a:rPr lang="de-DE" sz="1800" b="0" u="sng" dirty="0">
                <a:solidFill>
                  <a:schemeClr val="tx1"/>
                </a:solidFill>
                <a:latin typeface="Noto Sans Semibold"/>
              </a:rPr>
              <a:t>3duR8CrvcHywrnhLo/how-does-gpt-3-</a:t>
            </a:r>
            <a:br>
              <a:rPr lang="de-DE" sz="1800" b="0" u="sng" dirty="0">
                <a:solidFill>
                  <a:schemeClr val="tx1"/>
                </a:solidFill>
                <a:latin typeface="Noto Sans Semibold"/>
              </a:rPr>
            </a:br>
            <a:r>
              <a:rPr lang="de-DE" sz="1800" b="0" u="sng" dirty="0">
                <a:solidFill>
                  <a:schemeClr val="tx1"/>
                </a:solidFill>
                <a:latin typeface="Noto Sans Semibold"/>
              </a:rPr>
              <a:t>spend-its-175b-parameters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2CF83574-DDED-E39F-C809-B54F587A042D}"/>
              </a:ext>
            </a:extLst>
          </p:cNvPr>
          <p:cNvGrpSpPr/>
          <p:nvPr/>
        </p:nvGrpSpPr>
        <p:grpSpPr>
          <a:xfrm>
            <a:off x="5394960" y="1958941"/>
            <a:ext cx="5514451" cy="4910870"/>
            <a:chOff x="7246793" y="2396358"/>
            <a:chExt cx="3694476" cy="3539580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1F542DEB-A8CD-D4D2-0A84-57C07DBF5BC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456" t="17974" r="4580" b="4928"/>
            <a:stretch/>
          </p:blipFill>
          <p:spPr bwMode="auto">
            <a:xfrm>
              <a:off x="10126717" y="2396358"/>
              <a:ext cx="814552" cy="35395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22805EF5-1B0A-B131-6898-15803E647A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04" t="17974" r="58131" b="4928"/>
            <a:stretch/>
          </p:blipFill>
          <p:spPr bwMode="auto">
            <a:xfrm>
              <a:off x="7246793" y="2396358"/>
              <a:ext cx="2879924" cy="35395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2">
            <a:extLst>
              <a:ext uri="{FF2B5EF4-FFF2-40B4-BE49-F238E27FC236}">
                <a16:creationId xmlns:a16="http://schemas.microsoft.com/office/drawing/2014/main" id="{80C93067-1D87-FBBB-C16C-F49AE9BA03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89" t="11954" r="17542" b="81052"/>
          <a:stretch/>
        </p:blipFill>
        <p:spPr bwMode="auto">
          <a:xfrm>
            <a:off x="5206700" y="1589017"/>
            <a:ext cx="6031767" cy="406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216B503E-C632-F5CF-39CE-1D48EB54E198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</p:spTree>
    <p:extLst>
      <p:ext uri="{BB962C8B-B14F-4D97-AF65-F5344CB8AC3E}">
        <p14:creationId xmlns:p14="http://schemas.microsoft.com/office/powerpoint/2010/main" val="22995207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5. Ausgabe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Vom letzten Vektor zur Wahrscheinlichkeit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Formel 5"/>
              <p:cNvSpPr txBox="1"/>
              <p:nvPr/>
            </p:nvSpPr>
            <p:spPr>
              <a:xfrm>
                <a:off x="1648116" y="1800000"/>
                <a:ext cx="2895768" cy="39014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de-DE" sz="20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sz="20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de-DE" sz="20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de-DE" sz="20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Sup>
                        <m:sSubSupPr>
                          <m:ctrlP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de-DE" sz="2000"/>
              </a:p>
            </p:txBody>
          </p:sp>
        </mc:Choice>
        <mc:Fallback xmlns="" xmlns:m="http://schemas.openxmlformats.org/officeDocument/2006/math">
          <p:sp>
            <p:nvSpPr>
              <p:cNvPr id="5" name="Formel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116" y="1800000"/>
                <a:ext cx="2715768" cy="3901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Formel 6"/>
              <p:cNvSpPr txBox="1"/>
              <p:nvPr/>
            </p:nvSpPr>
            <p:spPr>
              <a:xfrm>
                <a:off x="1414944" y="2628000"/>
                <a:ext cx="3362112" cy="55473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18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sz="18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sz="18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DE" sz="18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de-DE" sz="18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18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de-DE" sz="18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8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sz="18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18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18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b>
                                  <m:r>
                                    <a:rPr lang="de-DE" sz="18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e-DE" sz="18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de-DE" sz="18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de-DE" sz="18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18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de-DE" sz="18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de-DE" sz="18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e>
                          </m:nary>
                          <m:d>
                            <m:dPr>
                              <m:ctrlPr>
                                <a:rPr lang="de-DE" sz="18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18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18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b>
                                  <m:r>
                                    <a:rPr lang="de-DE" sz="18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e-DE" sz="18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de-DE" sz="18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18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de-DE" sz="1800" i="0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de-DE" sz="1800"/>
              </a:p>
            </p:txBody>
          </p:sp>
        </mc:Choice>
        <mc:Fallback xmlns="" xmlns:m="http://schemas.openxmlformats.org/officeDocument/2006/math">
          <p:sp>
            <p:nvSpPr>
              <p:cNvPr id="6" name="Formel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944" y="2628000"/>
                <a:ext cx="3182112" cy="5547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263999" y="1800000"/>
            <a:ext cx="4896000" cy="172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05000"/>
              </a:lnSpc>
              <a:buBlip>
                <a:blip r:embed="rId5"/>
              </a:buBlip>
            </a:pPr>
            <a:r>
              <a:rPr sz="1400" b="0">
                <a:solidFill>
                  <a:srgbClr val="374151"/>
                </a:solidFill>
              </a:rPr>
              <a:t>ℓ</a:t>
            </a:r>
            <a:r>
              <a:rPr sz="1400" b="0" baseline="-25000">
                <a:solidFill>
                  <a:srgbClr val="374151"/>
                </a:solidFill>
              </a:rPr>
              <a:t>t</a:t>
            </a:r>
            <a:r>
              <a:rPr sz="1400" b="0">
                <a:solidFill>
                  <a:srgbClr val="374151"/>
                </a:solidFill>
              </a:rPr>
              <a:t>: Logits – eine Punktzahl je Token im Vokabular</a:t>
            </a:r>
          </a:p>
          <a:p>
            <a:pPr marL="285750" indent="-285750">
              <a:lnSpc>
                <a:spcPct val="105000"/>
              </a:lnSpc>
              <a:buBlip>
                <a:blip r:embed="rId5"/>
              </a:buBlip>
            </a:pPr>
            <a:r>
              <a:rPr sz="1400" b="0">
                <a:solidFill>
                  <a:srgbClr val="374151"/>
                </a:solidFill>
              </a:rPr>
              <a:t>h</a:t>
            </a:r>
            <a:r>
              <a:rPr sz="1400" b="0" baseline="-25000">
                <a:solidFill>
                  <a:srgbClr val="374151"/>
                </a:solidFill>
              </a:rPr>
              <a:t>t</a:t>
            </a:r>
            <a:r>
              <a:rPr sz="1400" b="0" baseline="30000">
                <a:solidFill>
                  <a:srgbClr val="374151"/>
                </a:solidFill>
              </a:rPr>
              <a:t>(N)</a:t>
            </a:r>
            <a:r>
              <a:rPr sz="1400" b="0">
                <a:solidFill>
                  <a:srgbClr val="374151"/>
                </a:solidFill>
              </a:rPr>
              <a:t>: Residualstrom an Position t nach dem letzten Block</a:t>
            </a:r>
          </a:p>
          <a:p>
            <a:pPr marL="285750" indent="-285750">
              <a:lnSpc>
                <a:spcPct val="105000"/>
              </a:lnSpc>
              <a:buBlip>
                <a:blip r:embed="rId5"/>
              </a:buBlip>
            </a:pPr>
            <a:r>
              <a:rPr sz="1400" b="0">
                <a:solidFill>
                  <a:srgbClr val="374151"/>
                </a:solidFill>
              </a:rPr>
              <a:t>Softmax: Logits → Wahrscheinlichkeiten (Summe 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2000" y="3708000"/>
            <a:ext cx="10584000" cy="720000"/>
          </a:xfrm>
          <a:prstGeom prst="roundRect">
            <a:avLst/>
          </a:prstGeom>
          <a:solidFill>
            <a:srgbClr val="CE1619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500" b="1" dirty="0">
                <a:solidFill>
                  <a:srgbClr val="374151"/>
                </a:solidFill>
              </a:rPr>
              <a:t>Das FFN </a:t>
            </a:r>
            <a:r>
              <a:rPr sz="1500" b="1" dirty="0" err="1">
                <a:solidFill>
                  <a:srgbClr val="374151"/>
                </a:solidFill>
              </a:rPr>
              <a:t>schreibt</a:t>
            </a:r>
            <a:r>
              <a:rPr sz="1500" b="1" dirty="0">
                <a:solidFill>
                  <a:srgbClr val="374151"/>
                </a:solidFill>
              </a:rPr>
              <a:t> – </a:t>
            </a:r>
            <a:r>
              <a:rPr sz="1500" b="1" dirty="0" err="1">
                <a:solidFill>
                  <a:srgbClr val="374151"/>
                </a:solidFill>
              </a:rPr>
              <a:t>wie</a:t>
            </a:r>
            <a:r>
              <a:rPr sz="1500" b="1" dirty="0">
                <a:solidFill>
                  <a:srgbClr val="374151"/>
                </a:solidFill>
              </a:rPr>
              <a:t> die Attention – </a:t>
            </a:r>
            <a:r>
              <a:rPr sz="1500" b="1" dirty="0" err="1">
                <a:solidFill>
                  <a:srgbClr val="374151"/>
                </a:solidFill>
              </a:rPr>
              <a:t>einen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d</a:t>
            </a:r>
            <a:r>
              <a:rPr sz="1500" b="1" baseline="-25000" dirty="0" err="1">
                <a:solidFill>
                  <a:srgbClr val="374151"/>
                </a:solidFill>
              </a:rPr>
              <a:t>model</a:t>
            </a:r>
            <a:r>
              <a:rPr sz="1500" b="1" dirty="0">
                <a:solidFill>
                  <a:srgbClr val="374151"/>
                </a:solidFill>
              </a:rPr>
              <a:t>-Vektor in den </a:t>
            </a:r>
            <a:r>
              <a:rPr sz="1500" b="1" dirty="0" err="1">
                <a:solidFill>
                  <a:srgbClr val="374151"/>
                </a:solidFill>
              </a:rPr>
              <a:t>Residualstrom</a:t>
            </a:r>
            <a:r>
              <a:rPr sz="1500" b="1" dirty="0">
                <a:solidFill>
                  <a:srgbClr val="374151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000" y="4608000"/>
            <a:ext cx="10584000" cy="19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5"/>
              </a:buBlip>
            </a:pPr>
            <a:r>
              <a:rPr sz="1500" b="1">
                <a:solidFill>
                  <a:srgbClr val="374151"/>
                </a:solidFill>
              </a:rPr>
              <a:t>Erst nach dem letzten Block: finale LayerNorm → LM-Head (lineare Abbildung d_model → V) → Softmax.</a:t>
            </a:r>
          </a:p>
          <a:p>
            <a:pPr marL="285750" indent="-285750">
              <a:lnSpc>
                <a:spcPct val="110000"/>
              </a:lnSpc>
              <a:buBlip>
                <a:blip r:embed="rId5"/>
              </a:buBlip>
            </a:pPr>
            <a:r>
              <a:rPr sz="1500" b="1">
                <a:solidFill>
                  <a:srgbClr val="374151"/>
                </a:solidFill>
              </a:rPr>
              <a:t>Weight Tying: LM-Head = W</a:t>
            </a:r>
            <a:r>
              <a:rPr sz="1500" b="1" baseline="-25000">
                <a:solidFill>
                  <a:srgbClr val="374151"/>
                </a:solidFill>
              </a:rPr>
              <a:t>E</a:t>
            </a:r>
            <a:r>
              <a:rPr sz="1500" b="1">
                <a:solidFill>
                  <a:srgbClr val="374151"/>
                </a:solidFill>
              </a:rPr>
              <a:t>ᵀ. Ein Logit ist also das Skalarprodukt aus Ausgangsvektor und Token-Embedding (Vaswani et al. 2017; Press &amp; Wolf 2017). Guppy spart so 997 248 Parameter (8 %).</a:t>
            </a:r>
          </a:p>
          <a:p>
            <a:pPr marL="285750" indent="-285750">
              <a:lnSpc>
                <a:spcPct val="110000"/>
              </a:lnSpc>
              <a:buBlip>
                <a:blip r:embed="rId5"/>
              </a:buBlip>
            </a:pPr>
            <a:r>
              <a:rPr sz="1500" b="1">
                <a:solidFill>
                  <a:srgbClr val="374151"/>
                </a:solidFill>
              </a:rPr>
              <a:t>An jeder Position entsteht eine Verteilung – im Training werden alle genutzt, bei der Inferenz nur die letzte.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" y="6750000"/>
            <a:ext cx="10620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Vaswani et al. (2017), Abschn. 3.4: „we share the same weight matrix between the two embedding layers and the pre-softmax linear transformation“  ·  Press &amp; Wolf (2017), EACL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743348E-9C73-77D2-F0DC-6BBD8EF7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656" y="6724906"/>
            <a:ext cx="10901287" cy="342795"/>
          </a:xfr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US" sz="1100" dirty="0">
                <a:solidFill>
                  <a:schemeClr val="dk1"/>
                </a:solidFill>
                <a:sym typeface="Arial"/>
              </a:rPr>
              <a:t>Radford et al. (2018): Improving Language Understanding by Generative Pre-Training.  ·  Gemini Team (2023): Gemini – „build on top of Transformer decoders“.</a:t>
            </a:r>
            <a:endParaRPr lang="de-DE" sz="180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7859DE2-D490-428A-7914-46E91BBA433C}"/>
              </a:ext>
            </a:extLst>
          </p:cNvPr>
          <p:cNvSpPr txBox="1"/>
          <p:nvPr/>
        </p:nvSpPr>
        <p:spPr>
          <a:xfrm>
            <a:off x="529267" y="1065253"/>
            <a:ext cx="10590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>
                    <a:lumMod val="50000"/>
                  </a:schemeClr>
                </a:solidFill>
                <a:effectLst/>
                <a:latin typeface="Noto Sans Semibold"/>
              </a:rPr>
              <a:t>5. Decoder-only </a:t>
            </a:r>
            <a:r>
              <a:rPr lang="en-US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GPT, Gemini &amp; Co.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355758-32D5-1F90-347B-91E0E43E0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33167" y="1808492"/>
            <a:ext cx="5106399" cy="4634840"/>
          </a:xfrm>
        </p:spPr>
        <p:txBody>
          <a:bodyPr lIns="0" tIns="0" rIns="0" bIns="0" anchor="t" anchorCtr="0">
            <a:noAutofit/>
          </a:bodyPr>
          <a:lstStyle/>
          <a:p>
            <a:pPr marL="285750" indent="-285750">
              <a:lnSpc>
                <a:spcPct val="13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600" b="1" dirty="0" err="1">
                <a:solidFill>
                  <a:srgbClr val="374151"/>
                </a:solidFill>
              </a:rPr>
              <a:t>GPT-Modelle (seit 2018) und Gemini nutzen nur einen Decoder-Stapel: ohne Encoder, ohne Cross-Attention.</a:t>
            </a:r>
            <a:endParaRPr lang="de-DE" sz="1800" b="1" dirty="0">
              <a:solidFill>
                <a:srgbClr val="374151"/>
              </a:solidFill>
            </a:endParaRP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600" b="1" dirty="0">
                <a:solidFill>
                  <a:srgbClr val="374151"/>
                </a:solidFill>
              </a:rPr>
              <a:t>Prompt und Antwort laufen durch denselben Stapel – mit kausaler Maske.</a:t>
            </a:r>
            <a:endParaRPr lang="de-DE" sz="1800" b="1" dirty="0">
              <a:solidFill>
                <a:srgbClr val="374151"/>
              </a:solidFill>
            </a:endParaRP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600" b="1" dirty="0">
                <a:solidFill>
                  <a:srgbClr val="008891"/>
                </a:solidFill>
              </a:rPr>
              <a:t>Ein Trainingsziel: das nächste Token (Kap. 6).</a:t>
            </a:r>
            <a:endParaRPr lang="de-DE" sz="1800" b="1" dirty="0">
              <a:solidFill>
                <a:srgbClr val="374151"/>
              </a:solidFill>
            </a:endParaRP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600" b="1" dirty="0">
                <a:solidFill>
                  <a:srgbClr val="374151"/>
                </a:solidFill>
              </a:rPr>
              <a:t>Abb.: GPT-1 (2018) mit LayerNorm noch nach dem Teilmodul (Post-LN); ab GPT-2 davor (Pre-LN).</a:t>
            </a: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buBlip>
                <a:blip r:embed="rId5"/>
              </a:buBlip>
            </a:pPr>
            <a:endParaRPr lang="de-DE" sz="1800" b="1" dirty="0">
              <a:solidFill>
                <a:srgbClr val="CE1719"/>
              </a:solidFill>
            </a:endParaRPr>
          </a:p>
        </p:txBody>
      </p:sp>
      <p:pic>
        <p:nvPicPr>
          <p:cNvPr id="7" name="Grafik 6" descr="Ein Bild, das Text, Screenshot, Schrift, Zahl enthält.&#10;&#10;Automatisch generierte Beschreibung">
            <a:extLst>
              <a:ext uri="{FF2B5EF4-FFF2-40B4-BE49-F238E27FC236}">
                <a16:creationId xmlns:a16="http://schemas.microsoft.com/office/drawing/2014/main" id="{21015DE7-F435-1AA5-7A22-0BD4B5A6480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8814"/>
          <a:stretch/>
        </p:blipFill>
        <p:spPr>
          <a:xfrm>
            <a:off x="2966952" y="1766618"/>
            <a:ext cx="2472721" cy="4718588"/>
          </a:xfrm>
          <a:prstGeom prst="rect">
            <a:avLst/>
          </a:prstGeom>
        </p:spPr>
      </p:pic>
      <p:pic>
        <p:nvPicPr>
          <p:cNvPr id="10" name="Google Shape;138;p5" descr="Diagram of a Transformer">
            <a:extLst>
              <a:ext uri="{FF2B5EF4-FFF2-40B4-BE49-F238E27FC236}">
                <a16:creationId xmlns:a16="http://schemas.microsoft.com/office/drawing/2014/main" id="{34BA0978-AF33-3D75-6DA5-8E953152C6C6}"/>
              </a:ext>
            </a:extLst>
          </p:cNvPr>
          <p:cNvPicPr preferRelativeResize="0"/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9046" t="2967" r="15524" b="7084"/>
          <a:stretch/>
        </p:blipFill>
        <p:spPr>
          <a:xfrm>
            <a:off x="298039" y="1766618"/>
            <a:ext cx="2175420" cy="3587260"/>
          </a:xfrm>
          <a:prstGeom prst="rect">
            <a:avLst/>
          </a:prstGeom>
          <a:noFill/>
          <a:ln w="76200" cap="sq" cmpd="sng">
            <a:noFill/>
            <a:prstDash val="solid"/>
            <a:miter lim="800000"/>
            <a:headEnd type="none" w="sm" len="sm"/>
            <a:tailEnd type="none" w="sm" len="sm"/>
          </a:ln>
          <a:effectLst>
            <a:glow rad="63500">
              <a:schemeClr val="bg1">
                <a:alpha val="79000"/>
              </a:schemeClr>
            </a:glow>
            <a:softEdge rad="0"/>
          </a:effectLst>
        </p:spPr>
      </p:pic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EB8F59B6-D7CA-17FA-AD17-359E46F6D970}"/>
              </a:ext>
            </a:extLst>
          </p:cNvPr>
          <p:cNvSpPr/>
          <p:nvPr/>
        </p:nvSpPr>
        <p:spPr>
          <a:xfrm>
            <a:off x="2752416" y="3076436"/>
            <a:ext cx="553016" cy="523220"/>
          </a:xfrm>
          <a:prstGeom prst="rightArrow">
            <a:avLst>
              <a:gd name="adj1" fmla="val 41482"/>
              <a:gd name="adj2" fmla="val 46135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5DEB7E3-6509-847A-E0F1-BE850CA35228}"/>
              </a:ext>
            </a:extLst>
          </p:cNvPr>
          <p:cNvSpPr/>
          <p:nvPr/>
        </p:nvSpPr>
        <p:spPr>
          <a:xfrm>
            <a:off x="218657" y="2805024"/>
            <a:ext cx="1354915" cy="2498495"/>
          </a:xfrm>
          <a:prstGeom prst="rect">
            <a:avLst/>
          </a:prstGeom>
          <a:solidFill>
            <a:srgbClr val="FFFFFF">
              <a:alpha val="72941"/>
            </a:srgb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60BB122-BE04-9E57-98C2-C6F433562F84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</p:spTree>
    <p:extLst>
      <p:ext uri="{BB962C8B-B14F-4D97-AF65-F5344CB8AC3E}">
        <p14:creationId xmlns:p14="http://schemas.microsoft.com/office/powerpoint/2010/main" val="24086103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8DA59052-EE51-23BA-633F-649FDA9313D4}"/>
              </a:ext>
            </a:extLst>
          </p:cNvPr>
          <p:cNvSpPr/>
          <p:nvPr/>
        </p:nvSpPr>
        <p:spPr>
          <a:xfrm>
            <a:off x="0" y="6157492"/>
            <a:ext cx="11520488" cy="1021431"/>
          </a:xfrm>
          <a:prstGeom prst="rect">
            <a:avLst/>
          </a:prstGeom>
          <a:solidFill>
            <a:schemeClr val="bg2">
              <a:lumMod val="60000"/>
              <a:lumOff val="40000"/>
              <a:alpha val="1411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026365" y="1161555"/>
            <a:ext cx="9720486" cy="62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de-DE" sz="2000" b="1" dirty="0">
                <a:solidFill>
                  <a:srgbClr val="008891"/>
                </a:solidFill>
              </a:rPr>
              <a:t>6. Training: Was wird eigentlich gelernt?</a:t>
            </a:r>
          </a:p>
        </p:txBody>
      </p:sp>
      <p:sp>
        <p:nvSpPr>
          <p:cNvPr id="13" name="Google Shape;91;p1">
            <a:extLst>
              <a:ext uri="{FF2B5EF4-FFF2-40B4-BE49-F238E27FC236}">
                <a16:creationId xmlns:a16="http://schemas.microsoft.com/office/drawing/2014/main" id="{BC20A30C-178B-3E78-6DB6-8958E12D247C}"/>
              </a:ext>
            </a:extLst>
          </p:cNvPr>
          <p:cNvSpPr txBox="1">
            <a:spLocks/>
          </p:cNvSpPr>
          <p:nvPr/>
        </p:nvSpPr>
        <p:spPr>
          <a:xfrm>
            <a:off x="1026069" y="1786992"/>
            <a:ext cx="10039327" cy="565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079" b="0" i="0" u="none" strike="noStrike" cap="none">
                <a:solidFill>
                  <a:srgbClr val="D7F0F6"/>
                </a:solidFill>
                <a:latin typeface="Noto Sans Semibold"/>
                <a:ea typeface="Frutiger LT 45 Light" panose="020B0500000000000000" pitchFamily="34" charset="0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0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0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8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8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8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8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8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rgbClr val="000000"/>
              </a:buClr>
              <a:buSzPts val="2000"/>
              <a:buFont typeface="Arial"/>
              <a:buNone/>
              <a:defRPr sz="18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Arial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de-DE" sz="2000" b="1" dirty="0">
                <a:solidFill>
                  <a:srgbClr val="535151"/>
                </a:solidFill>
                <a:latin typeface="Aptos Display" panose="020B0004020202020204" pitchFamily="34" charset="0"/>
              </a:rPr>
              <a:t>Parameter = alle Zahlen in allen Gewichtsmatrizen – das Training passt jede einzelne an.</a:t>
            </a:r>
            <a:endParaRPr lang="de-DE" sz="2000" b="1" i="1" dirty="0">
              <a:solidFill>
                <a:srgbClr val="535151"/>
              </a:solidFill>
              <a:latin typeface="Aptos Display" panose="020B0004020202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Arial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de-DE" sz="2000" b="1" i="1" dirty="0">
              <a:solidFill>
                <a:srgbClr val="535151"/>
              </a:solidFill>
              <a:latin typeface="Aptos Display" panose="020B0004020202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Arial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de-DE" sz="2000" b="1" i="1" dirty="0">
              <a:solidFill>
                <a:srgbClr val="535151"/>
              </a:solidFill>
              <a:latin typeface="Aptos Display" panose="020B0004020202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554F014-03FE-4EDA-FE75-C658E510B9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13000"/>
          </a:blip>
          <a:srcRect l="-328" r="-509"/>
          <a:stretch/>
        </p:blipFill>
        <p:spPr>
          <a:xfrm>
            <a:off x="4749713" y="2617476"/>
            <a:ext cx="4518045" cy="2692346"/>
          </a:xfrm>
          <a:prstGeom prst="rect">
            <a:avLst/>
          </a:prstGeom>
        </p:spPr>
      </p:pic>
      <p:pic>
        <p:nvPicPr>
          <p:cNvPr id="10" name="Grafik 9" descr="Ein Bild, das Text, Screenshot, Schrift, Design enthält.&#10;&#10;Automatisch generierte Beschreibung">
            <a:extLst>
              <a:ext uri="{FF2B5EF4-FFF2-40B4-BE49-F238E27FC236}">
                <a16:creationId xmlns:a16="http://schemas.microsoft.com/office/drawing/2014/main" id="{D9C23491-9813-29DB-5FBC-235FA62409D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20000"/>
          </a:blip>
          <a:srcRect t="1601" r="76059" b="52345"/>
          <a:stretch/>
        </p:blipFill>
        <p:spPr>
          <a:xfrm>
            <a:off x="2315429" y="2920811"/>
            <a:ext cx="1953873" cy="1916342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C144B159-C600-713F-9036-262C01311EC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rcRect l="487" r="487"/>
          <a:stretch/>
        </p:blipFill>
        <p:spPr>
          <a:xfrm rot="5400000">
            <a:off x="407352" y="3036862"/>
            <a:ext cx="2099055" cy="2220103"/>
          </a:xfrm>
          <a:prstGeom prst="rect">
            <a:avLst/>
          </a:prstGeom>
        </p:spPr>
      </p:pic>
      <p:pic>
        <p:nvPicPr>
          <p:cNvPr id="15" name="Grafik 14" descr="Ein Bild, das Text, Screenshot, Schrift, Design enthält.&#10;&#10;Automatisch generierte Beschreibung">
            <a:extLst>
              <a:ext uri="{FF2B5EF4-FFF2-40B4-BE49-F238E27FC236}">
                <a16:creationId xmlns:a16="http://schemas.microsoft.com/office/drawing/2014/main" id="{5563B352-953A-BCBA-B0BD-51F96FD127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20000"/>
          </a:blip>
          <a:srcRect l="76940" t="2141" r="-2855" b="49976"/>
          <a:stretch/>
        </p:blipFill>
        <p:spPr>
          <a:xfrm>
            <a:off x="9395565" y="2971461"/>
            <a:ext cx="1990976" cy="1875636"/>
          </a:xfrm>
          <a:prstGeom prst="rect">
            <a:avLst/>
          </a:prstGeom>
        </p:spPr>
      </p:pic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6BBA7C26-EB17-ACE4-713C-2E49E8E543F2}"/>
              </a:ext>
            </a:extLst>
          </p:cNvPr>
          <p:cNvCxnSpPr>
            <a:cxnSpLocks/>
          </p:cNvCxnSpPr>
          <p:nvPr/>
        </p:nvCxnSpPr>
        <p:spPr>
          <a:xfrm>
            <a:off x="4150132" y="4114757"/>
            <a:ext cx="40925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 descr="Ein Bild, das Kunst, Kreis, Farbigkeit, Symmetrie enthält.&#10;&#10;Automatisch generierte Beschreibung">
            <a:extLst>
              <a:ext uri="{FF2B5EF4-FFF2-40B4-BE49-F238E27FC236}">
                <a16:creationId xmlns:a16="http://schemas.microsoft.com/office/drawing/2014/main" id="{71080019-F6D2-E474-4F9C-84504F37F0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665" y="2703318"/>
            <a:ext cx="4322424" cy="2556000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71BE9A34-4B4B-5FC3-20EB-BF0F1F89E0CA}"/>
              </a:ext>
            </a:extLst>
          </p:cNvPr>
          <p:cNvCxnSpPr>
            <a:cxnSpLocks/>
          </p:cNvCxnSpPr>
          <p:nvPr/>
        </p:nvCxnSpPr>
        <p:spPr>
          <a:xfrm>
            <a:off x="0" y="6157492"/>
            <a:ext cx="11520488" cy="0"/>
          </a:xfrm>
          <a:prstGeom prst="line">
            <a:avLst/>
          </a:prstGeom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200;p10">
            <a:extLst>
              <a:ext uri="{FF2B5EF4-FFF2-40B4-BE49-F238E27FC236}">
                <a16:creationId xmlns:a16="http://schemas.microsoft.com/office/drawing/2014/main" id="{BAA2A7F9-6D66-8B79-3FE7-2A9272AC0D79}"/>
              </a:ext>
            </a:extLst>
          </p:cNvPr>
          <p:cNvSpPr/>
          <p:nvPr/>
        </p:nvSpPr>
        <p:spPr>
          <a:xfrm flipH="1" flipV="1">
            <a:off x="4413291" y="4546616"/>
            <a:ext cx="898082" cy="687767"/>
          </a:xfrm>
          <a:prstGeom prst="arc">
            <a:avLst>
              <a:gd name="adj1" fmla="val 10799015"/>
              <a:gd name="adj2" fmla="val 16354502"/>
            </a:avLst>
          </a:prstGeom>
          <a:noFill/>
          <a:ln w="28575" cap="flat" cmpd="sng">
            <a:solidFill>
              <a:srgbClr val="CE1619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Aptos Display" panose="020B0004020202020204" pitchFamily="34" charset="0"/>
              <a:ea typeface="Corbel"/>
              <a:cs typeface="Corbel"/>
              <a:sym typeface="Corbel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7F92A98-D2F9-9AC8-0970-42292CFA3C8B}"/>
              </a:ext>
            </a:extLst>
          </p:cNvPr>
          <p:cNvSpPr txBox="1"/>
          <p:nvPr/>
        </p:nvSpPr>
        <p:spPr>
          <a:xfrm rot="21136568">
            <a:off x="2466330" y="5228632"/>
            <a:ext cx="244009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rgbClr val="CE1619"/>
                </a:solidFill>
                <a:latin typeface="Smash" pitchFamily="2" charset="0"/>
              </a:rPr>
              <a:t>Irgendein Parameter</a:t>
            </a:r>
          </a:p>
        </p:txBody>
      </p:sp>
      <p:sp>
        <p:nvSpPr>
          <p:cNvPr id="12" name="Google Shape;200;p10">
            <a:extLst>
              <a:ext uri="{FF2B5EF4-FFF2-40B4-BE49-F238E27FC236}">
                <a16:creationId xmlns:a16="http://schemas.microsoft.com/office/drawing/2014/main" id="{9A6338EB-337A-9B5D-FC86-E84E65B97196}"/>
              </a:ext>
            </a:extLst>
          </p:cNvPr>
          <p:cNvSpPr/>
          <p:nvPr/>
        </p:nvSpPr>
        <p:spPr>
          <a:xfrm rot="18935581" flipH="1" flipV="1">
            <a:off x="7491108" y="4668076"/>
            <a:ext cx="898082" cy="687767"/>
          </a:xfrm>
          <a:prstGeom prst="arc">
            <a:avLst>
              <a:gd name="adj1" fmla="val 10799015"/>
              <a:gd name="adj2" fmla="val 16354502"/>
            </a:avLst>
          </a:prstGeom>
          <a:noFill/>
          <a:ln w="28575" cap="flat" cmpd="sng">
            <a:solidFill>
              <a:srgbClr val="CE1619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Aptos Display" panose="020B0004020202020204" pitchFamily="34" charset="0"/>
              <a:ea typeface="Corbel"/>
              <a:cs typeface="Corbel"/>
              <a:sym typeface="Corbel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0E492DE-9625-4F75-ABB7-3FF3DEA65E2D}"/>
              </a:ext>
            </a:extLst>
          </p:cNvPr>
          <p:cNvSpPr txBox="1"/>
          <p:nvPr/>
        </p:nvSpPr>
        <p:spPr>
          <a:xfrm rot="21136568">
            <a:off x="6617783" y="5256166"/>
            <a:ext cx="327205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rgbClr val="CE1619"/>
                </a:solidFill>
                <a:latin typeface="Smash" pitchFamily="2" charset="0"/>
              </a:rPr>
              <a:t>… noch irgendein Parameter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E08246E-C37A-6EC8-AEEA-3EF399B9487F}"/>
              </a:ext>
            </a:extLst>
          </p:cNvPr>
          <p:cNvSpPr/>
          <p:nvPr/>
        </p:nvSpPr>
        <p:spPr>
          <a:xfrm>
            <a:off x="6607806" y="3028949"/>
            <a:ext cx="770921" cy="1901211"/>
          </a:xfrm>
          <a:prstGeom prst="rect">
            <a:avLst/>
          </a:prstGeom>
          <a:noFill/>
          <a:ln>
            <a:solidFill>
              <a:srgbClr val="CE16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DBB787C-4163-7BA1-05ED-84CF09C51BB9}"/>
              </a:ext>
            </a:extLst>
          </p:cNvPr>
          <p:cNvSpPr txBox="1"/>
          <p:nvPr/>
        </p:nvSpPr>
        <p:spPr>
          <a:xfrm rot="21136568">
            <a:off x="7421398" y="2412621"/>
            <a:ext cx="164500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rgbClr val="CE1619"/>
                </a:solidFill>
                <a:latin typeface="Smash" pitchFamily="2" charset="0"/>
              </a:rPr>
              <a:t>15 Parameter</a:t>
            </a:r>
          </a:p>
        </p:txBody>
      </p:sp>
      <p:sp>
        <p:nvSpPr>
          <p:cNvPr id="21" name="Google Shape;200;p10">
            <a:extLst>
              <a:ext uri="{FF2B5EF4-FFF2-40B4-BE49-F238E27FC236}">
                <a16:creationId xmlns:a16="http://schemas.microsoft.com/office/drawing/2014/main" id="{81374152-64AE-2039-E890-3A8B1B0D4B0F}"/>
              </a:ext>
            </a:extLst>
          </p:cNvPr>
          <p:cNvSpPr/>
          <p:nvPr/>
        </p:nvSpPr>
        <p:spPr>
          <a:xfrm rot="10800000" flipH="1" flipV="1">
            <a:off x="6983358" y="2681138"/>
            <a:ext cx="898082" cy="687767"/>
          </a:xfrm>
          <a:prstGeom prst="arc">
            <a:avLst>
              <a:gd name="adj1" fmla="val 10799015"/>
              <a:gd name="adj2" fmla="val 16354502"/>
            </a:avLst>
          </a:prstGeom>
          <a:noFill/>
          <a:ln w="28575" cap="flat" cmpd="sng">
            <a:solidFill>
              <a:srgbClr val="CE1619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Aptos Display" panose="020B0004020202020204" pitchFamily="34" charset="0"/>
              <a:ea typeface="Corbel"/>
              <a:cs typeface="Corbel"/>
              <a:sym typeface="Corbel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BD034835-125D-1C43-19B3-F4A1CD23B092}"/>
              </a:ext>
            </a:extLst>
          </p:cNvPr>
          <p:cNvSpPr txBox="1"/>
          <p:nvPr/>
        </p:nvSpPr>
        <p:spPr>
          <a:xfrm>
            <a:off x="1190515" y="6390387"/>
            <a:ext cx="85870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0F0F0F"/>
                </a:solidFill>
                <a:effectLst/>
                <a:latin typeface="Aptos Display" panose="020B0004020202020204" pitchFamily="34" charset="0"/>
              </a:rPr>
              <a:t>What are Transformer Models and how do they work? (Luis Serrano)</a:t>
            </a:r>
          </a:p>
          <a:p>
            <a:r>
              <a:rPr lang="de-DE" i="1" dirty="0">
                <a:latin typeface="Aptos Display" panose="020B0004020202020204" pitchFamily="34" charset="0"/>
                <a:hlinkClick r:id="rId8"/>
              </a:rPr>
              <a:t>https://www.youtube.com/watch?v=qaWMOYf4ri8</a:t>
            </a:r>
            <a:endParaRPr lang="de-DE" i="1" dirty="0">
              <a:latin typeface="Aptos Display" panose="020B00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C254B24-9313-3210-D240-20A42349EFEF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</p:spTree>
    <p:extLst>
      <p:ext uri="{BB962C8B-B14F-4D97-AF65-F5344CB8AC3E}">
        <p14:creationId xmlns:p14="http://schemas.microsoft.com/office/powerpoint/2010/main" val="14187493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6. Training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Das Ziel: das nächste Token vorhersagen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22000" y="1800000"/>
          <a:ext cx="6480000" cy="16559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</a:rPr>
                        <a:t>Position 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74151"/>
                          </a:solidFill>
                        </a:rPr>
                        <a:t>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74151"/>
                          </a:solidFill>
                        </a:rPr>
                        <a:t>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74151"/>
                          </a:solidFill>
                        </a:rPr>
                        <a:t>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74151"/>
                          </a:solidFill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</a:rPr>
                        <a:t>Eingabe x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&lt;s&gt;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Gut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Ding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braucht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</a:rPr>
                        <a:t>Modell sieht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&lt;s&gt;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&lt;s&gt; Gut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… Ding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… braucht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</a:rPr>
                        <a:t>Ziel y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001AD"/>
                          </a:solidFill>
                        </a:rPr>
                        <a:t>Gut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001AD"/>
                          </a:solidFill>
                        </a:rPr>
                        <a:t>Ding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001AD"/>
                          </a:solidFill>
                        </a:rPr>
                        <a:t>braucht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6001AD"/>
                          </a:solidFill>
                        </a:rPr>
                        <a:t>Weile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72000" y="1800000"/>
            <a:ext cx="3888000" cy="172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05000"/>
              </a:lnSpc>
              <a:buBlip>
                <a:blip r:embed="rId3"/>
              </a:buBlip>
            </a:pPr>
            <a:r>
              <a:rPr sz="1400" b="1">
                <a:solidFill>
                  <a:srgbClr val="374151"/>
                </a:solidFill>
              </a:rPr>
              <a:t>y ist x um eine Position verschoben.</a:t>
            </a:r>
          </a:p>
          <a:p>
            <a:pPr marL="285750" indent="-285750">
              <a:lnSpc>
                <a:spcPct val="105000"/>
              </a:lnSpc>
              <a:buBlip>
                <a:blip r:embed="rId3"/>
              </a:buBlip>
            </a:pPr>
            <a:r>
              <a:rPr sz="1400" b="1">
                <a:solidFill>
                  <a:srgbClr val="374151"/>
                </a:solidFill>
              </a:rPr>
              <a:t>Dank Maske: alle T Aufgaben in einem einzigen Durchlauf, parallel.</a:t>
            </a:r>
          </a:p>
          <a:p>
            <a:pPr marL="285750" indent="-285750">
              <a:lnSpc>
                <a:spcPct val="105000"/>
              </a:lnSpc>
              <a:buBlip>
                <a:blip r:embed="rId3"/>
              </a:buBlip>
            </a:pPr>
            <a:r>
              <a:rPr sz="1400" b="1">
                <a:solidFill>
                  <a:srgbClr val="374151"/>
                </a:solidFill>
              </a:rPr>
              <a:t>Die Ziele stehen im Text selbst – selbstüberwachtes Lernen.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2000" y="3708000"/>
            <a:ext cx="432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6001AD"/>
                </a:solidFill>
              </a:rPr>
              <a:t>Verlust: Kreuzentropie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Formel 8"/>
              <p:cNvSpPr txBox="1"/>
              <p:nvPr/>
            </p:nvSpPr>
            <p:spPr>
              <a:xfrm>
                <a:off x="3841014" y="3960000"/>
                <a:ext cx="3765972" cy="87477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22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de-DE" sz="22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2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de-DE" sz="22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e-DE" sz="22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2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2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de-DE" sz="22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22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sz="22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DE" sz="22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e-DE" sz="22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sz="22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</m:nary>
                      <m:sSub>
                        <m:sSubPr>
                          <m:ctrlPr>
                            <a:rPr lang="de-DE" sz="22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22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de-DE" sz="22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de-DE" sz="22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2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2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2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sz="22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sz="22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sz="22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de-DE" sz="22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2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2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de-DE" sz="22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DE" sz="2200"/>
              </a:p>
            </p:txBody>
          </p:sp>
        </mc:Choice>
        <mc:Fallback xmlns="" xmlns:m="http://schemas.openxmlformats.org/officeDocument/2006/math">
          <p:sp>
            <p:nvSpPr>
              <p:cNvPr id="8" name="Formel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014" y="3960000"/>
                <a:ext cx="3585972" cy="8747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22000" y="5004000"/>
            <a:ext cx="10584000" cy="9959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3"/>
              </a:buBlip>
            </a:pPr>
            <a:r>
              <a:rPr sz="1500" b="1" dirty="0">
                <a:solidFill>
                  <a:srgbClr val="374151"/>
                </a:solidFill>
              </a:rPr>
              <a:t>Pro Position </a:t>
            </a:r>
            <a:r>
              <a:rPr sz="1500" b="1" dirty="0" err="1">
                <a:solidFill>
                  <a:srgbClr val="374151"/>
                </a:solidFill>
              </a:rPr>
              <a:t>zählt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nur</a:t>
            </a:r>
            <a:r>
              <a:rPr sz="1500" b="1" dirty="0">
                <a:solidFill>
                  <a:srgbClr val="374151"/>
                </a:solidFill>
              </a:rPr>
              <a:t>, </a:t>
            </a:r>
            <a:r>
              <a:rPr sz="1500" b="1" dirty="0" err="1">
                <a:solidFill>
                  <a:srgbClr val="374151"/>
                </a:solidFill>
              </a:rPr>
              <a:t>welche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Wahrscheinlichkeit</a:t>
            </a:r>
            <a:r>
              <a:rPr sz="1500" b="1" dirty="0">
                <a:solidFill>
                  <a:srgbClr val="374151"/>
                </a:solidFill>
              </a:rPr>
              <a:t> das Modell dem </a:t>
            </a:r>
            <a:r>
              <a:rPr sz="1500" b="1" dirty="0" err="1">
                <a:solidFill>
                  <a:srgbClr val="374151"/>
                </a:solidFill>
              </a:rPr>
              <a:t>tatsächlich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folgenden</a:t>
            </a:r>
            <a:r>
              <a:rPr sz="1500" b="1" dirty="0">
                <a:solidFill>
                  <a:srgbClr val="374151"/>
                </a:solidFill>
              </a:rPr>
              <a:t> Token </a:t>
            </a:r>
            <a:r>
              <a:rPr sz="1500" b="1" dirty="0" err="1">
                <a:solidFill>
                  <a:srgbClr val="374151"/>
                </a:solidFill>
              </a:rPr>
              <a:t>gibt</a:t>
            </a:r>
            <a:r>
              <a:rPr sz="1500" b="1" dirty="0">
                <a:solidFill>
                  <a:srgbClr val="374151"/>
                </a:solidFill>
              </a:rPr>
              <a:t>.</a:t>
            </a:r>
          </a:p>
          <a:p>
            <a:pPr marL="285750" indent="-285750">
              <a:lnSpc>
                <a:spcPct val="110000"/>
              </a:lnSpc>
              <a:buBlip>
                <a:blip r:embed="rId3"/>
              </a:buBlip>
            </a:pPr>
            <a:r>
              <a:rPr sz="1500" b="1" dirty="0" err="1">
                <a:solidFill>
                  <a:srgbClr val="374151"/>
                </a:solidFill>
              </a:rPr>
              <a:t>Referenz</a:t>
            </a:r>
            <a:r>
              <a:rPr sz="1500" b="1" dirty="0">
                <a:solidFill>
                  <a:srgbClr val="374151"/>
                </a:solidFill>
              </a:rPr>
              <a:t>: Ein Modell, das alle V Tokens </a:t>
            </a:r>
            <a:r>
              <a:rPr sz="1500" b="1" dirty="0" err="1">
                <a:solidFill>
                  <a:srgbClr val="374151"/>
                </a:solidFill>
              </a:rPr>
              <a:t>gleich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wahrscheinlich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hält</a:t>
            </a:r>
            <a:r>
              <a:rPr sz="1500" b="1" dirty="0">
                <a:solidFill>
                  <a:srgbClr val="374151"/>
                </a:solidFill>
              </a:rPr>
              <a:t>, hat den </a:t>
            </a:r>
            <a:r>
              <a:rPr sz="1500" b="1" dirty="0" err="1">
                <a:solidFill>
                  <a:srgbClr val="374151"/>
                </a:solidFill>
              </a:rPr>
              <a:t>Verlust</a:t>
            </a:r>
            <a:r>
              <a:rPr sz="1500" b="1" dirty="0">
                <a:solidFill>
                  <a:srgbClr val="374151"/>
                </a:solidFill>
              </a:rPr>
              <a:t> ln V. </a:t>
            </a:r>
            <a:br>
              <a:rPr lang="de-DE" sz="1500" b="1" dirty="0">
                <a:solidFill>
                  <a:srgbClr val="374151"/>
                </a:solidFill>
              </a:rPr>
            </a:br>
            <a:r>
              <a:rPr sz="1500" b="1" dirty="0">
                <a:solidFill>
                  <a:srgbClr val="008891"/>
                </a:solidFill>
              </a:rPr>
              <a:t>Guppy </a:t>
            </a:r>
            <a:r>
              <a:rPr sz="1500" b="1" dirty="0" err="1">
                <a:solidFill>
                  <a:srgbClr val="008891"/>
                </a:solidFill>
              </a:rPr>
              <a:t>untrainiert</a:t>
            </a:r>
            <a:r>
              <a:rPr sz="1500" b="1" dirty="0">
                <a:solidFill>
                  <a:srgbClr val="008891"/>
                </a:solidFill>
              </a:rPr>
              <a:t>: 7,98 – ln 2 597 = 7,86.</a:t>
            </a:r>
          </a:p>
          <a:p>
            <a:pPr marL="285750" indent="-285750">
              <a:lnSpc>
                <a:spcPct val="110000"/>
              </a:lnSpc>
              <a:buBlip>
                <a:blip r:embed="rId3"/>
              </a:buBlip>
            </a:pPr>
            <a:r>
              <a:rPr sz="1500" b="1" dirty="0">
                <a:solidFill>
                  <a:srgbClr val="374151"/>
                </a:solidFill>
              </a:rPr>
              <a:t>Padding-</a:t>
            </a:r>
            <a:r>
              <a:rPr sz="1500" b="1" dirty="0" err="1">
                <a:solidFill>
                  <a:srgbClr val="374151"/>
                </a:solidFill>
              </a:rPr>
              <a:t>Positionen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werden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aus</a:t>
            </a:r>
            <a:r>
              <a:rPr sz="1500" b="1" dirty="0">
                <a:solidFill>
                  <a:srgbClr val="374151"/>
                </a:solidFill>
              </a:rPr>
              <a:t> dem </a:t>
            </a:r>
            <a:r>
              <a:rPr sz="1500" b="1" dirty="0" err="1">
                <a:solidFill>
                  <a:srgbClr val="374151"/>
                </a:solidFill>
              </a:rPr>
              <a:t>Verlust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ausgeschlossen</a:t>
            </a:r>
            <a:r>
              <a:rPr sz="1500" b="1" dirty="0">
                <a:solidFill>
                  <a:srgbClr val="374151"/>
                </a:solidFill>
              </a:rPr>
              <a:t> (Guppy: </a:t>
            </a:r>
            <a:r>
              <a:rPr sz="1500" b="1" dirty="0" err="1">
                <a:solidFill>
                  <a:srgbClr val="374151"/>
                </a:solidFill>
              </a:rPr>
              <a:t>ignore_index</a:t>
            </a:r>
            <a:r>
              <a:rPr sz="1500" b="1" dirty="0">
                <a:solidFill>
                  <a:srgbClr val="374151"/>
                </a:solidFill>
              </a:rPr>
              <a:t>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" y="6750000"/>
            <a:ext cx="10620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Radford et al. (2018), Gl. 1: L₁(U) = Σᵢ log P(uᵢ | uᵢ₋ₖ, …, uᵢ₋₁; Θ)  ·  GuppyLM-Lehrnotebook, Abschn. 3 und 4.5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6. Training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Ein Trainingsschritt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22000" y="1800000"/>
            <a:ext cx="1872000" cy="79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8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400" b="1">
                <a:solidFill>
                  <a:srgbClr val="374151"/>
                </a:solidFill>
              </a:rPr>
              <a:t>1  Batch ziehen</a:t>
            </a:r>
          </a:p>
          <a:p>
            <a:pPr algn="ctr"/>
            <a:r>
              <a:rPr sz="1200" b="0">
                <a:solidFill>
                  <a:srgbClr val="374151"/>
                </a:solidFill>
              </a:rPr>
              <a:t>32 Dialoge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12000" y="2196000"/>
            <a:ext cx="252000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82000" y="1800000"/>
            <a:ext cx="1872000" cy="79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8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400" b="1">
                <a:solidFill>
                  <a:srgbClr val="374151"/>
                </a:solidFill>
              </a:rPr>
              <a:t>2  Vorwärtsrechnung</a:t>
            </a:r>
          </a:p>
          <a:p>
            <a:pPr algn="ctr"/>
            <a:r>
              <a:rPr sz="1200" b="0">
                <a:solidFill>
                  <a:srgbClr val="374151"/>
                </a:solidFill>
              </a:rPr>
              <a:t>Logits an allen Positionen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2196000"/>
            <a:ext cx="252000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842000" y="1800000"/>
            <a:ext cx="1872000" cy="79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8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400" b="1">
                <a:solidFill>
                  <a:srgbClr val="374151"/>
                </a:solidFill>
              </a:rPr>
              <a:t>3  Verlust</a:t>
            </a:r>
          </a:p>
          <a:p>
            <a:pPr algn="ctr"/>
            <a:r>
              <a:rPr sz="1200" b="0">
                <a:solidFill>
                  <a:srgbClr val="374151"/>
                </a:solidFill>
              </a:rPr>
              <a:t>Kreuzentropie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32000" y="2196000"/>
            <a:ext cx="251999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002000" y="1800000"/>
            <a:ext cx="1872000" cy="79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0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400" b="1">
                <a:solidFill>
                  <a:srgbClr val="374151"/>
                </a:solidFill>
              </a:rPr>
              <a:t>4  Backpropagation</a:t>
            </a:r>
          </a:p>
          <a:p>
            <a:pPr algn="ctr"/>
            <a:r>
              <a:rPr sz="1200" b="0">
                <a:solidFill>
                  <a:srgbClr val="374151"/>
                </a:solidFill>
              </a:rPr>
              <a:t>Gradient ∇θ 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92000" y="2196000"/>
            <a:ext cx="252000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62000" y="1800000"/>
            <a:ext cx="1872000" cy="79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0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400" b="1">
                <a:solidFill>
                  <a:srgbClr val="374151"/>
                </a:solidFill>
              </a:rPr>
              <a:t>5  Update</a:t>
            </a:r>
          </a:p>
          <a:p>
            <a:pPr algn="ctr"/>
            <a:r>
              <a:rPr sz="1200" b="0">
                <a:solidFill>
                  <a:srgbClr val="374151"/>
                </a:solidFill>
              </a:rPr>
              <a:t>AdamW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116000" y="2610000"/>
            <a:ext cx="0" cy="234000"/>
          </a:xfrm>
          <a:prstGeom prst="line">
            <a:avLst/>
          </a:prstGeom>
          <a:ln w="222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440000" y="2844000"/>
            <a:ext cx="8676000" cy="0"/>
          </a:xfrm>
          <a:prstGeom prst="line">
            <a:avLst/>
          </a:prstGeom>
          <a:ln w="222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440000" y="2610000"/>
            <a:ext cx="0" cy="23400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2862000"/>
            <a:ext cx="324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</a:rPr>
              <a:t>nächster Schritt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Formel 18"/>
              <p:cNvSpPr txBox="1"/>
              <p:nvPr/>
            </p:nvSpPr>
            <p:spPr>
              <a:xfrm>
                <a:off x="1948752" y="3311999"/>
                <a:ext cx="1862496" cy="25908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22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de-DE" sz="22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de-DE" sz="22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de-DE" sz="22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sz="22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de-DE" sz="22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de-DE" sz="22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2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de-DE" sz="22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de-DE" sz="22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</m:oMath>
                  </m:oMathPara>
                </a14:m>
                <a:endParaRPr lang="de-DE" sz="2200"/>
              </a:p>
            </p:txBody>
          </p:sp>
        </mc:Choice>
        <mc:Fallback xmlns="" xmlns:m="http://schemas.openxmlformats.org/officeDocument/2006/math">
          <p:sp>
            <p:nvSpPr>
              <p:cNvPr id="18" name="Formel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8752" y="3311999"/>
                <a:ext cx="1682496" cy="259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522000" y="3924000"/>
            <a:ext cx="4860000" cy="7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374151"/>
                </a:solidFill>
              </a:rPr>
              <a:t>Grundidee Gradientenabstieg; AdamW passt die Schrittweite je Parameter an und zieht Gewichte leicht Richtung 0 (Weight Decay).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000" y="4788000"/>
            <a:ext cx="4860000" cy="10392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15000"/>
              </a:lnSpc>
              <a:buBlip>
                <a:blip r:embed="rId4"/>
              </a:buBlip>
            </a:pPr>
            <a:r>
              <a:rPr sz="1500" b="1" dirty="0" err="1">
                <a:solidFill>
                  <a:srgbClr val="6001AD"/>
                </a:solidFill>
              </a:rPr>
              <a:t>Angepasst</a:t>
            </a:r>
            <a:r>
              <a:rPr sz="1500" b="1" dirty="0">
                <a:solidFill>
                  <a:srgbClr val="6001AD"/>
                </a:solidFill>
              </a:rPr>
              <a:t> </a:t>
            </a:r>
            <a:r>
              <a:rPr sz="1500" b="1" dirty="0" err="1">
                <a:solidFill>
                  <a:srgbClr val="6001AD"/>
                </a:solidFill>
              </a:rPr>
              <a:t>werden</a:t>
            </a:r>
            <a:r>
              <a:rPr sz="1500" b="1" dirty="0">
                <a:solidFill>
                  <a:srgbClr val="6001AD"/>
                </a:solidFill>
              </a:rPr>
              <a:t> alle Parameter: </a:t>
            </a:r>
            <a:br>
              <a:rPr lang="de-DE" sz="1500" b="1" dirty="0">
                <a:solidFill>
                  <a:srgbClr val="6001AD"/>
                </a:solidFill>
              </a:rPr>
            </a:br>
            <a:r>
              <a:rPr sz="1500" b="1" dirty="0">
                <a:solidFill>
                  <a:srgbClr val="374151"/>
                </a:solidFill>
              </a:rPr>
              <a:t>W_E, </a:t>
            </a:r>
            <a:r>
              <a:rPr lang="de-DE" sz="1500" b="1" dirty="0">
                <a:solidFill>
                  <a:srgbClr val="374151"/>
                </a:solidFill>
              </a:rPr>
              <a:t>  </a:t>
            </a:r>
            <a:r>
              <a:rPr sz="1500" b="1" dirty="0">
                <a:solidFill>
                  <a:srgbClr val="374151"/>
                </a:solidFill>
              </a:rPr>
              <a:t>W_Q, </a:t>
            </a:r>
            <a:r>
              <a:rPr lang="de-DE" sz="1500" b="1" dirty="0">
                <a:solidFill>
                  <a:srgbClr val="374151"/>
                </a:solidFill>
              </a:rPr>
              <a:t>  </a:t>
            </a:r>
            <a:r>
              <a:rPr sz="1500" b="1" dirty="0">
                <a:solidFill>
                  <a:srgbClr val="374151"/>
                </a:solidFill>
              </a:rPr>
              <a:t>W_K, </a:t>
            </a:r>
            <a:r>
              <a:rPr lang="de-DE" sz="1500" b="1" dirty="0">
                <a:solidFill>
                  <a:srgbClr val="374151"/>
                </a:solidFill>
              </a:rPr>
              <a:t>  </a:t>
            </a:r>
            <a:r>
              <a:rPr sz="1500" b="1" dirty="0">
                <a:solidFill>
                  <a:srgbClr val="374151"/>
                </a:solidFill>
              </a:rPr>
              <a:t>W_V, </a:t>
            </a:r>
            <a:r>
              <a:rPr lang="de-DE" sz="1500" b="1" dirty="0">
                <a:solidFill>
                  <a:srgbClr val="374151"/>
                </a:solidFill>
              </a:rPr>
              <a:t>  </a:t>
            </a:r>
            <a:r>
              <a:rPr sz="1500" b="1" dirty="0">
                <a:solidFill>
                  <a:srgbClr val="374151"/>
                </a:solidFill>
              </a:rPr>
              <a:t>W_O, </a:t>
            </a:r>
            <a:r>
              <a:rPr lang="de-DE" sz="1500" b="1" dirty="0">
                <a:solidFill>
                  <a:srgbClr val="374151"/>
                </a:solidFill>
              </a:rPr>
              <a:t>  </a:t>
            </a:r>
            <a:r>
              <a:rPr sz="1500" b="1" dirty="0">
                <a:solidFill>
                  <a:srgbClr val="374151"/>
                </a:solidFill>
              </a:rPr>
              <a:t>W₁, </a:t>
            </a:r>
            <a:r>
              <a:rPr lang="de-DE" sz="1500" b="1" dirty="0">
                <a:solidFill>
                  <a:srgbClr val="374151"/>
                </a:solidFill>
              </a:rPr>
              <a:t>  </a:t>
            </a:r>
            <a:r>
              <a:rPr sz="1500" b="1" dirty="0">
                <a:solidFill>
                  <a:srgbClr val="374151"/>
                </a:solidFill>
              </a:rPr>
              <a:t>W₂, </a:t>
            </a:r>
            <a:r>
              <a:rPr lang="de-DE"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γ</a:t>
            </a:r>
            <a:r>
              <a:rPr sz="1500" b="1" dirty="0">
                <a:solidFill>
                  <a:srgbClr val="374151"/>
                </a:solidFill>
              </a:rPr>
              <a:t>, </a:t>
            </a:r>
            <a:r>
              <a:rPr lang="de-DE" sz="1500" b="1" dirty="0">
                <a:solidFill>
                  <a:srgbClr val="374151"/>
                </a:solidFill>
              </a:rPr>
              <a:t> </a:t>
            </a:r>
            <a:r>
              <a:rPr sz="1500" b="1" dirty="0">
                <a:solidFill>
                  <a:srgbClr val="374151"/>
                </a:solidFill>
              </a:rPr>
              <a:t>β </a:t>
            </a:r>
            <a:br>
              <a:rPr lang="de-DE" sz="1500" b="1" dirty="0">
                <a:solidFill>
                  <a:srgbClr val="374151"/>
                </a:solidFill>
              </a:rPr>
            </a:br>
            <a:r>
              <a:rPr sz="1500" b="1" dirty="0">
                <a:solidFill>
                  <a:srgbClr val="374151"/>
                </a:solidFill>
              </a:rPr>
              <a:t>– in </a:t>
            </a:r>
            <a:r>
              <a:rPr sz="1500" b="1" dirty="0" err="1">
                <a:solidFill>
                  <a:srgbClr val="374151"/>
                </a:solidFill>
              </a:rPr>
              <a:t>jedem</a:t>
            </a:r>
            <a:r>
              <a:rPr sz="1500" b="1" dirty="0">
                <a:solidFill>
                  <a:srgbClr val="374151"/>
                </a:solidFill>
              </a:rPr>
              <a:t> Block </a:t>
            </a:r>
            <a:r>
              <a:rPr sz="1500" b="1" dirty="0" err="1">
                <a:solidFill>
                  <a:srgbClr val="374151"/>
                </a:solidFill>
              </a:rPr>
              <a:t>eigene</a:t>
            </a:r>
            <a:r>
              <a:rPr sz="1500" b="1" dirty="0">
                <a:solidFill>
                  <a:srgbClr val="374151"/>
                </a:solidFill>
              </a:rPr>
              <a:t> (</a:t>
            </a:r>
            <a:r>
              <a:rPr sz="1500" b="1" dirty="0" err="1">
                <a:solidFill>
                  <a:srgbClr val="374151"/>
                </a:solidFill>
              </a:rPr>
              <a:t>eine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gelernte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Positionstabelle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gegebenenfalls</a:t>
            </a:r>
            <a:r>
              <a:rPr sz="1500" b="1" dirty="0">
                <a:solidFill>
                  <a:srgbClr val="374151"/>
                </a:solidFill>
              </a:rPr>
              <a:t> </a:t>
            </a:r>
            <a:r>
              <a:rPr sz="1500" b="1" dirty="0" err="1">
                <a:solidFill>
                  <a:srgbClr val="374151"/>
                </a:solidFill>
              </a:rPr>
              <a:t>ebenso</a:t>
            </a:r>
            <a:r>
              <a:rPr sz="1500" b="1" dirty="0">
                <a:solidFill>
                  <a:srgbClr val="374151"/>
                </a:solidFill>
              </a:rPr>
              <a:t>).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903999" y="3311999"/>
          <a:ext cx="5184000" cy="309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</a:rPr>
                        <a:t>Einstellung (Guppy)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74151"/>
                          </a:solidFill>
                        </a:rPr>
                        <a:t>Wert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</a:rPr>
                        <a:t>Schritte × Batch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6 000 × 32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</a:rPr>
                        <a:t>max. Lernrate η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3·10⁻⁴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</a:rPr>
                        <a:t>Warmup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200 Schritte linear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</a:rPr>
                        <a:t>danach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Kosinus bis 3·10⁻⁵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</a:rPr>
                        <a:t>Weight Decay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0,1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</a:rPr>
                        <a:t>Gradient Clipping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Norm ≤ 1,0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74151"/>
                          </a:solidFill>
                        </a:rPr>
                        <a:t>Optimierer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</a:rPr>
                        <a:t>AdamW, β = (0,9; 0,95)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22000" y="6750000"/>
            <a:ext cx="10620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GuppyLM-Lehrnotebook, Abschn. 5  ·  Loshchilov &amp; Hutter (2019): Decoupled Weight Decay Regularization (AdamW)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6. Training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Die Verlustkurve von GuppyLM lesen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pic>
        <p:nvPicPr>
          <p:cNvPr id="5" name="Picture 4" descr="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" y="1655999"/>
            <a:ext cx="6336000" cy="332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83999" y="1764000"/>
            <a:ext cx="4176000" cy="48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5"/>
              </a:buBlip>
            </a:pPr>
            <a:r>
              <a:rPr sz="1400" b="1">
                <a:solidFill>
                  <a:srgbClr val="374151"/>
                </a:solidFill>
              </a:rPr>
              <a:t>Start bei ≈ ln V: Das untrainierte Modell rät nahezu gleichverteilt.</a:t>
            </a:r>
          </a:p>
          <a:p>
            <a:pPr marL="285750" indent="-285750">
              <a:lnSpc>
                <a:spcPct val="110000"/>
              </a:lnSpc>
              <a:buBlip>
                <a:blip r:embed="rId5"/>
              </a:buBlip>
            </a:pPr>
            <a:r>
              <a:rPr sz="1400" b="1">
                <a:solidFill>
                  <a:srgbClr val="374151"/>
                </a:solidFill>
              </a:rPr>
              <a:t>Nach 6 000 Schritten: bester Validierungsverlust 0,389 – entspricht einer Perplexität e^0,389 ≈ 1,48.</a:t>
            </a:r>
          </a:p>
          <a:p>
            <a:pPr marL="285750" indent="-285750">
              <a:lnSpc>
                <a:spcPct val="110000"/>
              </a:lnSpc>
              <a:buBlip>
                <a:blip r:embed="rId5"/>
              </a:buBlip>
            </a:pPr>
            <a:r>
              <a:rPr sz="1400" b="1">
                <a:solidFill>
                  <a:srgbClr val="374151"/>
                </a:solidFill>
              </a:rPr>
              <a:t>Steigt die Validierung, während das Training sinkt, deutet das auf Überanpassung.</a:t>
            </a:r>
          </a:p>
          <a:p>
            <a:pPr marL="285750" indent="-285750">
              <a:lnSpc>
                <a:spcPct val="110000"/>
              </a:lnSpc>
              <a:buBlip>
                <a:blip r:embed="rId5"/>
              </a:buBlip>
            </a:pPr>
            <a:r>
              <a:rPr sz="1400" b="1">
                <a:solidFill>
                  <a:srgbClr val="CE1619"/>
                </a:solidFill>
              </a:rPr>
              <a:t>Vorsicht: </a:t>
            </a:r>
            <a:r>
              <a:rPr sz="1400" b="1">
                <a:solidFill>
                  <a:srgbClr val="374151"/>
                </a:solidFill>
              </a:rPr>
              <a:t>2 320 der 3 000 Validierungsdialoge stehen wortgleich auch in den Trainingsdaten. Die Kurve belegt daher keine Generalisierung.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2000" y="6750000"/>
            <a:ext cx="10620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Daten: Ausgabe der Trainingszelle im GuppyLM-Lehrnotebook (Validierung alle 200 Schritte auf 320 Dialogen); Hinweis zur Datenüberschneidung aus dem Notebook.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6. Training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Vom Sprachmodell zum Assistenten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22000" y="1800000"/>
            <a:ext cx="4860000" cy="14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0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800" b="1">
                <a:solidFill>
                  <a:srgbClr val="6001AD"/>
                </a:solidFill>
              </a:rPr>
              <a:t>Vortraining</a:t>
            </a:r>
          </a:p>
          <a:p>
            <a:pPr algn="ctr"/>
            <a:r>
              <a:rPr sz="1500" b="0">
                <a:solidFill>
                  <a:srgbClr val="374151"/>
                </a:solidFill>
              </a:rPr>
              <a:t>nächstes Token vorhersagen auf sehr großen Textmengen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36000" y="2520000"/>
            <a:ext cx="432000" cy="0"/>
          </a:xfrm>
          <a:prstGeom prst="line">
            <a:avLst/>
          </a:prstGeom>
          <a:ln w="317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03999" y="1800000"/>
            <a:ext cx="5184000" cy="14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8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800" b="1">
                <a:solidFill>
                  <a:srgbClr val="008891"/>
                </a:solidFill>
              </a:rPr>
              <a:t>Feinabstimmung</a:t>
            </a:r>
          </a:p>
          <a:p>
            <a:pPr algn="ctr"/>
            <a:r>
              <a:rPr sz="1500" b="0">
                <a:solidFill>
                  <a:srgbClr val="374151"/>
                </a:solidFill>
              </a:rPr>
              <a:t>auf Dialoge und mit menschlichem Feedback (RLHF)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" y="3600000"/>
            <a:ext cx="10584000" cy="29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15000"/>
              </a:lnSpc>
              <a:buBlip>
                <a:blip r:embed="rId3"/>
              </a:buBlip>
            </a:pPr>
            <a:r>
              <a:rPr sz="1600" b="1">
                <a:solidFill>
                  <a:srgbClr val="374151"/>
                </a:solidFill>
              </a:rPr>
              <a:t>GPT-4 ist laut OpenAI „a Transformer-style model pre-trained to predict the next token in a document“ und wurde anschließend mit Reinforcement Learning from Human Feedback feinabgestimmt.</a:t>
            </a:r>
          </a:p>
          <a:p>
            <a:pPr marL="285750" indent="-285750">
              <a:lnSpc>
                <a:spcPct val="115000"/>
              </a:lnSpc>
              <a:buBlip>
                <a:blip r:embed="rId3"/>
              </a:buBlip>
            </a:pPr>
            <a:r>
              <a:rPr sz="1600" b="1">
                <a:solidFill>
                  <a:srgbClr val="374151"/>
                </a:solidFill>
              </a:rPr>
              <a:t>Die Architektur bleibt dabei gleich – es ändern sich Daten und Trainingsziel.</a:t>
            </a:r>
          </a:p>
          <a:p>
            <a:pPr marL="285750" indent="-285750">
              <a:lnSpc>
                <a:spcPct val="115000"/>
              </a:lnSpc>
              <a:buBlip>
                <a:blip r:embed="rId3"/>
              </a:buBlip>
            </a:pPr>
            <a:r>
              <a:rPr sz="1600" b="1">
                <a:solidFill>
                  <a:srgbClr val="374151"/>
                </a:solidFill>
              </a:rPr>
              <a:t>GuppyLM überspringt das Vortraining: Es lernt direkt aus 57 000 kurzen Dialogen im Chat-Format </a:t>
            </a:r>
            <a:r>
              <a:rPr sz="1400" b="1">
                <a:solidFill>
                  <a:srgbClr val="374151"/>
                </a:solidFill>
                <a:latin typeface="Consolas"/>
              </a:rPr>
              <a:t>&lt;|im_start|&gt;user … &lt;|im_end|&gt;</a:t>
            </a:r>
            <a:r>
              <a:rPr sz="1600" b="1">
                <a:solidFill>
                  <a:srgbClr val="374151"/>
                </a:solidFill>
              </a:rPr>
              <a:t> – darum spricht es nur „Fisch“.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000" y="6750000"/>
            <a:ext cx="10620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OpenAI (2023): GPT-4 Technical Report, Abschn. 2  ·  GuppyLM-Lehrnotebook, Abschn. 2 (Datensatz arman-bd/guppylm-60k-generic)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200;p10">
            <a:extLst>
              <a:ext uri="{FF2B5EF4-FFF2-40B4-BE49-F238E27FC236}">
                <a16:creationId xmlns:a16="http://schemas.microsoft.com/office/drawing/2014/main" id="{FB27BFD2-91E6-F6AF-6196-0B9C8357C959}"/>
              </a:ext>
            </a:extLst>
          </p:cNvPr>
          <p:cNvSpPr/>
          <p:nvPr/>
        </p:nvSpPr>
        <p:spPr>
          <a:xfrm rot="5400000" flipH="1">
            <a:off x="4437235" y="795172"/>
            <a:ext cx="2570007" cy="9337819"/>
          </a:xfrm>
          <a:prstGeom prst="arc">
            <a:avLst>
              <a:gd name="adj1" fmla="val 5637740"/>
              <a:gd name="adj2" fmla="val 16193351"/>
            </a:avLst>
          </a:prstGeom>
          <a:noFill/>
          <a:ln w="38100" cap="flat" cmpd="sng">
            <a:solidFill>
              <a:srgbClr val="929292">
                <a:alpha val="25098"/>
              </a:srgbClr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pic>
        <p:nvPicPr>
          <p:cNvPr id="83" name="Grafik 82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4F58B3AD-7DBD-C8A9-DA21-BAF23FAFD882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70029" t="38384" r="404" b="52114"/>
          <a:stretch/>
        </p:blipFill>
        <p:spPr>
          <a:xfrm rot="10800000">
            <a:off x="7993377" y="3431556"/>
            <a:ext cx="1236827" cy="234635"/>
          </a:xfrm>
          <a:prstGeom prst="rect">
            <a:avLst/>
          </a:prstGeom>
          <a:grpFill/>
          <a:ln>
            <a:solidFill>
              <a:schemeClr val="bg2">
                <a:lumMod val="40000"/>
                <a:lumOff val="60000"/>
              </a:schemeClr>
            </a:solidFill>
          </a:ln>
        </p:spPr>
      </p:pic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F8A19BB0-F2FB-4790-6EDD-9AB55C5B52D1}"/>
              </a:ext>
            </a:extLst>
          </p:cNvPr>
          <p:cNvGrpSpPr/>
          <p:nvPr/>
        </p:nvGrpSpPr>
        <p:grpSpPr>
          <a:xfrm>
            <a:off x="7993378" y="3741995"/>
            <a:ext cx="1236827" cy="1833461"/>
            <a:chOff x="8346946" y="3641135"/>
            <a:chExt cx="1236827" cy="1833461"/>
          </a:xfrm>
          <a:noFill/>
        </p:grpSpPr>
        <p:pic>
          <p:nvPicPr>
            <p:cNvPr id="36" name="Grafik 35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F66D61DF-485A-E4B8-99A6-7B374D7C215F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l="35557" t="50258" r="34876" b="40240"/>
            <a:stretch/>
          </p:blipFill>
          <p:spPr>
            <a:xfrm rot="10800000">
              <a:off x="8346946" y="3641135"/>
              <a:ext cx="1236827" cy="234635"/>
            </a:xfrm>
            <a:prstGeom prst="rect">
              <a:avLst/>
            </a:prstGeom>
            <a:grpFill/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</p:pic>
        <p:pic>
          <p:nvPicPr>
            <p:cNvPr id="39" name="Grafik 38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04E9F91E-061F-BFF7-9655-409ED9D3FE2A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l="58518" t="2422" r="11915" b="88076"/>
            <a:stretch/>
          </p:blipFill>
          <p:spPr>
            <a:xfrm rot="10800000">
              <a:off x="8346946" y="4600430"/>
              <a:ext cx="1236827" cy="234635"/>
            </a:xfrm>
            <a:prstGeom prst="rect">
              <a:avLst/>
            </a:prstGeom>
            <a:grpFill/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</p:pic>
        <p:pic>
          <p:nvPicPr>
            <p:cNvPr id="40" name="Grafik 39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359B3D5B-992D-BC60-B584-087983E30709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l="51800" t="87176" r="18633" b="3322"/>
            <a:stretch/>
          </p:blipFill>
          <p:spPr>
            <a:xfrm rot="10800000">
              <a:off x="8346946" y="4920195"/>
              <a:ext cx="1236827" cy="234635"/>
            </a:xfrm>
            <a:prstGeom prst="rect">
              <a:avLst/>
            </a:prstGeom>
            <a:grpFill/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</p:pic>
        <p:pic>
          <p:nvPicPr>
            <p:cNvPr id="41" name="Grafik 40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74C6684A-0224-1EE5-353B-2D25018CBD07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l="45529" t="25750" r="24904" b="64748"/>
            <a:stretch/>
          </p:blipFill>
          <p:spPr>
            <a:xfrm rot="10800000">
              <a:off x="8346946" y="5239961"/>
              <a:ext cx="1236827" cy="234635"/>
            </a:xfrm>
            <a:prstGeom prst="rect">
              <a:avLst/>
            </a:prstGeom>
            <a:grpFill/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</p:pic>
        <p:pic>
          <p:nvPicPr>
            <p:cNvPr id="37" name="Grafik 36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957DE8FF-2353-534E-CC6D-9AA3DE6E9F1C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l="40546" t="39607" r="29887" b="50891"/>
            <a:stretch/>
          </p:blipFill>
          <p:spPr>
            <a:xfrm rot="10800000">
              <a:off x="8346946" y="3960900"/>
              <a:ext cx="1236827" cy="234635"/>
            </a:xfrm>
            <a:prstGeom prst="rect">
              <a:avLst/>
            </a:prstGeom>
            <a:grpFill/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</p:pic>
        <p:pic>
          <p:nvPicPr>
            <p:cNvPr id="38" name="Grafik 37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A1D0040A-EE07-A38C-C06F-B50768E664AF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l="27309" t="14350" r="43124" b="76148"/>
            <a:stretch/>
          </p:blipFill>
          <p:spPr>
            <a:xfrm rot="10800000">
              <a:off x="8346946" y="4280665"/>
              <a:ext cx="1236827" cy="234635"/>
            </a:xfrm>
            <a:prstGeom prst="rect">
              <a:avLst/>
            </a:prstGeom>
            <a:grpFill/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</p:pic>
      </p:grpSp>
      <p:sp>
        <p:nvSpPr>
          <p:cNvPr id="45" name="Rechteck 44">
            <a:extLst>
              <a:ext uri="{FF2B5EF4-FFF2-40B4-BE49-F238E27FC236}">
                <a16:creationId xmlns:a16="http://schemas.microsoft.com/office/drawing/2014/main" id="{AAE370CA-7085-505A-2265-B642E8A962ED}"/>
              </a:ext>
            </a:extLst>
          </p:cNvPr>
          <p:cNvSpPr/>
          <p:nvPr/>
        </p:nvSpPr>
        <p:spPr>
          <a:xfrm>
            <a:off x="7954952" y="3368316"/>
            <a:ext cx="1289866" cy="2251090"/>
          </a:xfrm>
          <a:prstGeom prst="rect">
            <a:avLst/>
          </a:prstGeom>
          <a:solidFill>
            <a:srgbClr val="FFFFFF">
              <a:alpha val="3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BCE403E5-BC72-E803-08E4-4A47921A3EB4}"/>
              </a:ext>
            </a:extLst>
          </p:cNvPr>
          <p:cNvGrpSpPr/>
          <p:nvPr/>
        </p:nvGrpSpPr>
        <p:grpSpPr>
          <a:xfrm>
            <a:off x="7389987" y="3331036"/>
            <a:ext cx="1797385" cy="3093766"/>
            <a:chOff x="7262059" y="3230176"/>
            <a:chExt cx="1797385" cy="3093766"/>
          </a:xfrm>
          <a:effectLst>
            <a:glow rad="63500">
              <a:schemeClr val="bg1">
                <a:alpha val="40000"/>
              </a:schemeClr>
            </a:glow>
          </a:effectLst>
        </p:grpSpPr>
        <p:sp>
          <p:nvSpPr>
            <p:cNvPr id="20" name="Google Shape;177;p8">
              <a:extLst>
                <a:ext uri="{FF2B5EF4-FFF2-40B4-BE49-F238E27FC236}">
                  <a16:creationId xmlns:a16="http://schemas.microsoft.com/office/drawing/2014/main" id="{3FF50C4D-C2C0-30FA-EA27-2B1950EA2BE4}"/>
                </a:ext>
              </a:extLst>
            </p:cNvPr>
            <p:cNvSpPr txBox="1">
              <a:spLocks/>
            </p:cNvSpPr>
            <p:nvPr/>
          </p:nvSpPr>
          <p:spPr>
            <a:xfrm>
              <a:off x="8145044" y="3230176"/>
              <a:ext cx="914400" cy="3093766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  <a:outerShdw blurRad="63500" sx="102000" sy="102000" algn="ctr" rotWithShape="0">
                <a:schemeClr val="bg1">
                  <a:alpha val="79000"/>
                </a:schemeClr>
              </a:outerShdw>
            </a:effectLst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Zeit </a:t>
              </a:r>
              <a:r>
                <a:rPr lang="de-DE" sz="1600" b="1" dirty="0">
                  <a:solidFill>
                    <a:schemeClr val="tx1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Weile</a:t>
              </a:r>
              <a:endParaRPr lang="en-US" sz="1600" b="1" dirty="0">
                <a:solidFill>
                  <a:schemeClr val="tx1"/>
                </a:solidFill>
                <a:latin typeface="Consolas" panose="020B0609020204030204" pitchFamily="49" charset="0"/>
                <a:ea typeface="Arial"/>
                <a:cs typeface="Lucida Sans Unicode" panose="020B0602030504020204" pitchFamily="34" charset="0"/>
                <a:sym typeface="Arial"/>
              </a:endParaRPr>
            </a:p>
            <a:p>
              <a:pPr marL="0" indent="0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en-US" sz="1600" b="1" dirty="0" err="1">
                  <a:solidFill>
                    <a:schemeClr val="tx1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einzig</a:t>
              </a:r>
              <a:endParaRPr lang="en-US" sz="1600" b="1" dirty="0">
                <a:solidFill>
                  <a:schemeClr val="tx1"/>
                </a:solidFill>
                <a:latin typeface="Consolas" panose="020B0609020204030204" pitchFamily="49" charset="0"/>
                <a:ea typeface="Arial"/>
                <a:cs typeface="Lucida Sans Unicode" panose="020B0602030504020204" pitchFamily="34" charset="0"/>
                <a:sym typeface="Arial"/>
              </a:endParaRPr>
            </a:p>
            <a:p>
              <a:pPr marL="0" indent="0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en-US" sz="1600" b="1" dirty="0" err="1">
                  <a:solidFill>
                    <a:schemeClr val="tx1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etwas</a:t>
              </a:r>
              <a:endParaRPr lang="en-US" sz="1600" b="1" dirty="0">
                <a:solidFill>
                  <a:schemeClr val="tx1"/>
                </a:solidFill>
                <a:latin typeface="Consolas" panose="020B0609020204030204" pitchFamily="49" charset="0"/>
                <a:ea typeface="Arial"/>
                <a:cs typeface="Lucida Sans Unicode" panose="020B0602030504020204" pitchFamily="34" charset="0"/>
                <a:sym typeface="Arial"/>
              </a:endParaRPr>
            </a:p>
            <a:p>
              <a:pPr marL="0" indent="0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en-US" sz="1600" b="1" dirty="0" err="1">
                  <a:solidFill>
                    <a:schemeClr val="tx1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ein</a:t>
              </a:r>
              <a:r>
                <a:rPr lang="en-US" sz="1600" b="1" dirty="0">
                  <a:solidFill>
                    <a:schemeClr val="tx1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 Kraft</a:t>
              </a:r>
            </a:p>
            <a:p>
              <a:pPr marL="0" indent="0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dirty="0">
                  <a:solidFill>
                    <a:schemeClr val="tx1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seine</a:t>
              </a:r>
            </a:p>
            <a:p>
              <a:pPr marL="0" indent="0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dirty="0">
                  <a:solidFill>
                    <a:schemeClr val="tx1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…</a:t>
              </a:r>
            </a:p>
            <a:p>
              <a:pPr marL="0" indent="0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dirty="0">
                  <a:solidFill>
                    <a:schemeClr val="tx1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…</a:t>
              </a:r>
            </a:p>
          </p:txBody>
        </p:sp>
        <p:sp>
          <p:nvSpPr>
            <p:cNvPr id="42" name="Google Shape;177;p8">
              <a:extLst>
                <a:ext uri="{FF2B5EF4-FFF2-40B4-BE49-F238E27FC236}">
                  <a16:creationId xmlns:a16="http://schemas.microsoft.com/office/drawing/2014/main" id="{3970DF61-5F1D-06CC-EF63-52C2C60A4BB8}"/>
                </a:ext>
              </a:extLst>
            </p:cNvPr>
            <p:cNvSpPr txBox="1">
              <a:spLocks/>
            </p:cNvSpPr>
            <p:nvPr/>
          </p:nvSpPr>
          <p:spPr>
            <a:xfrm>
              <a:off x="7262059" y="3230176"/>
              <a:ext cx="619587" cy="3093766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  <a:outerShdw blurRad="63500" sx="102000" sy="102000" algn="ctr" rotWithShape="0">
                <a:schemeClr val="bg1">
                  <a:alpha val="79000"/>
                </a:schemeClr>
              </a:outerShdw>
            </a:effectLst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 algn="r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en-US" sz="1600" b="1" dirty="0">
                  <a:solidFill>
                    <a:srgbClr val="003C72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85% </a:t>
              </a:r>
            </a:p>
            <a:p>
              <a:pPr marL="0" indent="0" algn="r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dirty="0">
                  <a:solidFill>
                    <a:srgbClr val="003C72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7%</a:t>
              </a:r>
              <a:endParaRPr lang="en-US" sz="1600" b="1" dirty="0">
                <a:solidFill>
                  <a:srgbClr val="003C72"/>
                </a:solidFill>
                <a:latin typeface="Consolas" panose="020B0609020204030204" pitchFamily="49" charset="0"/>
                <a:ea typeface="Arial"/>
                <a:cs typeface="Lucida Sans Unicode" panose="020B0602030504020204" pitchFamily="34" charset="0"/>
                <a:sym typeface="Arial"/>
              </a:endParaRPr>
            </a:p>
            <a:p>
              <a:pPr marL="0" indent="0" algn="r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en-US" sz="1600" b="1" dirty="0">
                  <a:solidFill>
                    <a:srgbClr val="003C72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4%</a:t>
              </a:r>
            </a:p>
            <a:p>
              <a:pPr marL="0" indent="0" algn="r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en-US" sz="1600" b="1" dirty="0">
                  <a:solidFill>
                    <a:srgbClr val="003C72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2%</a:t>
              </a:r>
            </a:p>
            <a:p>
              <a:pPr marL="0" indent="0" algn="r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en-US" sz="1600" b="1" dirty="0">
                  <a:solidFill>
                    <a:srgbClr val="003C72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0.5% 0.4%</a:t>
              </a:r>
            </a:p>
            <a:p>
              <a:pPr marL="0" indent="0" algn="r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dirty="0">
                  <a:solidFill>
                    <a:srgbClr val="003C72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0.1%</a:t>
              </a:r>
            </a:p>
            <a:p>
              <a:pPr marL="0" indent="0" algn="r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dirty="0">
                  <a:solidFill>
                    <a:srgbClr val="003C72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…</a:t>
              </a:r>
            </a:p>
            <a:p>
              <a:pPr marL="0" indent="0" algn="r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dirty="0">
                  <a:solidFill>
                    <a:srgbClr val="003C72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…</a:t>
              </a:r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27859DE2-D490-428A-7914-46E91BBA433C}"/>
              </a:ext>
            </a:extLst>
          </p:cNvPr>
          <p:cNvSpPr txBox="1"/>
          <p:nvPr/>
        </p:nvSpPr>
        <p:spPr>
          <a:xfrm>
            <a:off x="529268" y="1065253"/>
            <a:ext cx="9193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>
                    <a:lumMod val="50000"/>
                  </a:schemeClr>
                </a:solidFill>
                <a:effectLst/>
                <a:latin typeface="Noto Sans Semibold"/>
              </a:rPr>
              <a:t>7. Inferenz </a:t>
            </a:r>
            <a:r>
              <a:rPr lang="en-US" sz="1800" b="1" i="0" kern="1200" spc="-90" dirty="0" err="1">
                <a:solidFill>
                  <a:srgbClr val="018991"/>
                </a:solidFill>
                <a:effectLst/>
                <a:latin typeface="Noto Sans Semibold"/>
              </a:rPr>
              <a:t>| Start der Textgenerierung</a:t>
            </a:r>
            <a:endParaRPr lang="de-DE" sz="1800" b="1" i="0" kern="1200" spc="-90" dirty="0">
              <a:solidFill>
                <a:srgbClr val="018991"/>
              </a:solidFill>
              <a:effectLst/>
              <a:latin typeface="Noto Sans Semibold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355758-32D5-1F90-347B-91E0E43E0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9269" y="1707834"/>
            <a:ext cx="10860092" cy="1266362"/>
          </a:xfrm>
        </p:spPr>
        <p:txBody>
          <a:bodyPr lIns="0" tIns="0" rIns="0" bIns="0" anchor="t" anchorCtr="0">
            <a:noAutofit/>
          </a:bodyPr>
          <a:lstStyle/>
          <a:p>
            <a:pPr marL="285750" indent="-285750">
              <a:lnSpc>
                <a:spcPct val="13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800" b="1" dirty="0">
                <a:solidFill>
                  <a:srgbClr val="374151"/>
                </a:solidFill>
              </a:rPr>
              <a:t>Für die Vorhersage zählt nur der Ausgangsvektor der letzten Position.</a:t>
            </a: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800" b="1" dirty="0">
                <a:solidFill>
                  <a:srgbClr val="374151"/>
                </a:solidFill>
              </a:rPr>
              <a:t>LayerNorm → LM-Head → Softmax machen daraus eine Verteilung über alle Tokens.</a:t>
            </a: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800" b="1" dirty="0">
                <a:solidFill>
                  <a:srgbClr val="374151"/>
                </a:solidFill>
              </a:rPr>
              <a:t>Daraus wird das nächste Token gewählt (wahrscheinlichstes oder gezogen).</a:t>
            </a:r>
            <a:endParaRPr lang="de-DE" sz="1800" b="1" dirty="0">
              <a:solidFill>
                <a:srgbClr val="CE1719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5DEB7E3-6509-847A-E0F1-BE850CA35228}"/>
              </a:ext>
            </a:extLst>
          </p:cNvPr>
          <p:cNvSpPr/>
          <p:nvPr/>
        </p:nvSpPr>
        <p:spPr>
          <a:xfrm>
            <a:off x="98383" y="5780904"/>
            <a:ext cx="147103" cy="523220"/>
          </a:xfrm>
          <a:prstGeom prst="rect">
            <a:avLst/>
          </a:prstGeom>
          <a:solidFill>
            <a:srgbClr val="FFFFFF">
              <a:alpha val="72941"/>
            </a:srgb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3CB6D6E-1045-1801-DC4B-DDFD9771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3" name="Pfeil: nach rechts 2">
            <a:extLst>
              <a:ext uri="{FF2B5EF4-FFF2-40B4-BE49-F238E27FC236}">
                <a16:creationId xmlns:a16="http://schemas.microsoft.com/office/drawing/2014/main" id="{EF63268B-A58F-7C05-2243-0ACD3514D07D}"/>
              </a:ext>
            </a:extLst>
          </p:cNvPr>
          <p:cNvSpPr/>
          <p:nvPr/>
        </p:nvSpPr>
        <p:spPr>
          <a:xfrm>
            <a:off x="3951974" y="4933180"/>
            <a:ext cx="3385769" cy="599436"/>
          </a:xfrm>
          <a:prstGeom prst="rightArrow">
            <a:avLst>
              <a:gd name="adj1" fmla="val 57585"/>
              <a:gd name="adj2" fmla="val 48207"/>
            </a:avLst>
          </a:prstGeom>
          <a:solidFill>
            <a:srgbClr val="018991">
              <a:alpha val="34902"/>
            </a:srgb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6FA349FC-9B9D-CA91-40F5-F4753CD18FB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7496" t="1512" r="51310" b="87213"/>
          <a:stretch/>
        </p:blipFill>
        <p:spPr>
          <a:xfrm>
            <a:off x="455134" y="4435810"/>
            <a:ext cx="1285665" cy="24656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pic>
        <p:nvPicPr>
          <p:cNvPr id="7" name="Grafik 6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C8E963BD-76B5-4131-99F9-AF879E92DB8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9216" t="25372" r="49590" b="63353"/>
          <a:stretch/>
        </p:blipFill>
        <p:spPr>
          <a:xfrm>
            <a:off x="455135" y="4775564"/>
            <a:ext cx="1285665" cy="24656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pic>
        <p:nvPicPr>
          <p:cNvPr id="9" name="Grafik 8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48AAE478-D30E-40B2-6215-CB22C203474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38762" t="37763" r="30044" b="50962"/>
          <a:stretch/>
        </p:blipFill>
        <p:spPr>
          <a:xfrm rot="10800000">
            <a:off x="455134" y="5115318"/>
            <a:ext cx="1285665" cy="24656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0" name="Google Shape;177;p8">
            <a:extLst>
              <a:ext uri="{FF2B5EF4-FFF2-40B4-BE49-F238E27FC236}">
                <a16:creationId xmlns:a16="http://schemas.microsoft.com/office/drawing/2014/main" id="{332EE6C1-1F35-A4F7-D08A-CEAC71E62280}"/>
              </a:ext>
            </a:extLst>
          </p:cNvPr>
          <p:cNvSpPr txBox="1">
            <a:spLocks/>
          </p:cNvSpPr>
          <p:nvPr/>
        </p:nvSpPr>
        <p:spPr>
          <a:xfrm>
            <a:off x="596129" y="4344679"/>
            <a:ext cx="914400" cy="101720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chemeClr val="bg1">
                <a:alpha val="79000"/>
              </a:schemeClr>
            </a:outerShdw>
          </a:effectLst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 algn="r">
              <a:lnSpc>
                <a:spcPct val="135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Gut</a:t>
            </a:r>
          </a:p>
          <a:p>
            <a:pPr marL="0" indent="0" algn="r">
              <a:lnSpc>
                <a:spcPct val="135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Ding</a:t>
            </a:r>
          </a:p>
          <a:p>
            <a:pPr marL="0" indent="0" algn="r">
              <a:lnSpc>
                <a:spcPct val="135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braucht</a:t>
            </a:r>
            <a:r>
              <a:rPr lang="de-DE" sz="1600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17" name="Tabelle 16">
            <a:extLst>
              <a:ext uri="{FF2B5EF4-FFF2-40B4-BE49-F238E27FC236}">
                <a16:creationId xmlns:a16="http://schemas.microsoft.com/office/drawing/2014/main" id="{EF2802D1-A542-A573-5F39-180ECFCC1968}"/>
              </a:ext>
            </a:extLst>
          </p:cNvPr>
          <p:cNvGraphicFramePr>
            <a:graphicFrameLocks noGrp="1"/>
          </p:cNvGraphicFramePr>
          <p:nvPr/>
        </p:nvGraphicFramePr>
        <p:xfrm>
          <a:off x="2237360" y="4393955"/>
          <a:ext cx="966210" cy="967929"/>
        </p:xfrm>
        <a:graphic>
          <a:graphicData uri="http://schemas.openxmlformats.org/drawingml/2006/table">
            <a:tbl>
              <a:tblPr/>
              <a:tblGrid>
                <a:gridCol w="322070">
                  <a:extLst>
                    <a:ext uri="{9D8B030D-6E8A-4147-A177-3AD203B41FA5}">
                      <a16:colId xmlns:a16="http://schemas.microsoft.com/office/drawing/2014/main" val="2186619292"/>
                    </a:ext>
                  </a:extLst>
                </a:gridCol>
                <a:gridCol w="322070">
                  <a:extLst>
                    <a:ext uri="{9D8B030D-6E8A-4147-A177-3AD203B41FA5}">
                      <a16:colId xmlns:a16="http://schemas.microsoft.com/office/drawing/2014/main" val="702902160"/>
                    </a:ext>
                  </a:extLst>
                </a:gridCol>
                <a:gridCol w="322070">
                  <a:extLst>
                    <a:ext uri="{9D8B030D-6E8A-4147-A177-3AD203B41FA5}">
                      <a16:colId xmlns:a16="http://schemas.microsoft.com/office/drawing/2014/main" val="2463979912"/>
                    </a:ext>
                  </a:extLst>
                </a:gridCol>
              </a:tblGrid>
              <a:tr h="322643">
                <a:tc>
                  <a:txBody>
                    <a:bodyPr/>
                    <a:lstStyle/>
                    <a:p>
                      <a:pPr algn="ctr" fontAlgn="base"/>
                      <a:endParaRPr lang="de-DE" sz="900" dirty="0">
                        <a:solidFill>
                          <a:schemeClr val="bg1"/>
                        </a:solidFill>
                        <a:effectLst/>
                        <a:latin typeface="Noto Sans Semibold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de-DE" sz="900" b="1" dirty="0">
                        <a:solidFill>
                          <a:schemeClr val="bg1"/>
                        </a:solidFill>
                        <a:effectLst/>
                        <a:latin typeface="Noto Sans Semibold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de-DE" sz="900" dirty="0">
                        <a:solidFill>
                          <a:schemeClr val="bg1"/>
                        </a:solidFill>
                        <a:effectLst/>
                        <a:latin typeface="Noto Sans Semibold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2929"/>
                  </a:ext>
                </a:extLst>
              </a:tr>
              <a:tr h="322643">
                <a:tc>
                  <a:txBody>
                    <a:bodyPr/>
                    <a:lstStyle/>
                    <a:p>
                      <a:pPr algn="ctr" fontAlgn="base"/>
                      <a:endParaRPr lang="de-DE" sz="900" dirty="0">
                        <a:solidFill>
                          <a:schemeClr val="bg1"/>
                        </a:solidFill>
                        <a:effectLst/>
                        <a:latin typeface="Noto Sans Semibold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de-DE" sz="900" dirty="0">
                        <a:solidFill>
                          <a:schemeClr val="bg1"/>
                        </a:solidFill>
                        <a:effectLst/>
                        <a:latin typeface="Noto Sans Semibold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de-DE" sz="900" b="1" dirty="0">
                        <a:solidFill>
                          <a:schemeClr val="bg1"/>
                        </a:solidFill>
                        <a:effectLst/>
                        <a:latin typeface="Noto Sans Semibold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307876"/>
                  </a:ext>
                </a:extLst>
              </a:tr>
              <a:tr h="322643">
                <a:tc>
                  <a:txBody>
                    <a:bodyPr/>
                    <a:lstStyle/>
                    <a:p>
                      <a:pPr algn="ctr" fontAlgn="base"/>
                      <a:endParaRPr lang="de-DE" sz="900" dirty="0">
                        <a:solidFill>
                          <a:schemeClr val="bg1"/>
                        </a:solidFill>
                        <a:effectLst/>
                        <a:latin typeface="Noto Sans Semibold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de-DE" sz="900" b="0" i="0" u="none" strike="noStrike" cap="none" dirty="0">
                        <a:solidFill>
                          <a:schemeClr val="bg1"/>
                        </a:solidFill>
                        <a:effectLst/>
                        <a:latin typeface="Noto Sans Semibold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de-DE" sz="900" dirty="0">
                        <a:solidFill>
                          <a:schemeClr val="bg1"/>
                        </a:solidFill>
                        <a:effectLst/>
                        <a:latin typeface="Noto Sans Semibold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789798"/>
                  </a:ext>
                </a:extLst>
              </a:tr>
            </a:tbl>
          </a:graphicData>
        </a:graphic>
      </p:graphicFrame>
      <p:sp>
        <p:nvSpPr>
          <p:cNvPr id="8" name="Google Shape;177;p8">
            <a:extLst>
              <a:ext uri="{FF2B5EF4-FFF2-40B4-BE49-F238E27FC236}">
                <a16:creationId xmlns:a16="http://schemas.microsoft.com/office/drawing/2014/main" id="{37516654-184E-B2C1-024E-7B55E71F64FF}"/>
              </a:ext>
            </a:extLst>
          </p:cNvPr>
          <p:cNvSpPr txBox="1">
            <a:spLocks/>
          </p:cNvSpPr>
          <p:nvPr/>
        </p:nvSpPr>
        <p:spPr>
          <a:xfrm>
            <a:off x="1727657" y="4369034"/>
            <a:ext cx="530078" cy="967929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chemeClr val="bg1">
                <a:alpha val="79000"/>
              </a:schemeClr>
            </a:outerShdw>
          </a:effectLst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 algn="r">
              <a:lnSpc>
                <a:spcPct val="13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rgbClr val="003C72"/>
                </a:solidFill>
                <a:latin typeface="Noto Sans Semibold"/>
                <a:ea typeface="Arial"/>
                <a:cs typeface="Arial"/>
                <a:sym typeface="Arial"/>
              </a:rPr>
              <a:t>Q1</a:t>
            </a:r>
          </a:p>
          <a:p>
            <a:pPr marL="0" indent="0" algn="r">
              <a:lnSpc>
                <a:spcPct val="13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rgbClr val="003C72"/>
                </a:solidFill>
                <a:latin typeface="Noto Sans Semibold"/>
                <a:cs typeface="Arial"/>
                <a:sym typeface="Arial"/>
              </a:rPr>
              <a:t>Q2</a:t>
            </a:r>
          </a:p>
          <a:p>
            <a:pPr marL="0" indent="0" algn="r">
              <a:lnSpc>
                <a:spcPct val="13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rgbClr val="003C72"/>
                </a:solidFill>
                <a:latin typeface="Noto Sans Semibold"/>
                <a:cs typeface="Arial"/>
                <a:sym typeface="Arial"/>
              </a:rPr>
              <a:t>Q3</a:t>
            </a:r>
            <a:endParaRPr lang="en-US" sz="1600" b="1" i="1" dirty="0">
              <a:solidFill>
                <a:srgbClr val="003C72"/>
              </a:solidFill>
              <a:latin typeface="Noto Sans Semibold"/>
            </a:endParaRPr>
          </a:p>
        </p:txBody>
      </p:sp>
      <p:sp>
        <p:nvSpPr>
          <p:cNvPr id="18" name="Google Shape;177;p8">
            <a:extLst>
              <a:ext uri="{FF2B5EF4-FFF2-40B4-BE49-F238E27FC236}">
                <a16:creationId xmlns:a16="http://schemas.microsoft.com/office/drawing/2014/main" id="{C9023707-C0E9-A5EB-86F3-FF2732467F54}"/>
              </a:ext>
            </a:extLst>
          </p:cNvPr>
          <p:cNvSpPr txBox="1">
            <a:spLocks/>
          </p:cNvSpPr>
          <p:nvPr/>
        </p:nvSpPr>
        <p:spPr>
          <a:xfrm rot="5400000">
            <a:off x="2517890" y="3654618"/>
            <a:ext cx="508053" cy="967929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chemeClr val="bg1">
                <a:alpha val="79000"/>
              </a:schemeClr>
            </a:outerShdw>
          </a:effectLst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 algn="r">
              <a:lnSpc>
                <a:spcPct val="13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rgbClr val="CD1619"/>
                </a:solidFill>
                <a:latin typeface="Noto Sans Semibold"/>
                <a:ea typeface="Arial"/>
                <a:cs typeface="Arial"/>
                <a:sym typeface="Arial"/>
              </a:rPr>
              <a:t>K3</a:t>
            </a:r>
          </a:p>
          <a:p>
            <a:pPr marL="0" indent="0" algn="r">
              <a:lnSpc>
                <a:spcPct val="13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rgbClr val="CD1619"/>
                </a:solidFill>
                <a:latin typeface="Noto Sans Semibold"/>
                <a:cs typeface="Arial"/>
                <a:sym typeface="Arial"/>
              </a:rPr>
              <a:t>K2</a:t>
            </a:r>
          </a:p>
          <a:p>
            <a:pPr marL="0" indent="0" algn="r">
              <a:lnSpc>
                <a:spcPct val="13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rgbClr val="CD1619"/>
                </a:solidFill>
                <a:latin typeface="Noto Sans Semibold"/>
                <a:cs typeface="Arial"/>
                <a:sym typeface="Arial"/>
              </a:rPr>
              <a:t>K1</a:t>
            </a:r>
            <a:endParaRPr lang="en-US" sz="1600" b="1" i="1" dirty="0">
              <a:solidFill>
                <a:srgbClr val="CD1619"/>
              </a:solidFill>
              <a:latin typeface="Noto Sans Semibold"/>
            </a:endParaRPr>
          </a:p>
        </p:txBody>
      </p:sp>
      <p:pic>
        <p:nvPicPr>
          <p:cNvPr id="22" name="Grafik 21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E87A6880-3332-8D88-7800-D28BC5A0D788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35557" t="89218" r="34876" b="1280"/>
          <a:stretch/>
        </p:blipFill>
        <p:spPr>
          <a:xfrm rot="10800000">
            <a:off x="4006864" y="4422694"/>
            <a:ext cx="1236827" cy="234635"/>
          </a:xfrm>
          <a:prstGeom prst="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</p:pic>
      <p:pic>
        <p:nvPicPr>
          <p:cNvPr id="23" name="Grafik 22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2E1480AB-EA04-1F9D-A092-76BFD20D9C3B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35557" t="75807" r="34876" b="14691"/>
          <a:stretch/>
        </p:blipFill>
        <p:spPr>
          <a:xfrm rot="10800000">
            <a:off x="4006864" y="4775564"/>
            <a:ext cx="1236827" cy="234635"/>
          </a:xfrm>
          <a:prstGeom prst="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</p:pic>
      <p:pic>
        <p:nvPicPr>
          <p:cNvPr id="24" name="Grafik 23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419322CC-4E8C-236C-C644-C0A1559ED6EF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35557" t="89218" r="34876" b="1280"/>
          <a:stretch/>
        </p:blipFill>
        <p:spPr>
          <a:xfrm rot="10800000">
            <a:off x="4006864" y="5115318"/>
            <a:ext cx="1236827" cy="234635"/>
          </a:xfrm>
          <a:prstGeom prst="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</p:pic>
      <p:sp>
        <p:nvSpPr>
          <p:cNvPr id="26" name="Google Shape;177;p8">
            <a:extLst>
              <a:ext uri="{FF2B5EF4-FFF2-40B4-BE49-F238E27FC236}">
                <a16:creationId xmlns:a16="http://schemas.microsoft.com/office/drawing/2014/main" id="{95B5D211-909A-92B0-F21D-F6A51C53C51A}"/>
              </a:ext>
            </a:extLst>
          </p:cNvPr>
          <p:cNvSpPr txBox="1">
            <a:spLocks/>
          </p:cNvSpPr>
          <p:nvPr/>
        </p:nvSpPr>
        <p:spPr>
          <a:xfrm>
            <a:off x="3148924" y="4369033"/>
            <a:ext cx="816394" cy="967929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chemeClr val="bg1">
                <a:alpha val="79000"/>
              </a:schemeClr>
            </a:outerShdw>
          </a:effectLst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 algn="ctr">
              <a:lnSpc>
                <a:spcPct val="13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rgbClr val="F79E00"/>
                </a:solidFill>
                <a:latin typeface="Noto Sans Semibold"/>
                <a:ea typeface="Arial"/>
                <a:cs typeface="Arial"/>
                <a:sym typeface="Arial"/>
              </a:rPr>
              <a:t>V1</a:t>
            </a:r>
          </a:p>
          <a:p>
            <a:pPr marL="0" indent="0" algn="ctr">
              <a:lnSpc>
                <a:spcPct val="13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dirty="0">
                <a:solidFill>
                  <a:schemeClr val="tx1"/>
                </a:solidFill>
                <a:latin typeface="Noto Sans Semibold"/>
                <a:cs typeface="Arial"/>
                <a:sym typeface="Arial"/>
              </a:rPr>
              <a:t>x</a:t>
            </a:r>
            <a:r>
              <a:rPr lang="de-DE" sz="1600" b="1" i="1" dirty="0">
                <a:solidFill>
                  <a:srgbClr val="F79E00"/>
                </a:solidFill>
                <a:latin typeface="Noto Sans Semibold"/>
                <a:cs typeface="Arial"/>
                <a:sym typeface="Arial"/>
              </a:rPr>
              <a:t> V2 </a:t>
            </a:r>
            <a:r>
              <a:rPr lang="de-DE" sz="1600" b="1" dirty="0">
                <a:solidFill>
                  <a:schemeClr val="tx1"/>
                </a:solidFill>
                <a:latin typeface="Noto Sans Semibold"/>
                <a:cs typeface="Arial"/>
                <a:sym typeface="Arial"/>
              </a:rPr>
              <a:t>=</a:t>
            </a:r>
          </a:p>
          <a:p>
            <a:pPr marL="0" indent="0" algn="ctr">
              <a:lnSpc>
                <a:spcPct val="13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rgbClr val="F79E00"/>
                </a:solidFill>
                <a:latin typeface="Noto Sans Semibold"/>
                <a:cs typeface="Arial"/>
                <a:sym typeface="Arial"/>
              </a:rPr>
              <a:t>V3</a:t>
            </a:r>
            <a:endParaRPr lang="en-US" sz="1600" b="1" i="1" dirty="0">
              <a:solidFill>
                <a:srgbClr val="F79E00"/>
              </a:solidFill>
              <a:latin typeface="Noto Sans Semibold"/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FAB5BA5F-DE8B-6762-B853-32569080DDB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 rot="5400000">
            <a:off x="4740733" y="4528450"/>
            <a:ext cx="2873000" cy="1364616"/>
          </a:xfrm>
          <a:prstGeom prst="rect">
            <a:avLst/>
          </a:prstGeom>
          <a:effectLst>
            <a:outerShdw blurRad="25400" algn="ctr" rotWithShape="0">
              <a:prstClr val="black">
                <a:alpha val="24000"/>
              </a:prstClr>
            </a:outerShdw>
          </a:effectLst>
        </p:spPr>
      </p:pic>
      <p:sp>
        <p:nvSpPr>
          <p:cNvPr id="31" name="Google Shape;200;p10">
            <a:extLst>
              <a:ext uri="{FF2B5EF4-FFF2-40B4-BE49-F238E27FC236}">
                <a16:creationId xmlns:a16="http://schemas.microsoft.com/office/drawing/2014/main" id="{C620D323-A677-FD83-4121-2A37746FB2C3}"/>
              </a:ext>
            </a:extLst>
          </p:cNvPr>
          <p:cNvSpPr/>
          <p:nvPr/>
        </p:nvSpPr>
        <p:spPr>
          <a:xfrm rot="10565515">
            <a:off x="3370823" y="4932762"/>
            <a:ext cx="1438580" cy="1043034"/>
          </a:xfrm>
          <a:prstGeom prst="arc">
            <a:avLst>
              <a:gd name="adj1" fmla="val 10844738"/>
              <a:gd name="adj2" fmla="val 14220809"/>
            </a:avLst>
          </a:prstGeom>
          <a:noFill/>
          <a:ln w="28575" cap="flat" cmpd="sng">
            <a:solidFill>
              <a:srgbClr val="6001AD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567C2FC8-80C1-947B-D3E7-7F811FE0932D}"/>
              </a:ext>
            </a:extLst>
          </p:cNvPr>
          <p:cNvSpPr txBox="1"/>
          <p:nvPr/>
        </p:nvSpPr>
        <p:spPr>
          <a:xfrm rot="21136568">
            <a:off x="1592287" y="5603686"/>
            <a:ext cx="232620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1800" dirty="0">
                <a:solidFill>
                  <a:srgbClr val="6001AD"/>
                </a:solidFill>
                <a:latin typeface="Smash" pitchFamily="2" charset="0"/>
              </a:rPr>
              <a:t>Aktuelles Token …</a:t>
            </a:r>
          </a:p>
        </p:txBody>
      </p:sp>
      <p:sp>
        <p:nvSpPr>
          <p:cNvPr id="33" name="Google Shape;200;p10">
            <a:extLst>
              <a:ext uri="{FF2B5EF4-FFF2-40B4-BE49-F238E27FC236}">
                <a16:creationId xmlns:a16="http://schemas.microsoft.com/office/drawing/2014/main" id="{FEB3730D-B2C5-A3D3-1BC9-366F8421B896}"/>
              </a:ext>
            </a:extLst>
          </p:cNvPr>
          <p:cNvSpPr/>
          <p:nvPr/>
        </p:nvSpPr>
        <p:spPr>
          <a:xfrm rot="11421513" flipH="1">
            <a:off x="1255381" y="4954883"/>
            <a:ext cx="1438580" cy="1043034"/>
          </a:xfrm>
          <a:prstGeom prst="arc">
            <a:avLst>
              <a:gd name="adj1" fmla="val 11103779"/>
              <a:gd name="adj2" fmla="val 14472492"/>
            </a:avLst>
          </a:prstGeom>
          <a:noFill/>
          <a:ln w="28575" cap="flat" cmpd="sng">
            <a:solidFill>
              <a:srgbClr val="6001AD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6EE33767-BBC0-6DEC-4538-A31A674F37D0}"/>
              </a:ext>
            </a:extLst>
          </p:cNvPr>
          <p:cNvSpPr txBox="1"/>
          <p:nvPr/>
        </p:nvSpPr>
        <p:spPr>
          <a:xfrm rot="21136568">
            <a:off x="2248215" y="5859282"/>
            <a:ext cx="258958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1800" dirty="0">
                <a:solidFill>
                  <a:srgbClr val="6001AD"/>
                </a:solidFill>
                <a:latin typeface="Smash" pitchFamily="2" charset="0"/>
              </a:rPr>
              <a:t>… &amp; Repräsentation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25954080-3BE7-65FC-5217-6B8C555CAD92}"/>
              </a:ext>
            </a:extLst>
          </p:cNvPr>
          <p:cNvSpPr txBox="1"/>
          <p:nvPr/>
        </p:nvSpPr>
        <p:spPr>
          <a:xfrm rot="21136568">
            <a:off x="3204364" y="5768694"/>
            <a:ext cx="35573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1800" dirty="0">
                <a:solidFill>
                  <a:srgbClr val="CE1619"/>
                </a:solidFill>
                <a:latin typeface="Smash" pitchFamily="2" charset="0"/>
              </a:rPr>
              <a:t>..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93905973-B650-441E-37CD-5AC528041307}"/>
              </a:ext>
            </a:extLst>
          </p:cNvPr>
          <p:cNvSpPr txBox="1"/>
          <p:nvPr/>
        </p:nvSpPr>
        <p:spPr>
          <a:xfrm rot="21136568">
            <a:off x="3604298" y="3371957"/>
            <a:ext cx="234829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1800" dirty="0" err="1">
                <a:solidFill>
                  <a:srgbClr val="6001AD"/>
                </a:solidFill>
                <a:latin typeface="Smash" pitchFamily="2" charset="0"/>
              </a:rPr>
              <a:t>Blöcke + LM-Head</a:t>
            </a:r>
          </a:p>
        </p:txBody>
      </p:sp>
      <p:sp>
        <p:nvSpPr>
          <p:cNvPr id="78" name="Google Shape;200;p10">
            <a:extLst>
              <a:ext uri="{FF2B5EF4-FFF2-40B4-BE49-F238E27FC236}">
                <a16:creationId xmlns:a16="http://schemas.microsoft.com/office/drawing/2014/main" id="{6AD585CD-C9E7-0A6E-2F92-CFB6594E4B88}"/>
              </a:ext>
            </a:extLst>
          </p:cNvPr>
          <p:cNvSpPr/>
          <p:nvPr/>
        </p:nvSpPr>
        <p:spPr>
          <a:xfrm rot="21348202" flipH="1">
            <a:off x="4814681" y="3404570"/>
            <a:ext cx="1438580" cy="1043034"/>
          </a:xfrm>
          <a:prstGeom prst="arc">
            <a:avLst>
              <a:gd name="adj1" fmla="val 11103779"/>
              <a:gd name="adj2" fmla="val 14472492"/>
            </a:avLst>
          </a:prstGeom>
          <a:noFill/>
          <a:ln w="28575" cap="flat" cmpd="sng">
            <a:solidFill>
              <a:srgbClr val="6001AD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5D41E309-3B20-63F0-318A-85A11F5AEAED}"/>
              </a:ext>
            </a:extLst>
          </p:cNvPr>
          <p:cNvSpPr txBox="1"/>
          <p:nvPr/>
        </p:nvSpPr>
        <p:spPr>
          <a:xfrm rot="21136568">
            <a:off x="6930858" y="6065454"/>
            <a:ext cx="259852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1800" dirty="0">
                <a:solidFill>
                  <a:srgbClr val="6001AD"/>
                </a:solidFill>
                <a:latin typeface="Smash" pitchFamily="2" charset="0"/>
              </a:rPr>
              <a:t>Wahrscheinlichkeiten</a:t>
            </a:r>
          </a:p>
        </p:txBody>
      </p:sp>
      <p:sp>
        <p:nvSpPr>
          <p:cNvPr id="80" name="Google Shape;200;p10">
            <a:extLst>
              <a:ext uri="{FF2B5EF4-FFF2-40B4-BE49-F238E27FC236}">
                <a16:creationId xmlns:a16="http://schemas.microsoft.com/office/drawing/2014/main" id="{627A19CC-EEC6-B2CB-7D92-D7F258249EDE}"/>
              </a:ext>
            </a:extLst>
          </p:cNvPr>
          <p:cNvSpPr/>
          <p:nvPr/>
        </p:nvSpPr>
        <p:spPr>
          <a:xfrm rot="13636408" flipH="1">
            <a:off x="7463971" y="5537929"/>
            <a:ext cx="1438580" cy="1043034"/>
          </a:xfrm>
          <a:prstGeom prst="arc">
            <a:avLst>
              <a:gd name="adj1" fmla="val 11103779"/>
              <a:gd name="adj2" fmla="val 13920190"/>
            </a:avLst>
          </a:prstGeom>
          <a:noFill/>
          <a:ln w="28575" cap="flat" cmpd="sng">
            <a:solidFill>
              <a:srgbClr val="6001AD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pic>
        <p:nvPicPr>
          <p:cNvPr id="81" name="Grafik 80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3EB71149-C3B2-BB27-9488-D38A31863443}"/>
              </a:ext>
            </a:extLst>
          </p:cNvPr>
          <p:cNvPicPr>
            <a:picLocks/>
          </p:cNvPicPr>
          <p:nvPr/>
        </p:nvPicPr>
        <p:blipFill rotWithShape="1">
          <a:blip r:embed="rId3">
            <a:grayscl/>
          </a:blip>
          <a:srcRect l="70029" t="38384" r="404" b="52114"/>
          <a:stretch/>
        </p:blipFill>
        <p:spPr>
          <a:xfrm rot="10800000">
            <a:off x="9736124" y="5121676"/>
            <a:ext cx="1236827" cy="234635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</p:pic>
      <p:sp>
        <p:nvSpPr>
          <p:cNvPr id="82" name="Google Shape;177;p8">
            <a:extLst>
              <a:ext uri="{FF2B5EF4-FFF2-40B4-BE49-F238E27FC236}">
                <a16:creationId xmlns:a16="http://schemas.microsoft.com/office/drawing/2014/main" id="{91664498-EA6D-A9D2-E0A0-050B50BB94C9}"/>
              </a:ext>
            </a:extLst>
          </p:cNvPr>
          <p:cNvSpPr txBox="1">
            <a:spLocks/>
          </p:cNvSpPr>
          <p:nvPr/>
        </p:nvSpPr>
        <p:spPr>
          <a:xfrm>
            <a:off x="10020435" y="5033409"/>
            <a:ext cx="914400" cy="410383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63500" sx="102000" sy="102000" algn="ctr" rotWithShape="0">
              <a:schemeClr val="bg1">
                <a:alpha val="79000"/>
              </a:schemeClr>
            </a:outerShdw>
          </a:effectLst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en-US" sz="1600" b="1" dirty="0">
                <a:solidFill>
                  <a:schemeClr val="tx1"/>
                </a:solidFill>
                <a:latin typeface="Noto Sans Semibold"/>
                <a:ea typeface="Arial"/>
                <a:cs typeface="Lucida Sans Unicode" panose="020B0602030504020204" pitchFamily="34" charset="0"/>
                <a:sym typeface="Arial"/>
              </a:rPr>
              <a:t>Zeit</a:t>
            </a:r>
            <a:endParaRPr lang="de-DE" sz="1600" b="1" dirty="0">
              <a:solidFill>
                <a:schemeClr val="tx1"/>
              </a:solidFill>
              <a:latin typeface="Noto Sans Semibold"/>
              <a:ea typeface="Arial"/>
              <a:cs typeface="Lucida Sans Unicode" panose="020B0602030504020204" pitchFamily="34" charset="0"/>
              <a:sym typeface="Arial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2D6300E-A0ED-1870-C549-96F42894589D}"/>
              </a:ext>
            </a:extLst>
          </p:cNvPr>
          <p:cNvSpPr txBox="1"/>
          <p:nvPr/>
        </p:nvSpPr>
        <p:spPr>
          <a:xfrm>
            <a:off x="710780" y="2785915"/>
            <a:ext cx="57587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chemeClr val="tx1"/>
                </a:solidFill>
                <a:latin typeface="Noto Sans Semibold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Ausprobieren: Lernapp „Transformer-Werkbank“</a:t>
            </a:r>
            <a:endParaRPr lang="de-DE" sz="1600" dirty="0">
              <a:solidFill>
                <a:schemeClr val="tx1"/>
              </a:solidFill>
              <a:latin typeface="Noto Sans Semibold"/>
            </a:endParaRPr>
          </a:p>
        </p:txBody>
      </p: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02257FF7-1E24-7623-61ED-408F27F87F25}"/>
              </a:ext>
            </a:extLst>
          </p:cNvPr>
          <p:cNvCxnSpPr>
            <a:cxnSpLocks/>
          </p:cNvCxnSpPr>
          <p:nvPr/>
        </p:nvCxnSpPr>
        <p:spPr>
          <a:xfrm>
            <a:off x="9230205" y="3556623"/>
            <a:ext cx="505919" cy="1673514"/>
          </a:xfrm>
          <a:prstGeom prst="bentConnector3">
            <a:avLst>
              <a:gd name="adj1" fmla="val 50000"/>
            </a:avLst>
          </a:prstGeom>
          <a:ln w="38100">
            <a:solidFill>
              <a:srgbClr val="00889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6373BA60-C299-A79E-3171-D04C3F3C9D02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</p:spTree>
    <p:extLst>
      <p:ext uri="{BB962C8B-B14F-4D97-AF65-F5344CB8AC3E}">
        <p14:creationId xmlns:p14="http://schemas.microsoft.com/office/powerpoint/2010/main" val="2865082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afik 26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6B0FC273-F7E5-78CC-12C5-D78582EF39AE}"/>
              </a:ext>
            </a:extLst>
          </p:cNvPr>
          <p:cNvPicPr>
            <a:picLocks/>
          </p:cNvPicPr>
          <p:nvPr/>
        </p:nvPicPr>
        <p:blipFill rotWithShape="1">
          <a:blip r:embed="rId3">
            <a:grayscl/>
          </a:blip>
          <a:srcRect l="68421" t="38384" r="404" b="52114"/>
          <a:stretch/>
        </p:blipFill>
        <p:spPr>
          <a:xfrm rot="10800000">
            <a:off x="455131" y="5437957"/>
            <a:ext cx="1285665" cy="246567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F8A19BB0-F2FB-4790-6EDD-9AB55C5B52D1}"/>
              </a:ext>
            </a:extLst>
          </p:cNvPr>
          <p:cNvGrpSpPr/>
          <p:nvPr/>
        </p:nvGrpSpPr>
        <p:grpSpPr>
          <a:xfrm rot="10800000">
            <a:off x="7993378" y="3422230"/>
            <a:ext cx="1236827" cy="2153226"/>
            <a:chOff x="8346946" y="3321370"/>
            <a:chExt cx="1236827" cy="2153226"/>
          </a:xfrm>
          <a:noFill/>
        </p:grpSpPr>
        <p:pic>
          <p:nvPicPr>
            <p:cNvPr id="25" name="Grafik 24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14355B87-14DC-E02A-7C3D-EE1D817F6F47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l="55198" t="50258" r="15235" b="40240"/>
            <a:stretch/>
          </p:blipFill>
          <p:spPr>
            <a:xfrm rot="10800000">
              <a:off x="8346946" y="3321370"/>
              <a:ext cx="1236827" cy="234635"/>
            </a:xfrm>
            <a:prstGeom prst="rect">
              <a:avLst/>
            </a:prstGeom>
            <a:grpFill/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</p:pic>
        <p:pic>
          <p:nvPicPr>
            <p:cNvPr id="36" name="Grafik 35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F66D61DF-485A-E4B8-99A6-7B374D7C215F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l="35557" t="50258" r="34876" b="40240"/>
            <a:stretch/>
          </p:blipFill>
          <p:spPr>
            <a:xfrm rot="10800000">
              <a:off x="8346946" y="3641135"/>
              <a:ext cx="1236827" cy="234635"/>
            </a:xfrm>
            <a:prstGeom prst="rect">
              <a:avLst/>
            </a:prstGeom>
            <a:grpFill/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</p:pic>
        <p:pic>
          <p:nvPicPr>
            <p:cNvPr id="39" name="Grafik 38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04E9F91E-061F-BFF7-9655-409ED9D3FE2A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l="58518" t="2422" r="11915" b="88076"/>
            <a:stretch/>
          </p:blipFill>
          <p:spPr>
            <a:xfrm rot="10800000">
              <a:off x="8346946" y="4600430"/>
              <a:ext cx="1236827" cy="234635"/>
            </a:xfrm>
            <a:prstGeom prst="rect">
              <a:avLst/>
            </a:prstGeom>
            <a:grpFill/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</p:pic>
        <p:pic>
          <p:nvPicPr>
            <p:cNvPr id="40" name="Grafik 39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359B3D5B-992D-BC60-B584-087983E30709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l="51800" t="87176" r="18633" b="3322"/>
            <a:stretch/>
          </p:blipFill>
          <p:spPr>
            <a:xfrm rot="10800000">
              <a:off x="8346946" y="4920195"/>
              <a:ext cx="1236827" cy="234635"/>
            </a:xfrm>
            <a:prstGeom prst="rect">
              <a:avLst/>
            </a:prstGeom>
            <a:grpFill/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</p:pic>
        <p:pic>
          <p:nvPicPr>
            <p:cNvPr id="41" name="Grafik 40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74C6684A-0224-1EE5-353B-2D25018CBD07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l="45529" t="25750" r="24904" b="64748"/>
            <a:stretch/>
          </p:blipFill>
          <p:spPr>
            <a:xfrm rot="10800000">
              <a:off x="8346946" y="5239961"/>
              <a:ext cx="1236827" cy="234635"/>
            </a:xfrm>
            <a:prstGeom prst="rect">
              <a:avLst/>
            </a:prstGeom>
            <a:grpFill/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</p:pic>
        <p:pic>
          <p:nvPicPr>
            <p:cNvPr id="37" name="Grafik 36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957DE8FF-2353-534E-CC6D-9AA3DE6E9F1C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l="40546" t="39607" r="29887" b="50891"/>
            <a:stretch/>
          </p:blipFill>
          <p:spPr>
            <a:xfrm rot="10800000">
              <a:off x="8346946" y="3960900"/>
              <a:ext cx="1236827" cy="234635"/>
            </a:xfrm>
            <a:prstGeom prst="rect">
              <a:avLst/>
            </a:prstGeom>
            <a:grpFill/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</p:pic>
        <p:pic>
          <p:nvPicPr>
            <p:cNvPr id="38" name="Grafik 37" descr="Ein Bild, das Screenshot, Quadrat, Text, Muster enthält.&#10;&#10;Automatisch generierte Beschreibung">
              <a:extLst>
                <a:ext uri="{FF2B5EF4-FFF2-40B4-BE49-F238E27FC236}">
                  <a16:creationId xmlns:a16="http://schemas.microsoft.com/office/drawing/2014/main" id="{A1D0040A-EE07-A38C-C06F-B50768E664AF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l="27309" t="14350" r="43124" b="76148"/>
            <a:stretch/>
          </p:blipFill>
          <p:spPr>
            <a:xfrm rot="10800000">
              <a:off x="8346946" y="4280665"/>
              <a:ext cx="1236827" cy="234635"/>
            </a:xfrm>
            <a:prstGeom prst="rect">
              <a:avLst/>
            </a:prstGeom>
            <a:grpFill/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</p:pic>
      </p:grpSp>
      <p:sp>
        <p:nvSpPr>
          <p:cNvPr id="45" name="Rechteck 44">
            <a:extLst>
              <a:ext uri="{FF2B5EF4-FFF2-40B4-BE49-F238E27FC236}">
                <a16:creationId xmlns:a16="http://schemas.microsoft.com/office/drawing/2014/main" id="{AAE370CA-7085-505A-2265-B642E8A962ED}"/>
              </a:ext>
            </a:extLst>
          </p:cNvPr>
          <p:cNvSpPr/>
          <p:nvPr/>
        </p:nvSpPr>
        <p:spPr>
          <a:xfrm>
            <a:off x="7970765" y="3331036"/>
            <a:ext cx="1289866" cy="2251090"/>
          </a:xfrm>
          <a:prstGeom prst="rect">
            <a:avLst/>
          </a:prstGeom>
          <a:solidFill>
            <a:srgbClr val="FFFFFF">
              <a:alpha val="3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7859DE2-D490-428A-7914-46E91BBA433C}"/>
              </a:ext>
            </a:extLst>
          </p:cNvPr>
          <p:cNvSpPr txBox="1"/>
          <p:nvPr/>
        </p:nvSpPr>
        <p:spPr>
          <a:xfrm>
            <a:off x="529268" y="1065253"/>
            <a:ext cx="9193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>
                    <a:lumMod val="50000"/>
                  </a:schemeClr>
                </a:solidFill>
                <a:effectLst/>
                <a:latin typeface="Noto Sans Semibold"/>
              </a:rPr>
              <a:t>7. Inferenz </a:t>
            </a:r>
            <a:r>
              <a:rPr lang="en-US" sz="1800" b="1" i="0" kern="1200" spc="-90" dirty="0">
                <a:solidFill>
                  <a:srgbClr val="018991"/>
                </a:solidFill>
                <a:effectLst/>
                <a:latin typeface="Noto Sans Semibold"/>
              </a:rPr>
              <a:t>| Autoregression und KV-Cache</a:t>
            </a:r>
            <a:endParaRPr lang="de-DE" sz="1800" b="1" i="0" kern="1200" spc="-90" dirty="0">
              <a:solidFill>
                <a:srgbClr val="018991"/>
              </a:solidFill>
              <a:effectLst/>
              <a:latin typeface="Noto Sans Semibold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355758-32D5-1F90-347B-91E0E43E0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9269" y="1706142"/>
            <a:ext cx="10860092" cy="1252021"/>
          </a:xfrm>
        </p:spPr>
        <p:txBody>
          <a:bodyPr lIns="0" tIns="0" rIns="0" bIns="0" anchor="t" anchorCtr="0">
            <a:noAutofit/>
          </a:bodyPr>
          <a:lstStyle/>
          <a:p>
            <a:pPr marL="285750" indent="-285750">
              <a:lnSpc>
                <a:spcPct val="13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800" b="1" dirty="0">
                <a:solidFill>
                  <a:srgbClr val="374151"/>
                </a:solidFill>
              </a:rPr>
              <a:t>Die neue Tokenfolge ist um ein Token länger als die vorherige.</a:t>
            </a: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800" b="1" dirty="0">
                <a:solidFill>
                  <a:srgbClr val="374151"/>
                </a:solidFill>
              </a:rPr>
              <a:t>Sie wird im nächsten Schritt wieder zur Eingabe des Modells.</a:t>
            </a: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de-DE" sz="1800" b="1" dirty="0">
                <a:solidFill>
                  <a:srgbClr val="374151"/>
                </a:solidFill>
              </a:rPr>
              <a:t>Dieses Prinzip wird als </a:t>
            </a:r>
            <a:r>
              <a:rPr lang="de-DE" sz="1800" b="1" dirty="0">
                <a:solidFill>
                  <a:srgbClr val="6001AD"/>
                </a:solidFill>
              </a:rPr>
              <a:t>"Autoregression" </a:t>
            </a:r>
            <a:r>
              <a:rPr lang="de-DE" sz="1800" b="1" dirty="0">
                <a:solidFill>
                  <a:srgbClr val="374151"/>
                </a:solidFill>
              </a:rPr>
              <a:t>bezeichnet.</a:t>
            </a:r>
            <a:endParaRPr lang="de-DE" sz="1800" b="1" dirty="0">
              <a:solidFill>
                <a:srgbClr val="CE1719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5DEB7E3-6509-847A-E0F1-BE850CA35228}"/>
              </a:ext>
            </a:extLst>
          </p:cNvPr>
          <p:cNvSpPr/>
          <p:nvPr/>
        </p:nvSpPr>
        <p:spPr>
          <a:xfrm>
            <a:off x="98383" y="5780904"/>
            <a:ext cx="147103" cy="523220"/>
          </a:xfrm>
          <a:prstGeom prst="rect">
            <a:avLst/>
          </a:prstGeom>
          <a:solidFill>
            <a:srgbClr val="FFFFFF">
              <a:alpha val="72941"/>
            </a:srgb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Pfeil: nach rechts 2">
            <a:extLst>
              <a:ext uri="{FF2B5EF4-FFF2-40B4-BE49-F238E27FC236}">
                <a16:creationId xmlns:a16="http://schemas.microsoft.com/office/drawing/2014/main" id="{EF63268B-A58F-7C05-2243-0ACD3514D07D}"/>
              </a:ext>
            </a:extLst>
          </p:cNvPr>
          <p:cNvSpPr/>
          <p:nvPr/>
        </p:nvSpPr>
        <p:spPr>
          <a:xfrm>
            <a:off x="3951974" y="4933180"/>
            <a:ext cx="3385769" cy="599436"/>
          </a:xfrm>
          <a:prstGeom prst="rightArrow">
            <a:avLst>
              <a:gd name="adj1" fmla="val 57585"/>
              <a:gd name="adj2" fmla="val 48207"/>
            </a:avLst>
          </a:prstGeom>
          <a:solidFill>
            <a:srgbClr val="018991">
              <a:alpha val="34902"/>
            </a:srgb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Google Shape;177;p8">
            <a:extLst>
              <a:ext uri="{FF2B5EF4-FFF2-40B4-BE49-F238E27FC236}">
                <a16:creationId xmlns:a16="http://schemas.microsoft.com/office/drawing/2014/main" id="{332EE6C1-1F35-A4F7-D08A-CEAC71E62280}"/>
              </a:ext>
            </a:extLst>
          </p:cNvPr>
          <p:cNvSpPr txBox="1">
            <a:spLocks/>
          </p:cNvSpPr>
          <p:nvPr/>
        </p:nvSpPr>
        <p:spPr>
          <a:xfrm>
            <a:off x="472013" y="5341359"/>
            <a:ext cx="914400" cy="396048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chemeClr val="bg1">
                <a:alpha val="79000"/>
              </a:schemeClr>
            </a:outerShdw>
          </a:effectLst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 algn="r">
              <a:lnSpc>
                <a:spcPct val="135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Zeit</a:t>
            </a:r>
            <a:r>
              <a:rPr lang="de-DE" sz="1600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17" name="Tabelle 16">
            <a:extLst>
              <a:ext uri="{FF2B5EF4-FFF2-40B4-BE49-F238E27FC236}">
                <a16:creationId xmlns:a16="http://schemas.microsoft.com/office/drawing/2014/main" id="{EF2802D1-A542-A573-5F39-180ECFCC1968}"/>
              </a:ext>
            </a:extLst>
          </p:cNvPr>
          <p:cNvGraphicFramePr>
            <a:graphicFrameLocks noGrp="1"/>
          </p:cNvGraphicFramePr>
          <p:nvPr/>
        </p:nvGraphicFramePr>
        <p:xfrm>
          <a:off x="2019994" y="4393955"/>
          <a:ext cx="1285668" cy="1290572"/>
        </p:xfrm>
        <a:graphic>
          <a:graphicData uri="http://schemas.openxmlformats.org/drawingml/2006/table">
            <a:tbl>
              <a:tblPr/>
              <a:tblGrid>
                <a:gridCol w="321417">
                  <a:extLst>
                    <a:ext uri="{9D8B030D-6E8A-4147-A177-3AD203B41FA5}">
                      <a16:colId xmlns:a16="http://schemas.microsoft.com/office/drawing/2014/main" val="2186619292"/>
                    </a:ext>
                  </a:extLst>
                </a:gridCol>
                <a:gridCol w="321417">
                  <a:extLst>
                    <a:ext uri="{9D8B030D-6E8A-4147-A177-3AD203B41FA5}">
                      <a16:colId xmlns:a16="http://schemas.microsoft.com/office/drawing/2014/main" val="702902160"/>
                    </a:ext>
                  </a:extLst>
                </a:gridCol>
                <a:gridCol w="321417">
                  <a:extLst>
                    <a:ext uri="{9D8B030D-6E8A-4147-A177-3AD203B41FA5}">
                      <a16:colId xmlns:a16="http://schemas.microsoft.com/office/drawing/2014/main" val="2463979912"/>
                    </a:ext>
                  </a:extLst>
                </a:gridCol>
                <a:gridCol w="321417">
                  <a:extLst>
                    <a:ext uri="{9D8B030D-6E8A-4147-A177-3AD203B41FA5}">
                      <a16:colId xmlns:a16="http://schemas.microsoft.com/office/drawing/2014/main" val="2727288844"/>
                    </a:ext>
                  </a:extLst>
                </a:gridCol>
              </a:tblGrid>
              <a:tr h="322643">
                <a:tc>
                  <a:txBody>
                    <a:bodyPr/>
                    <a:lstStyle/>
                    <a:p>
                      <a:pPr algn="ctr" fontAlgn="base"/>
                      <a:endParaRPr lang="de-DE" sz="900" dirty="0">
                        <a:solidFill>
                          <a:schemeClr val="bg1"/>
                        </a:solidFill>
                        <a:effectLst/>
                        <a:latin typeface="Noto Sans Semibold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de-DE" sz="900" b="1" dirty="0">
                        <a:solidFill>
                          <a:schemeClr val="bg1"/>
                        </a:solidFill>
                        <a:effectLst/>
                        <a:latin typeface="Noto Sans Semibold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de-DE" sz="900" dirty="0">
                        <a:solidFill>
                          <a:schemeClr val="bg1"/>
                        </a:solidFill>
                        <a:effectLst/>
                        <a:latin typeface="Noto Sans Semibold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de-DE" sz="900" dirty="0">
                        <a:solidFill>
                          <a:schemeClr val="bg1"/>
                        </a:solidFill>
                        <a:effectLst/>
                        <a:latin typeface="Noto Sans Semibold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2929"/>
                  </a:ext>
                </a:extLst>
              </a:tr>
              <a:tr h="322643">
                <a:tc>
                  <a:txBody>
                    <a:bodyPr/>
                    <a:lstStyle/>
                    <a:p>
                      <a:pPr algn="ctr" fontAlgn="base"/>
                      <a:endParaRPr lang="de-DE" sz="900" dirty="0">
                        <a:solidFill>
                          <a:schemeClr val="bg1"/>
                        </a:solidFill>
                        <a:effectLst/>
                        <a:latin typeface="Noto Sans Semibold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de-DE" sz="900" dirty="0">
                        <a:solidFill>
                          <a:schemeClr val="bg1"/>
                        </a:solidFill>
                        <a:effectLst/>
                        <a:latin typeface="Noto Sans Semibold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de-DE" sz="900" b="1" dirty="0">
                        <a:solidFill>
                          <a:schemeClr val="bg1"/>
                        </a:solidFill>
                        <a:effectLst/>
                        <a:latin typeface="Noto Sans Semibold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de-DE" sz="900" b="1" dirty="0">
                        <a:solidFill>
                          <a:schemeClr val="bg1"/>
                        </a:solidFill>
                        <a:effectLst/>
                        <a:latin typeface="Noto Sans Semibold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307876"/>
                  </a:ext>
                </a:extLst>
              </a:tr>
              <a:tr h="322643">
                <a:tc>
                  <a:txBody>
                    <a:bodyPr/>
                    <a:lstStyle/>
                    <a:p>
                      <a:pPr algn="ctr" fontAlgn="base"/>
                      <a:endParaRPr lang="de-DE" sz="900" dirty="0">
                        <a:solidFill>
                          <a:schemeClr val="bg1"/>
                        </a:solidFill>
                        <a:effectLst/>
                        <a:latin typeface="Noto Sans Semibold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de-DE" sz="900" b="0" i="0" u="none" strike="noStrike" cap="none" dirty="0">
                        <a:solidFill>
                          <a:schemeClr val="bg1"/>
                        </a:solidFill>
                        <a:effectLst/>
                        <a:latin typeface="Noto Sans Semibold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de-DE" sz="900" dirty="0">
                        <a:solidFill>
                          <a:schemeClr val="bg1"/>
                        </a:solidFill>
                        <a:effectLst/>
                        <a:latin typeface="Noto Sans Semibold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de-DE" sz="900" dirty="0">
                        <a:solidFill>
                          <a:schemeClr val="bg1"/>
                        </a:solidFill>
                        <a:effectLst/>
                        <a:latin typeface="Noto Sans Semibold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789798"/>
                  </a:ext>
                </a:extLst>
              </a:tr>
              <a:tr h="322643">
                <a:tc>
                  <a:txBody>
                    <a:bodyPr/>
                    <a:lstStyle/>
                    <a:p>
                      <a:pPr algn="ctr" fontAlgn="base"/>
                      <a:endParaRPr lang="de-DE" sz="900" dirty="0">
                        <a:solidFill>
                          <a:schemeClr val="bg1"/>
                        </a:solidFill>
                        <a:effectLst/>
                        <a:latin typeface="Noto Sans Semibold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B9927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de-DE" sz="900" b="0" i="0" u="none" strike="noStrike" cap="none" dirty="0">
                        <a:solidFill>
                          <a:schemeClr val="bg1"/>
                        </a:solidFill>
                        <a:effectLst/>
                        <a:latin typeface="Noto Sans Semibold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B992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de-DE" sz="900" dirty="0">
                        <a:solidFill>
                          <a:schemeClr val="bg1"/>
                        </a:solidFill>
                        <a:effectLst/>
                        <a:latin typeface="Noto Sans Semibold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B992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de-DE" sz="900" dirty="0">
                        <a:solidFill>
                          <a:schemeClr val="bg1"/>
                        </a:solidFill>
                        <a:effectLst/>
                        <a:latin typeface="Noto Sans Semibold"/>
                      </a:endParaRPr>
                    </a:p>
                  </a:txBody>
                  <a:tcPr marL="51821" marR="51821" marT="25910" marB="259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B99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840596"/>
                  </a:ext>
                </a:extLst>
              </a:tr>
            </a:tbl>
          </a:graphicData>
        </a:graphic>
      </p:graphicFrame>
      <p:pic>
        <p:nvPicPr>
          <p:cNvPr id="24" name="Grafik 23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419322CC-4E8C-236C-C644-C0A1559ED6EF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56776" t="40073" r="13657" b="50425"/>
          <a:stretch/>
        </p:blipFill>
        <p:spPr>
          <a:xfrm rot="10800000">
            <a:off x="4006864" y="5115318"/>
            <a:ext cx="1236827" cy="234635"/>
          </a:xfrm>
          <a:prstGeom prst="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</p:pic>
      <p:sp>
        <p:nvSpPr>
          <p:cNvPr id="26" name="Google Shape;177;p8">
            <a:extLst>
              <a:ext uri="{FF2B5EF4-FFF2-40B4-BE49-F238E27FC236}">
                <a16:creationId xmlns:a16="http://schemas.microsoft.com/office/drawing/2014/main" id="{95B5D211-909A-92B0-F21D-F6A51C53C51A}"/>
              </a:ext>
            </a:extLst>
          </p:cNvPr>
          <p:cNvSpPr txBox="1">
            <a:spLocks/>
          </p:cNvSpPr>
          <p:nvPr/>
        </p:nvSpPr>
        <p:spPr>
          <a:xfrm>
            <a:off x="3181934" y="5021055"/>
            <a:ext cx="816394" cy="350909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chemeClr val="bg1">
                <a:alpha val="79000"/>
              </a:schemeClr>
            </a:outerShdw>
          </a:effectLst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 algn="ctr">
              <a:lnSpc>
                <a:spcPct val="130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dirty="0">
                <a:solidFill>
                  <a:schemeClr val="tx1"/>
                </a:solidFill>
                <a:latin typeface="Noto Sans Semibold"/>
                <a:cs typeface="Arial"/>
                <a:sym typeface="Arial"/>
              </a:rPr>
              <a:t>x</a:t>
            </a:r>
            <a:r>
              <a:rPr lang="de-DE" sz="1600" b="1" i="1" dirty="0">
                <a:solidFill>
                  <a:srgbClr val="F79E00"/>
                </a:solidFill>
                <a:latin typeface="Noto Sans Semibold"/>
                <a:cs typeface="Arial"/>
                <a:sym typeface="Arial"/>
              </a:rPr>
              <a:t> V </a:t>
            </a:r>
            <a:r>
              <a:rPr lang="de-DE" sz="1600" b="1" dirty="0">
                <a:solidFill>
                  <a:schemeClr val="tx1"/>
                </a:solidFill>
                <a:latin typeface="Noto Sans Semibold"/>
                <a:cs typeface="Arial"/>
                <a:sym typeface="Arial"/>
              </a:rPr>
              <a:t>=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FAB5BA5F-DE8B-6762-B853-32569080DDB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 rot="5400000">
            <a:off x="4740733" y="4528450"/>
            <a:ext cx="2873000" cy="1364616"/>
          </a:xfrm>
          <a:prstGeom prst="rect">
            <a:avLst/>
          </a:prstGeom>
          <a:effectLst>
            <a:outerShdw blurRad="25400" algn="ctr" rotWithShape="0">
              <a:prstClr val="black">
                <a:alpha val="24000"/>
              </a:prstClr>
            </a:outerShdw>
          </a:effectLst>
        </p:spPr>
      </p:pic>
      <p:cxnSp>
        <p:nvCxnSpPr>
          <p:cNvPr id="61" name="Verbinder: gewinkelt 60">
            <a:extLst>
              <a:ext uri="{FF2B5EF4-FFF2-40B4-BE49-F238E27FC236}">
                <a16:creationId xmlns:a16="http://schemas.microsoft.com/office/drawing/2014/main" id="{66EEEE99-778E-00C5-ACC2-110B25D9B962}"/>
              </a:ext>
            </a:extLst>
          </p:cNvPr>
          <p:cNvCxnSpPr>
            <a:cxnSpLocks/>
          </p:cNvCxnSpPr>
          <p:nvPr/>
        </p:nvCxnSpPr>
        <p:spPr>
          <a:xfrm>
            <a:off x="9230205" y="3556623"/>
            <a:ext cx="505919" cy="1673514"/>
          </a:xfrm>
          <a:prstGeom prst="bentConnector3">
            <a:avLst>
              <a:gd name="adj1" fmla="val 50000"/>
            </a:avLst>
          </a:prstGeom>
          <a:ln w="38100">
            <a:solidFill>
              <a:srgbClr val="00889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feld 76">
            <a:extLst>
              <a:ext uri="{FF2B5EF4-FFF2-40B4-BE49-F238E27FC236}">
                <a16:creationId xmlns:a16="http://schemas.microsoft.com/office/drawing/2014/main" id="{93905973-B650-441E-37CD-5AC528041307}"/>
              </a:ext>
            </a:extLst>
          </p:cNvPr>
          <p:cNvSpPr txBox="1"/>
          <p:nvPr/>
        </p:nvSpPr>
        <p:spPr>
          <a:xfrm rot="21136568">
            <a:off x="810298" y="3369130"/>
            <a:ext cx="234829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1800" dirty="0">
                <a:solidFill>
                  <a:srgbClr val="6001AD"/>
                </a:solidFill>
                <a:latin typeface="Smash" pitchFamily="2" charset="0"/>
              </a:rPr>
              <a:t>KV-Cache: K und V bleiben gespeichert</a:t>
            </a:r>
          </a:p>
        </p:txBody>
      </p:sp>
      <p:sp>
        <p:nvSpPr>
          <p:cNvPr id="78" name="Google Shape;200;p10">
            <a:extLst>
              <a:ext uri="{FF2B5EF4-FFF2-40B4-BE49-F238E27FC236}">
                <a16:creationId xmlns:a16="http://schemas.microsoft.com/office/drawing/2014/main" id="{6AD585CD-C9E7-0A6E-2F92-CFB6594E4B88}"/>
              </a:ext>
            </a:extLst>
          </p:cNvPr>
          <p:cNvSpPr/>
          <p:nvPr/>
        </p:nvSpPr>
        <p:spPr>
          <a:xfrm rot="1098157" flipH="1">
            <a:off x="1304239" y="3754773"/>
            <a:ext cx="1438580" cy="1043034"/>
          </a:xfrm>
          <a:prstGeom prst="arc">
            <a:avLst>
              <a:gd name="adj1" fmla="val 11103779"/>
              <a:gd name="adj2" fmla="val 14472492"/>
            </a:avLst>
          </a:prstGeom>
          <a:noFill/>
          <a:ln w="28575" cap="flat" cmpd="sng">
            <a:solidFill>
              <a:srgbClr val="CE1619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21AF0D0E-3073-66C0-1074-F21207C19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3" y="6724033"/>
            <a:ext cx="584931" cy="435308"/>
          </a:xfrm>
        </p:spPr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pic>
        <p:nvPicPr>
          <p:cNvPr id="16" name="Grafik 15" descr="Ein Bild, das Grafiken, Farbigkeit, Grafikdesign, Design enthält.&#10;&#10;Automatisch generierte Beschreibung">
            <a:extLst>
              <a:ext uri="{FF2B5EF4-FFF2-40B4-BE49-F238E27FC236}">
                <a16:creationId xmlns:a16="http://schemas.microsoft.com/office/drawing/2014/main" id="{4B0D414D-082B-FC35-4145-FE3E035EFB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1303" y="4476467"/>
            <a:ext cx="859397" cy="8106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1" name="Google Shape;177;p8">
            <a:extLst>
              <a:ext uri="{FF2B5EF4-FFF2-40B4-BE49-F238E27FC236}">
                <a16:creationId xmlns:a16="http://schemas.microsoft.com/office/drawing/2014/main" id="{A186558B-15FE-6DB5-187E-98BE30F4C7D5}"/>
              </a:ext>
            </a:extLst>
          </p:cNvPr>
          <p:cNvSpPr txBox="1">
            <a:spLocks/>
          </p:cNvSpPr>
          <p:nvPr/>
        </p:nvSpPr>
        <p:spPr>
          <a:xfrm>
            <a:off x="596129" y="4344679"/>
            <a:ext cx="914400" cy="101720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chemeClr val="bg1">
                <a:alpha val="79000"/>
              </a:schemeClr>
            </a:outerShdw>
          </a:effectLst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indent="0" algn="r">
              <a:lnSpc>
                <a:spcPct val="135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Gut</a:t>
            </a:r>
          </a:p>
          <a:p>
            <a:pPr marL="0" indent="0" algn="r">
              <a:lnSpc>
                <a:spcPct val="135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Ding</a:t>
            </a:r>
          </a:p>
          <a:p>
            <a:pPr marL="0" indent="0" algn="r">
              <a:lnSpc>
                <a:spcPct val="135000"/>
              </a:lnSpc>
              <a:spcBef>
                <a:spcPts val="0"/>
              </a:spcBef>
              <a:buSzPts val="2000"/>
              <a:buFont typeface="Noto Sans Symbols"/>
              <a:buNone/>
            </a:pPr>
            <a:r>
              <a:rPr lang="de-DE" sz="1600" b="1" i="1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braucht</a:t>
            </a:r>
            <a:r>
              <a:rPr lang="de-DE" sz="1600" dirty="0">
                <a:solidFill>
                  <a:srgbClr val="202123"/>
                </a:solidFill>
                <a:latin typeface="Noto Sans Semibold"/>
                <a:ea typeface="Arial"/>
                <a:cs typeface="Arial"/>
                <a:sym typeface="Arial"/>
              </a:rPr>
              <a:t> </a:t>
            </a: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5472656E-529B-D4DD-96A1-E1521A895607}"/>
              </a:ext>
            </a:extLst>
          </p:cNvPr>
          <p:cNvGrpSpPr/>
          <p:nvPr/>
        </p:nvGrpSpPr>
        <p:grpSpPr>
          <a:xfrm>
            <a:off x="7386404" y="3331036"/>
            <a:ext cx="1797385" cy="3093766"/>
            <a:chOff x="7262059" y="3230176"/>
            <a:chExt cx="1797385" cy="3093766"/>
          </a:xfrm>
          <a:effectLst>
            <a:glow rad="63500">
              <a:schemeClr val="bg1">
                <a:alpha val="40000"/>
              </a:schemeClr>
            </a:glow>
          </a:effectLst>
        </p:grpSpPr>
        <p:sp>
          <p:nvSpPr>
            <p:cNvPr id="49" name="Google Shape;177;p8">
              <a:extLst>
                <a:ext uri="{FF2B5EF4-FFF2-40B4-BE49-F238E27FC236}">
                  <a16:creationId xmlns:a16="http://schemas.microsoft.com/office/drawing/2014/main" id="{C8E8BB89-64C5-85C3-B57E-4020BE16AA1C}"/>
                </a:ext>
              </a:extLst>
            </p:cNvPr>
            <p:cNvSpPr txBox="1">
              <a:spLocks/>
            </p:cNvSpPr>
            <p:nvPr/>
          </p:nvSpPr>
          <p:spPr>
            <a:xfrm>
              <a:off x="8145044" y="3230176"/>
              <a:ext cx="914400" cy="3093766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  <a:outerShdw blurRad="63500" sx="102000" sy="102000" algn="ctr" rotWithShape="0">
                <a:schemeClr val="bg1">
                  <a:alpha val="79000"/>
                </a:schemeClr>
              </a:outerShdw>
            </a:effectLst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en-US" sz="1600" b="1" dirty="0" err="1">
                  <a:solidFill>
                    <a:schemeClr val="tx1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genug</a:t>
              </a:r>
              <a:r>
                <a:rPr lang="en-US" sz="1600" b="1" dirty="0">
                  <a:solidFill>
                    <a:schemeClr val="tx1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 </a:t>
              </a:r>
              <a:r>
                <a:rPr lang="de-DE" sz="1600" b="1" dirty="0">
                  <a:solidFill>
                    <a:schemeClr val="tx1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zu</a:t>
              </a:r>
              <a:endParaRPr lang="en-US" sz="1600" b="1" dirty="0">
                <a:solidFill>
                  <a:schemeClr val="tx1"/>
                </a:solidFill>
                <a:latin typeface="Consolas" panose="020B0609020204030204" pitchFamily="49" charset="0"/>
                <a:ea typeface="Arial"/>
                <a:cs typeface="Lucida Sans Unicode" panose="020B0602030504020204" pitchFamily="34" charset="0"/>
                <a:sym typeface="Arial"/>
              </a:endParaRPr>
            </a:p>
            <a:p>
              <a:pPr marL="0" indent="0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en-US" sz="1600" b="1" dirty="0" err="1">
                  <a:solidFill>
                    <a:schemeClr val="tx1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weil</a:t>
              </a:r>
              <a:endParaRPr lang="en-US" sz="1600" b="1" dirty="0">
                <a:solidFill>
                  <a:schemeClr val="tx1"/>
                </a:solidFill>
                <a:latin typeface="Consolas" panose="020B0609020204030204" pitchFamily="49" charset="0"/>
                <a:ea typeface="Arial"/>
                <a:cs typeface="Lucida Sans Unicode" panose="020B0602030504020204" pitchFamily="34" charset="0"/>
                <a:sym typeface="Arial"/>
              </a:endParaRPr>
            </a:p>
            <a:p>
              <a:pPr marL="0" indent="0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und</a:t>
              </a:r>
            </a:p>
            <a:p>
              <a:pPr marL="0" indent="0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en-US" sz="1600" b="1" dirty="0" err="1">
                  <a:solidFill>
                    <a:schemeClr val="tx1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obwohl</a:t>
              </a:r>
              <a:r>
                <a:rPr lang="en-US" sz="1600" b="1" dirty="0">
                  <a:solidFill>
                    <a:schemeClr val="tx1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 </a:t>
              </a:r>
              <a:r>
                <a:rPr lang="en-US" sz="1600" b="1" dirty="0" err="1">
                  <a:solidFill>
                    <a:schemeClr val="tx1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nicht</a:t>
              </a:r>
              <a:endParaRPr lang="en-US" sz="1600" b="1" dirty="0">
                <a:solidFill>
                  <a:schemeClr val="tx1"/>
                </a:solidFill>
                <a:latin typeface="Consolas" panose="020B0609020204030204" pitchFamily="49" charset="0"/>
                <a:ea typeface="Arial"/>
                <a:cs typeface="Lucida Sans Unicode" panose="020B0602030504020204" pitchFamily="34" charset="0"/>
                <a:sym typeface="Arial"/>
              </a:endParaRPr>
            </a:p>
            <a:p>
              <a:pPr marL="0" indent="0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dirty="0">
                  <a:solidFill>
                    <a:schemeClr val="tx1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bis</a:t>
              </a:r>
            </a:p>
            <a:p>
              <a:pPr marL="0" indent="0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dirty="0">
                  <a:solidFill>
                    <a:schemeClr val="tx1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…</a:t>
              </a:r>
            </a:p>
            <a:p>
              <a:pPr marL="0" indent="0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dirty="0">
                  <a:solidFill>
                    <a:schemeClr val="tx1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…</a:t>
              </a:r>
            </a:p>
          </p:txBody>
        </p:sp>
        <p:sp>
          <p:nvSpPr>
            <p:cNvPr id="50" name="Google Shape;177;p8">
              <a:extLst>
                <a:ext uri="{FF2B5EF4-FFF2-40B4-BE49-F238E27FC236}">
                  <a16:creationId xmlns:a16="http://schemas.microsoft.com/office/drawing/2014/main" id="{77455987-3BC1-CF5B-792E-9A495A30B056}"/>
                </a:ext>
              </a:extLst>
            </p:cNvPr>
            <p:cNvSpPr txBox="1">
              <a:spLocks/>
            </p:cNvSpPr>
            <p:nvPr/>
          </p:nvSpPr>
          <p:spPr>
            <a:xfrm>
              <a:off x="7262059" y="3230176"/>
              <a:ext cx="619587" cy="3093766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  <a:outerShdw blurRad="63500" sx="102000" sy="102000" algn="ctr" rotWithShape="0">
                <a:schemeClr val="bg1">
                  <a:alpha val="79000"/>
                </a:schemeClr>
              </a:outerShdw>
            </a:effectLst>
          </p:spPr>
          <p:txBody>
            <a:bodyPr spcFirstLastPara="1" wrap="square" lIns="86389" tIns="43183" rIns="86389" bIns="4318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32008" marR="0" lvl="0" indent="-324006" algn="l" rtl="0">
                <a:lnSpc>
                  <a:spcPct val="90000"/>
                </a:lnSpc>
                <a:spcBef>
                  <a:spcPts val="1134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2000" b="0" i="0" u="none" strike="noStrike" cap="none">
                  <a:solidFill>
                    <a:srgbClr val="595959"/>
                  </a:solidFill>
                  <a:latin typeface="Frutiger LT 45 Light" panose="020B0500000000000000" pitchFamily="34" charset="0"/>
                  <a:ea typeface="Corbel"/>
                  <a:cs typeface="Corbel"/>
                  <a:sym typeface="Corbel"/>
                </a:defRPr>
              </a:lvl1pPr>
              <a:lvl2pPr marL="864017" marR="0" lvl="1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8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2pPr>
              <a:lvl3pPr marL="1296025" marR="0" lvl="2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6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3pPr>
              <a:lvl4pPr marL="1728033" marR="0" lvl="3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4pPr>
              <a:lvl5pPr marL="2160041" marR="0" lvl="4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5pPr>
              <a:lvl6pPr marL="2592050" marR="0" lvl="5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6pPr>
              <a:lvl7pPr marL="3024058" marR="0" lvl="6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7pPr>
              <a:lvl8pPr marL="3456066" marR="0" lvl="7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8pPr>
              <a:lvl9pPr marL="3888075" marR="0" lvl="8" indent="-324006" algn="l" rtl="0">
                <a:lnSpc>
                  <a:spcPct val="90000"/>
                </a:lnSpc>
                <a:spcBef>
                  <a:spcPts val="236"/>
                </a:spcBef>
                <a:spcAft>
                  <a:spcPts val="236"/>
                </a:spcAft>
                <a:buClr>
                  <a:schemeClr val="accent1"/>
                </a:buClr>
                <a:buSzPts val="1800"/>
                <a:buFont typeface="Noto Sans Symbols"/>
                <a:buChar char="●"/>
                <a:defRPr sz="1400" b="0" i="0" u="none" strike="noStrike" cap="none">
                  <a:solidFill>
                    <a:srgbClr val="595959"/>
                  </a:solidFill>
                  <a:latin typeface="Corbel"/>
                  <a:ea typeface="Corbel"/>
                  <a:cs typeface="Corbel"/>
                  <a:sym typeface="Corbel"/>
                </a:defRPr>
              </a:lvl9pPr>
            </a:lstStyle>
            <a:p>
              <a:pPr marL="0" indent="0" algn="r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en-US" sz="1600" b="1" dirty="0">
                  <a:solidFill>
                    <a:srgbClr val="003C72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89% </a:t>
              </a:r>
            </a:p>
            <a:p>
              <a:pPr marL="0" indent="0" algn="r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dirty="0">
                  <a:solidFill>
                    <a:srgbClr val="003C72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5%</a:t>
              </a:r>
              <a:endParaRPr lang="en-US" sz="1600" b="1" dirty="0">
                <a:solidFill>
                  <a:srgbClr val="003C72"/>
                </a:solidFill>
                <a:latin typeface="Consolas" panose="020B0609020204030204" pitchFamily="49" charset="0"/>
                <a:ea typeface="Arial"/>
                <a:cs typeface="Lucida Sans Unicode" panose="020B0602030504020204" pitchFamily="34" charset="0"/>
                <a:sym typeface="Arial"/>
              </a:endParaRPr>
            </a:p>
            <a:p>
              <a:pPr marL="0" indent="0" algn="r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en-US" sz="1600" b="1" dirty="0">
                  <a:solidFill>
                    <a:srgbClr val="003C72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3%</a:t>
              </a:r>
            </a:p>
            <a:p>
              <a:pPr marL="0" indent="0" algn="r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en-US" sz="1600" b="1" dirty="0">
                  <a:solidFill>
                    <a:srgbClr val="003C72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1%</a:t>
              </a:r>
            </a:p>
            <a:p>
              <a:pPr marL="0" indent="0" algn="r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en-US" sz="1600" b="1" dirty="0">
                  <a:solidFill>
                    <a:srgbClr val="003C72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0.9% 0.2%</a:t>
              </a:r>
            </a:p>
            <a:p>
              <a:pPr marL="0" indent="0" algn="r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dirty="0">
                  <a:solidFill>
                    <a:srgbClr val="003C72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0.1%</a:t>
              </a:r>
            </a:p>
            <a:p>
              <a:pPr marL="0" indent="0" algn="r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dirty="0">
                  <a:solidFill>
                    <a:srgbClr val="003C72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…</a:t>
              </a:r>
            </a:p>
            <a:p>
              <a:pPr marL="0" indent="0" algn="r">
                <a:lnSpc>
                  <a:spcPct val="130000"/>
                </a:lnSpc>
                <a:spcBef>
                  <a:spcPts val="0"/>
                </a:spcBef>
                <a:buSzPts val="2000"/>
                <a:buFont typeface="Noto Sans Symbols"/>
                <a:buNone/>
              </a:pPr>
              <a:r>
                <a:rPr lang="de-DE" sz="1600" b="1" dirty="0">
                  <a:solidFill>
                    <a:srgbClr val="003C72"/>
                  </a:solidFill>
                  <a:latin typeface="Consolas" panose="020B0609020204030204" pitchFamily="49" charset="0"/>
                  <a:ea typeface="Arial"/>
                  <a:cs typeface="Lucida Sans Unicode" panose="020B0602030504020204" pitchFamily="34" charset="0"/>
                  <a:sym typeface="Arial"/>
                </a:rPr>
                <a:t>…</a:t>
              </a:r>
            </a:p>
          </p:txBody>
        </p:sp>
      </p:grpSp>
      <p:pic>
        <p:nvPicPr>
          <p:cNvPr id="56" name="Grafik 55" descr="Ein Bild, das Screenshot, Quadrat, Text, Muster enthält.&#10;&#10;Automatisch generierte Beschreibung">
            <a:extLst>
              <a:ext uri="{FF2B5EF4-FFF2-40B4-BE49-F238E27FC236}">
                <a16:creationId xmlns:a16="http://schemas.microsoft.com/office/drawing/2014/main" id="{7EDA52DF-1187-E17D-3568-F70B9AE31533}"/>
              </a:ext>
            </a:extLst>
          </p:cNvPr>
          <p:cNvPicPr>
            <a:picLocks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5529" t="25750" r="24904" b="64748"/>
          <a:stretch/>
        </p:blipFill>
        <p:spPr>
          <a:xfrm>
            <a:off x="9736124" y="5127249"/>
            <a:ext cx="1236827" cy="234635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</p:pic>
      <p:pic>
        <p:nvPicPr>
          <p:cNvPr id="69" name="Grafik 68">
            <a:extLst>
              <a:ext uri="{FF2B5EF4-FFF2-40B4-BE49-F238E27FC236}">
                <a16:creationId xmlns:a16="http://schemas.microsoft.com/office/drawing/2014/main" id="{0611752C-2BD2-4E8D-8B7C-E3C8026094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5623" y="4829725"/>
            <a:ext cx="1268078" cy="762066"/>
          </a:xfrm>
          <a:prstGeom prst="rect">
            <a:avLst/>
          </a:prstGeom>
          <a:effectLst>
            <a:glow rad="50800">
              <a:schemeClr val="bg1">
                <a:alpha val="73000"/>
              </a:schemeClr>
            </a:glow>
          </a:effectLst>
        </p:spPr>
      </p:pic>
      <p:sp>
        <p:nvSpPr>
          <p:cNvPr id="70" name="Google Shape;200;p10">
            <a:extLst>
              <a:ext uri="{FF2B5EF4-FFF2-40B4-BE49-F238E27FC236}">
                <a16:creationId xmlns:a16="http://schemas.microsoft.com/office/drawing/2014/main" id="{DCD65869-F14A-CDFE-A350-F12A73FFC238}"/>
              </a:ext>
            </a:extLst>
          </p:cNvPr>
          <p:cNvSpPr/>
          <p:nvPr/>
        </p:nvSpPr>
        <p:spPr>
          <a:xfrm rot="5400000" flipH="1">
            <a:off x="4437235" y="795172"/>
            <a:ext cx="2570007" cy="9337819"/>
          </a:xfrm>
          <a:prstGeom prst="arc">
            <a:avLst>
              <a:gd name="adj1" fmla="val 5637740"/>
              <a:gd name="adj2" fmla="val 16193351"/>
            </a:avLst>
          </a:prstGeom>
          <a:noFill/>
          <a:ln w="38100" cap="flat" cmpd="sng">
            <a:solidFill>
              <a:srgbClr val="008891"/>
            </a:solidFill>
            <a:prstDash val="solid"/>
            <a:round/>
            <a:headEnd type="triangle" w="lg" len="lg"/>
            <a:tailEnd type="none" w="med" len="med"/>
          </a:ln>
        </p:spPr>
        <p:txBody>
          <a:bodyPr spcFirstLastPara="1" wrap="square" lIns="86389" tIns="43183" rIns="86389" bIns="43183" anchor="ctr" anchorCtr="0">
            <a:noAutofit/>
          </a:bodyPr>
          <a:lstStyle/>
          <a:p>
            <a:pPr algn="ctr"/>
            <a:endParaRPr sz="1701" dirty="0">
              <a:solidFill>
                <a:srgbClr val="CE1619"/>
              </a:solidFill>
              <a:latin typeface="Noto Sans Semibold"/>
              <a:ea typeface="Corbel"/>
              <a:cs typeface="Corbel"/>
              <a:sym typeface="Corbel"/>
            </a:endParaRP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125E0288-7058-874B-080F-BFD181134C1A}"/>
              </a:ext>
            </a:extLst>
          </p:cNvPr>
          <p:cNvSpPr txBox="1"/>
          <p:nvPr/>
        </p:nvSpPr>
        <p:spPr>
          <a:xfrm rot="460558">
            <a:off x="2634155" y="6309876"/>
            <a:ext cx="234829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1800" dirty="0">
                <a:solidFill>
                  <a:srgbClr val="008891"/>
                </a:solidFill>
                <a:latin typeface="Smash" pitchFamily="2" charset="0"/>
              </a:rPr>
              <a:t>Neues Token wird zur Eingabe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6BED742-6A1D-0717-6CAE-33DCC6BD6E83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2000" y="6893999"/>
            <a:ext cx="10620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KV-Cache: Für das neue Token wird nur seine Zeile berechnet; Keys und Values früherer Tokens werden wiederverwendet (Pope et al. 2022). GuppyLM rechnet ohne Cache jedes Mal neu.</a:t>
            </a:r>
          </a:p>
        </p:txBody>
      </p:sp>
    </p:spTree>
    <p:extLst>
      <p:ext uri="{BB962C8B-B14F-4D97-AF65-F5344CB8AC3E}">
        <p14:creationId xmlns:p14="http://schemas.microsoft.com/office/powerpoint/2010/main" val="38193435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7. Inferenz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Wie wird das nächste Token gewählt?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Formel 5"/>
              <p:cNvSpPr txBox="1"/>
              <p:nvPr/>
            </p:nvSpPr>
            <p:spPr>
              <a:xfrm>
                <a:off x="1540116" y="1764000"/>
                <a:ext cx="2895768" cy="65074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de-DE" sz="20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sz="20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0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b>
                                  <m:r>
                                    <a:rPr lang="de-DE" sz="20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de-DE" sz="20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de-DE" sz="20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0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de-DE" sz="20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de-DE" sz="20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e>
                          </m:nary>
                          <m:d>
                            <m:dPr>
                              <m:ctrlP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0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de-DE" sz="20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20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de-DE" sz="2000" i="0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de-DE" sz="20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de-DE" sz="20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de-DE" sz="2000" dirty="0"/>
              </a:p>
            </p:txBody>
          </p:sp>
        </mc:Choice>
        <mc:Fallback>
          <p:sp>
            <p:nvSpPr>
              <p:cNvPr id="5" name="Formel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116" y="1764000"/>
                <a:ext cx="2895768" cy="650748"/>
              </a:xfrm>
              <a:prstGeom prst="rect">
                <a:avLst/>
              </a:prstGeom>
              <a:blipFill>
                <a:blip r:embed="rId3"/>
                <a:stretch>
                  <a:fillRect l="-1310" t="-26415" b="-11509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33874" y="2560537"/>
                <a:ext cx="9779469" cy="100668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285750" indent="-285750">
                  <a:lnSpc>
                    <a:spcPct val="110000"/>
                  </a:lnSpc>
                  <a:buBlip>
                    <a:blip r:embed="rId4"/>
                  </a:buBlip>
                </a:pPr>
                <a:r>
                  <a:rPr sz="1500" b="1" dirty="0" err="1">
                    <a:solidFill>
                      <a:srgbClr val="374151"/>
                    </a:solidFill>
                  </a:rPr>
                  <a:t>Temperatur</a:t>
                </a:r>
                <a:r>
                  <a:rPr sz="1500" b="1" dirty="0">
                    <a:solidFill>
                      <a:srgbClr val="37415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de-DE" sz="1600" i="1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sz="1500" b="1" dirty="0">
                    <a:solidFill>
                      <a:srgbClr val="374151"/>
                    </a:solidFill>
                  </a:rPr>
                  <a:t> = 0: immer das </a:t>
                </a:r>
                <a:r>
                  <a:rPr sz="1500" b="1" dirty="0" err="1">
                    <a:solidFill>
                      <a:srgbClr val="374151"/>
                    </a:solidFill>
                  </a:rPr>
                  <a:t>wahrscheinlichste</a:t>
                </a:r>
                <a:r>
                  <a:rPr sz="1500" b="1" dirty="0">
                    <a:solidFill>
                      <a:srgbClr val="374151"/>
                    </a:solidFill>
                  </a:rPr>
                  <a:t> Token (greedy).</a:t>
                </a:r>
              </a:p>
              <a:p>
                <a:pPr marL="285750" indent="-285750">
                  <a:lnSpc>
                    <a:spcPct val="110000"/>
                  </a:lnSpc>
                  <a:buBlip>
                    <a:blip r:embed="rId4"/>
                  </a:buBlip>
                </a:pPr>
                <a:r>
                  <a:rPr sz="1500" b="1" dirty="0">
                    <a:solidFill>
                      <a:srgbClr val="374151"/>
                    </a:solidFill>
                  </a:rPr>
                  <a:t>T &lt; 1: </a:t>
                </a:r>
                <a:r>
                  <a:rPr sz="1500" b="1" dirty="0" err="1">
                    <a:solidFill>
                      <a:srgbClr val="374151"/>
                    </a:solidFill>
                  </a:rPr>
                  <a:t>Verteilung</a:t>
                </a:r>
                <a:r>
                  <a:rPr sz="1500" b="1" dirty="0">
                    <a:solidFill>
                      <a:srgbClr val="374151"/>
                    </a:solidFill>
                  </a:rPr>
                  <a:t> spitzer, </a:t>
                </a:r>
                <a:r>
                  <a:rPr sz="1500" b="1" dirty="0" err="1">
                    <a:solidFill>
                      <a:srgbClr val="374151"/>
                    </a:solidFill>
                  </a:rPr>
                  <a:t>vorhersagbarer</a:t>
                </a:r>
                <a:r>
                  <a:rPr sz="1500" b="1" dirty="0">
                    <a:solidFill>
                      <a:srgbClr val="374151"/>
                    </a:solidFill>
                  </a:rPr>
                  <a:t>; T &gt; 1: </a:t>
                </a:r>
                <a:r>
                  <a:rPr sz="1500" b="1" dirty="0" err="1">
                    <a:solidFill>
                      <a:srgbClr val="374151"/>
                    </a:solidFill>
                  </a:rPr>
                  <a:t>flacher</a:t>
                </a:r>
                <a:r>
                  <a:rPr sz="1500" b="1" dirty="0">
                    <a:solidFill>
                      <a:srgbClr val="374151"/>
                    </a:solidFill>
                  </a:rPr>
                  <a:t>, </a:t>
                </a:r>
                <a:r>
                  <a:rPr sz="1500" b="1" dirty="0" err="1">
                    <a:solidFill>
                      <a:srgbClr val="374151"/>
                    </a:solidFill>
                  </a:rPr>
                  <a:t>abwechslungsreicher</a:t>
                </a:r>
                <a:r>
                  <a:rPr sz="1500" b="1" dirty="0">
                    <a:solidFill>
                      <a:srgbClr val="374151"/>
                    </a:solidFill>
                  </a:rPr>
                  <a:t> bis </a:t>
                </a:r>
                <a:r>
                  <a:rPr sz="1500" b="1" dirty="0" err="1">
                    <a:solidFill>
                      <a:srgbClr val="374151"/>
                    </a:solidFill>
                  </a:rPr>
                  <a:t>wirr</a:t>
                </a:r>
                <a:r>
                  <a:rPr sz="1500" b="1" dirty="0">
                    <a:solidFill>
                      <a:srgbClr val="374151"/>
                    </a:solidFill>
                  </a:rPr>
                  <a:t>.</a:t>
                </a:r>
              </a:p>
              <a:p>
                <a:pPr marL="285750" indent="-285750">
                  <a:lnSpc>
                    <a:spcPct val="110000"/>
                  </a:lnSpc>
                  <a:buBlip>
                    <a:blip r:embed="rId4"/>
                  </a:buBlip>
                </a:pPr>
                <a:r>
                  <a:rPr sz="1500" b="1" dirty="0">
                    <a:solidFill>
                      <a:srgbClr val="374151"/>
                    </a:solidFill>
                  </a:rPr>
                  <a:t>top-k: </a:t>
                </a:r>
                <a:r>
                  <a:rPr sz="1500" b="1" dirty="0" err="1">
                    <a:solidFill>
                      <a:srgbClr val="374151"/>
                    </a:solidFill>
                  </a:rPr>
                  <a:t>nur</a:t>
                </a:r>
                <a:r>
                  <a:rPr sz="1500" b="1" dirty="0">
                    <a:solidFill>
                      <a:srgbClr val="374151"/>
                    </a:solidFill>
                  </a:rPr>
                  <a:t> die k </a:t>
                </a:r>
                <a:r>
                  <a:rPr sz="1500" b="1" dirty="0" err="1">
                    <a:solidFill>
                      <a:srgbClr val="374151"/>
                    </a:solidFill>
                  </a:rPr>
                  <a:t>wahrscheinlichsten</a:t>
                </a:r>
                <a:r>
                  <a:rPr sz="1500" b="1" dirty="0">
                    <a:solidFill>
                      <a:srgbClr val="374151"/>
                    </a:solidFill>
                  </a:rPr>
                  <a:t> Tokens </a:t>
                </a:r>
                <a:r>
                  <a:rPr sz="1500" b="1" dirty="0" err="1">
                    <a:solidFill>
                      <a:srgbClr val="374151"/>
                    </a:solidFill>
                  </a:rPr>
                  <a:t>bleiben</a:t>
                </a:r>
                <a:r>
                  <a:rPr sz="1500" b="1" dirty="0">
                    <a:solidFill>
                      <a:srgbClr val="374151"/>
                    </a:solidFill>
                  </a:rPr>
                  <a:t> </a:t>
                </a:r>
                <a:r>
                  <a:rPr sz="1500" b="1" dirty="0" err="1">
                    <a:solidFill>
                      <a:srgbClr val="374151"/>
                    </a:solidFill>
                  </a:rPr>
                  <a:t>im</a:t>
                </a:r>
                <a:r>
                  <a:rPr sz="1500" b="1" dirty="0">
                    <a:solidFill>
                      <a:srgbClr val="374151"/>
                    </a:solidFill>
                  </a:rPr>
                  <a:t> Rennen.</a:t>
                </a:r>
              </a:p>
              <a:p>
                <a:pPr marL="285750" indent="-285750">
                  <a:lnSpc>
                    <a:spcPct val="110000"/>
                  </a:lnSpc>
                  <a:buBlip>
                    <a:blip r:embed="rId4"/>
                  </a:buBlip>
                </a:pPr>
                <a:r>
                  <a:rPr sz="1500" b="1" dirty="0">
                    <a:solidFill>
                      <a:srgbClr val="374151"/>
                    </a:solidFill>
                  </a:rPr>
                  <a:t>Stopp </a:t>
                </a:r>
                <a:r>
                  <a:rPr sz="1500" b="1" dirty="0" err="1">
                    <a:solidFill>
                      <a:srgbClr val="374151"/>
                    </a:solidFill>
                  </a:rPr>
                  <a:t>beim</a:t>
                </a:r>
                <a:r>
                  <a:rPr sz="1500" b="1" dirty="0">
                    <a:solidFill>
                      <a:srgbClr val="374151"/>
                    </a:solidFill>
                  </a:rPr>
                  <a:t> </a:t>
                </a:r>
                <a:r>
                  <a:rPr sz="1500" b="1" dirty="0" err="1">
                    <a:solidFill>
                      <a:srgbClr val="374151"/>
                    </a:solidFill>
                  </a:rPr>
                  <a:t>Endtoken</a:t>
                </a:r>
                <a:r>
                  <a:rPr sz="1500" b="1" dirty="0">
                    <a:solidFill>
                      <a:srgbClr val="374151"/>
                    </a:solidFill>
                  </a:rPr>
                  <a:t>, </a:t>
                </a:r>
                <a:r>
                  <a:rPr sz="1500" b="1" dirty="0" err="1">
                    <a:solidFill>
                      <a:srgbClr val="374151"/>
                    </a:solidFill>
                  </a:rPr>
                  <a:t>beim</a:t>
                </a:r>
                <a:r>
                  <a:rPr sz="1500" b="1" dirty="0">
                    <a:solidFill>
                      <a:srgbClr val="374151"/>
                    </a:solidFill>
                  </a:rPr>
                  <a:t> </a:t>
                </a:r>
                <a:r>
                  <a:rPr sz="1500" b="1" dirty="0" err="1">
                    <a:solidFill>
                      <a:srgbClr val="374151"/>
                    </a:solidFill>
                  </a:rPr>
                  <a:t>Tokenlimit</a:t>
                </a:r>
                <a:r>
                  <a:rPr sz="1500" b="1" dirty="0">
                    <a:solidFill>
                      <a:srgbClr val="374151"/>
                    </a:solidFill>
                  </a:rPr>
                  <a:t> </a:t>
                </a:r>
                <a:r>
                  <a:rPr sz="1500" b="1" dirty="0" err="1">
                    <a:solidFill>
                      <a:srgbClr val="374151"/>
                    </a:solidFill>
                  </a:rPr>
                  <a:t>oder</a:t>
                </a:r>
                <a:r>
                  <a:rPr sz="1500" b="1" dirty="0">
                    <a:solidFill>
                      <a:srgbClr val="374151"/>
                    </a:solidFill>
                  </a:rPr>
                  <a:t> an der </a:t>
                </a:r>
                <a:r>
                  <a:rPr sz="1500" b="1" dirty="0" err="1">
                    <a:solidFill>
                      <a:srgbClr val="374151"/>
                    </a:solidFill>
                  </a:rPr>
                  <a:t>Kontextgrenze</a:t>
                </a:r>
                <a:r>
                  <a:rPr sz="1500" b="1" dirty="0">
                    <a:solidFill>
                      <a:srgbClr val="37415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74" y="2560537"/>
                <a:ext cx="9779469" cy="1006686"/>
              </a:xfrm>
              <a:prstGeom prst="rect">
                <a:avLst/>
              </a:prstGeom>
              <a:blipFill>
                <a:blip r:embed="rId5"/>
                <a:stretch>
                  <a:fillRect l="-130" t="-6250" b="-10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048000" y="1764000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6001AD"/>
                </a:solidFill>
              </a:rPr>
              <a:t>GuppyLM, Frage „hello guppy“, top-k 50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350261"/>
              </p:ext>
            </p:extLst>
          </p:nvPr>
        </p:nvGraphicFramePr>
        <p:xfrm>
          <a:off x="3808170" y="4381831"/>
          <a:ext cx="6862648" cy="218221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84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8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44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374151"/>
                          </a:solidFill>
                        </a:rPr>
                        <a:t>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dirty="0" err="1">
                          <a:solidFill>
                            <a:srgbClr val="374151"/>
                          </a:solidFill>
                        </a:rPr>
                        <a:t>Antwort</a:t>
                      </a:r>
                      <a:r>
                        <a:rPr sz="1500" b="1" dirty="0">
                          <a:solidFill>
                            <a:srgbClr val="374151"/>
                          </a:solidFill>
                        </a:rPr>
                        <a:t> (Notebook-Ausgabe)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44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374151"/>
                          </a:solidFill>
                        </a:rPr>
                        <a:t>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374151"/>
                          </a:solidFill>
                        </a:rPr>
                        <a:t>hi there. </a:t>
                      </a:r>
                      <a:r>
                        <a:rPr sz="1500" dirty="0" err="1">
                          <a:solidFill>
                            <a:srgbClr val="374151"/>
                          </a:solidFill>
                        </a:rPr>
                        <a:t>i</a:t>
                      </a:r>
                      <a:r>
                        <a:rPr sz="1500" dirty="0">
                          <a:solidFill>
                            <a:srgbClr val="374151"/>
                          </a:solidFill>
                        </a:rPr>
                        <a:t> just found a nice spot in my favorite spot.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44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374151"/>
                          </a:solidFill>
                        </a:rPr>
                        <a:t>0,7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374151"/>
                          </a:solidFill>
                        </a:rPr>
                        <a:t>hi there. did you bring the red flakes.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44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374151"/>
                          </a:solidFill>
                        </a:rPr>
                        <a:t>0,7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374151"/>
                          </a:solidFill>
                        </a:rPr>
                        <a:t>hi there. i just found a nice spot near the bottom.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44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374151"/>
                          </a:solidFill>
                        </a:rPr>
                        <a:t>1,5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374151"/>
                          </a:solidFill>
                        </a:rPr>
                        <a:t>hi there. did you bring freeze dried worms. the bubbles feels nice.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08234" y="3934859"/>
            <a:ext cx="6608981" cy="2104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 dirty="0">
                <a:solidFill>
                  <a:srgbClr val="374151"/>
                </a:solidFill>
              </a:rPr>
              <a:t>Bei T &gt; 0 </a:t>
            </a:r>
            <a:r>
              <a:rPr sz="1300" b="0" dirty="0" err="1">
                <a:solidFill>
                  <a:srgbClr val="374151"/>
                </a:solidFill>
              </a:rPr>
              <a:t>wird</a:t>
            </a:r>
            <a:r>
              <a:rPr sz="1300" b="0" dirty="0">
                <a:solidFill>
                  <a:srgbClr val="374151"/>
                </a:solidFill>
              </a:rPr>
              <a:t> </a:t>
            </a:r>
            <a:r>
              <a:rPr sz="1300" b="0" dirty="0" err="1">
                <a:solidFill>
                  <a:srgbClr val="374151"/>
                </a:solidFill>
              </a:rPr>
              <a:t>gezogen</a:t>
            </a:r>
            <a:r>
              <a:rPr sz="1300" b="0" dirty="0">
                <a:solidFill>
                  <a:srgbClr val="374151"/>
                </a:solidFill>
              </a:rPr>
              <a:t>: </a:t>
            </a:r>
            <a:r>
              <a:rPr sz="1300" b="0" dirty="0" err="1">
                <a:solidFill>
                  <a:srgbClr val="374151"/>
                </a:solidFill>
              </a:rPr>
              <a:t>Dieselbe</a:t>
            </a:r>
            <a:r>
              <a:rPr sz="1300" b="0" dirty="0">
                <a:solidFill>
                  <a:srgbClr val="374151"/>
                </a:solidFill>
              </a:rPr>
              <a:t> Frage </a:t>
            </a:r>
            <a:r>
              <a:rPr sz="1300" b="0" dirty="0" err="1">
                <a:solidFill>
                  <a:srgbClr val="374151"/>
                </a:solidFill>
              </a:rPr>
              <a:t>kann</a:t>
            </a:r>
            <a:r>
              <a:rPr sz="1300" b="0" dirty="0">
                <a:solidFill>
                  <a:srgbClr val="374151"/>
                </a:solidFill>
              </a:rPr>
              <a:t> </a:t>
            </a:r>
            <a:r>
              <a:rPr sz="1300" b="0" dirty="0" err="1">
                <a:solidFill>
                  <a:srgbClr val="374151"/>
                </a:solidFill>
              </a:rPr>
              <a:t>verschiedene</a:t>
            </a:r>
            <a:r>
              <a:rPr sz="1300" b="0" dirty="0">
                <a:solidFill>
                  <a:srgbClr val="374151"/>
                </a:solidFill>
              </a:rPr>
              <a:t> </a:t>
            </a:r>
            <a:r>
              <a:rPr sz="1300" b="0" dirty="0" err="1">
                <a:solidFill>
                  <a:srgbClr val="374151"/>
                </a:solidFill>
              </a:rPr>
              <a:t>Antworten</a:t>
            </a:r>
            <a:r>
              <a:rPr sz="1300" b="0" dirty="0">
                <a:solidFill>
                  <a:srgbClr val="374151"/>
                </a:solidFill>
              </a:rPr>
              <a:t> </a:t>
            </a:r>
            <a:r>
              <a:rPr sz="1300" b="0" dirty="0" err="1">
                <a:solidFill>
                  <a:srgbClr val="374151"/>
                </a:solidFill>
              </a:rPr>
              <a:t>liefern</a:t>
            </a:r>
            <a:r>
              <a:rPr sz="1300" b="0" dirty="0">
                <a:solidFill>
                  <a:srgbClr val="374151"/>
                </a:solidFill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" y="6750000"/>
            <a:ext cx="10620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GuppyLM-Lehrnotebook, Abschn. 6 (Funktion erzeuge, Temperatur-Beobachtung)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body" idx="1"/>
          </p:nvPr>
        </p:nvSpPr>
        <p:spPr>
          <a:xfrm>
            <a:off x="430094" y="1061065"/>
            <a:ext cx="9426927" cy="461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2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None/>
            </a:pPr>
            <a:r>
              <a:rPr lang="de-DE" sz="2400" b="1" kern="1200" spc="-90" dirty="0">
                <a:solidFill>
                  <a:schemeClr val="bg2">
                    <a:lumMod val="50000"/>
                  </a:schemeClr>
                </a:solidFill>
                <a:cs typeface="Arial"/>
                <a:sym typeface="Arial"/>
              </a:rPr>
              <a:t>8. Größenordnungen </a:t>
            </a:r>
            <a:r>
              <a:rPr lang="en-US" sz="1800" b="1" kern="1200" spc="-90" dirty="0">
                <a:solidFill>
                  <a:srgbClr val="008891"/>
                </a:solidFill>
              </a:rPr>
              <a:t>| GPT-3 im Vergleich</a:t>
            </a:r>
            <a:endParaRPr sz="1800" b="1" kern="1200" spc="-90" dirty="0">
              <a:solidFill>
                <a:srgbClr val="008891"/>
              </a:solidFill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002890" y="5962566"/>
            <a:ext cx="5455460" cy="30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0000"/>
              </a:lnSpc>
              <a:buClr>
                <a:schemeClr val="accent1"/>
              </a:buClr>
              <a:buSzPts val="2000"/>
              <a:buFont typeface="Noto Sans Symbols"/>
              <a:buNone/>
              <a:defRPr sz="1600" b="1">
                <a:solidFill>
                  <a:srgbClr val="C00000"/>
                </a:solidFill>
                <a:latin typeface="Frutiger LT 45 Light" panose="020B0500000000000000" pitchFamily="34" charset="0"/>
                <a:ea typeface="Corbel"/>
                <a:cs typeface="Corbel"/>
              </a:defRPr>
            </a:lvl1pPr>
            <a:lvl2pPr marL="9144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lvl2pPr>
            <a:lvl3pPr marL="13716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 sz="16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lvl3pPr>
            <a:lvl4pPr marL="18288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</a:defRPr>
            </a:lvl4pPr>
            <a:lvl5pPr marL="22860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</a:defRPr>
            </a:lvl5pPr>
            <a:lvl6pPr marL="27432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</a:defRPr>
            </a:lvl6pPr>
            <a:lvl7pPr marL="32004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</a:defRPr>
            </a:lvl7pPr>
            <a:lvl8pPr marL="36576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</a:defRPr>
            </a:lvl8pPr>
            <a:lvl9pPr marL="4114800" indent="-3429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</a:defRPr>
            </a:lvl9pPr>
          </a:lstStyle>
          <a:p>
            <a:r>
              <a:rPr lang="de-DE" sz="1800" b="1" dirty="0">
                <a:solidFill>
                  <a:srgbClr val="6001AD"/>
                </a:solidFill>
                <a:latin typeface="Noto Sans Semibold"/>
                <a:ea typeface="Corbel"/>
                <a:cs typeface="Corbel"/>
                <a:sym typeface="Corbel"/>
              </a:rPr>
              <a:t>[2] </a:t>
            </a:r>
            <a:r>
              <a:rPr lang="de-DE" sz="1800" b="0" dirty="0">
                <a:solidFill>
                  <a:schemeClr val="tx1"/>
                </a:solidFill>
                <a:latin typeface="Noto Sans Semibold"/>
                <a:sym typeface="Corbe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https://arxiv.org/pdf/2005.14165.pdf</a:t>
            </a:r>
            <a:endParaRPr sz="1800" b="0" dirty="0">
              <a:solidFill>
                <a:schemeClr val="tx1"/>
              </a:solidFill>
              <a:latin typeface="Noto Sans Semibold"/>
              <a:sym typeface="Corbel"/>
            </a:endParaRPr>
          </a:p>
          <a:p>
            <a:endParaRPr sz="1800" dirty="0">
              <a:latin typeface="Noto Sans Semibold"/>
              <a:sym typeface="Corbe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1518060" y="4438811"/>
            <a:ext cx="9334741" cy="64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spAutoFit/>
          </a:bodyPr>
          <a:lstStyle/>
          <a:p>
            <a:r>
              <a:rPr lang="de-DE" sz="1500" b="1" dirty="0">
                <a:solidFill>
                  <a:schemeClr val="tx1"/>
                </a:solidFill>
                <a:latin typeface="Noto Sans Semibold"/>
                <a:ea typeface="Corbel"/>
                <a:cs typeface="Corbel"/>
                <a:sym typeface="Corbel"/>
              </a:rPr>
              <a:t>Trainingsdaten GPT-3: Common Crawl 45 TB komprimiert vor, 570 GB nach Filterung (plus weitere Quellen); trainiert auf 300 Mrd. Tokens [2]</a:t>
            </a:r>
          </a:p>
          <a:p>
            <a:r>
              <a:rPr lang="de-DE" sz="1500" dirty="0">
                <a:solidFill>
                  <a:srgbClr val="595959"/>
                </a:solidFill>
                <a:latin typeface="Noto Sans Semibold"/>
                <a:sym typeface="Corbel"/>
              </a:rPr>
              <a:t>Gewichte: 175 Mrd. Parameter × 2 Byte (fp16) ≈ 350 GB, in fp32 ≈ 700 GB (eigene Rechnung)</a:t>
            </a:r>
            <a:endParaRPr lang="de-DE" sz="1800" b="1" dirty="0">
              <a:solidFill>
                <a:srgbClr val="6001AD"/>
              </a:solidFill>
              <a:latin typeface="Noto Sans Semibold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F8E34F6-BA0D-C33B-3E34-253E3890ADF8}"/>
              </a:ext>
            </a:extLst>
          </p:cNvPr>
          <p:cNvSpPr txBox="1"/>
          <p:nvPr/>
        </p:nvSpPr>
        <p:spPr>
          <a:xfrm>
            <a:off x="1002889" y="6355611"/>
            <a:ext cx="9749992" cy="378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chemeClr val="accent1"/>
              </a:buClr>
              <a:buSzPts val="2000"/>
              <a:buFont typeface="Noto Sans Symbols"/>
              <a:buNone/>
              <a:defRPr sz="2000" b="1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 sz="160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indent="-3429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r>
              <a:rPr lang="de-DE" sz="1800" b="1" dirty="0">
                <a:solidFill>
                  <a:srgbClr val="6001AD"/>
                </a:solidFill>
                <a:latin typeface="Noto Sans Semibold"/>
                <a:ea typeface="Corbel"/>
                <a:cs typeface="Corbel"/>
                <a:sym typeface="Corbel"/>
              </a:rPr>
              <a:t>Zum Vergleich GuppyLM: 11,7 Mio. Parameter · 6 Blöcke · d_model = 384 · 6 Köpfe · ≈ 47 MB in fp32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0C9583A-0AC8-45DC-28FF-74458B74C2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15"/>
          <a:stretch/>
        </p:blipFill>
        <p:spPr bwMode="auto">
          <a:xfrm>
            <a:off x="1412810" y="1975333"/>
            <a:ext cx="8220451" cy="1581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el 7">
            <a:extLst>
              <a:ext uri="{FF2B5EF4-FFF2-40B4-BE49-F238E27FC236}">
                <a16:creationId xmlns:a16="http://schemas.microsoft.com/office/drawing/2014/main" id="{869CBFB1-FC9B-F9BB-4264-1B13412A6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89" y="1179771"/>
            <a:ext cx="1963437" cy="646290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F52D7B5-E1E3-6276-0B05-EEBC235427FB}"/>
              </a:ext>
            </a:extLst>
          </p:cNvPr>
          <p:cNvSpPr txBox="1"/>
          <p:nvPr/>
        </p:nvSpPr>
        <p:spPr>
          <a:xfrm>
            <a:off x="1002890" y="5510313"/>
            <a:ext cx="10205041" cy="30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89" tIns="43183" rIns="86389" bIns="4318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chemeClr val="accent1"/>
              </a:buClr>
              <a:buSzPts val="2000"/>
              <a:buFont typeface="Noto Sans Symbols"/>
              <a:buNone/>
              <a:defRPr sz="2000" b="1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 sz="160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indent="-342900">
              <a:lnSpc>
                <a:spcPct val="90000"/>
              </a:lnSpc>
              <a:spcBef>
                <a:spcPts val="250"/>
              </a:spcBef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indent="-3429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ts val="1800"/>
              <a:buFont typeface="Noto Sans Symbols"/>
              <a:buChar char="●"/>
              <a:defRPr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r>
              <a:rPr lang="de-DE" sz="1800" b="1" dirty="0">
                <a:solidFill>
                  <a:srgbClr val="6001AD"/>
                </a:solidFill>
                <a:latin typeface="Noto Sans Semibold"/>
                <a:ea typeface="Corbel"/>
                <a:cs typeface="Corbel"/>
                <a:sym typeface="Corbel"/>
              </a:rPr>
              <a:t>[1] </a:t>
            </a:r>
            <a:r>
              <a:rPr lang="de-DE" sz="1800" b="0" u="sng" dirty="0">
                <a:solidFill>
                  <a:schemeClr val="tx1"/>
                </a:solidFill>
                <a:latin typeface="Noto Sans Semibold"/>
              </a:rPr>
              <a:t>https://www.lesswrong.com/posts/3duR8CrvcHywrnhLo/how-does-gpt-3-spend-its-175b-parameters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71063189-A15D-EE3F-1D7F-8B1B8D40BF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934" b="3340"/>
          <a:stretch/>
        </p:blipFill>
        <p:spPr bwMode="auto">
          <a:xfrm>
            <a:off x="1412809" y="3587535"/>
            <a:ext cx="8220451" cy="465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0234FB22-E34C-4D47-E813-84F5464AC823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88D6D8C2-9EC7-01AB-AC60-1E9F12F570A2}"/>
              </a:ext>
            </a:extLst>
          </p:cNvPr>
          <p:cNvGrpSpPr/>
          <p:nvPr/>
        </p:nvGrpSpPr>
        <p:grpSpPr>
          <a:xfrm>
            <a:off x="1958402" y="4816166"/>
            <a:ext cx="2743138" cy="1909951"/>
            <a:chOff x="845882" y="2871907"/>
            <a:chExt cx="3897300" cy="2713553"/>
          </a:xfrm>
          <a:noFill/>
          <a:effectLst/>
        </p:grpSpPr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C85E586B-49C9-7F84-4C92-D95543B57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 rot="10800000">
              <a:off x="845882" y="2871907"/>
              <a:ext cx="3897300" cy="1851137"/>
            </a:xfrm>
            <a:prstGeom prst="rect">
              <a:avLst/>
            </a:prstGeom>
            <a:grpFill/>
            <a:effectLst/>
          </p:spPr>
        </p:pic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58C4BB41-12FA-7407-272C-D8BCD9BD7CC1}"/>
                </a:ext>
              </a:extLst>
            </p:cNvPr>
            <p:cNvGrpSpPr/>
            <p:nvPr/>
          </p:nvGrpSpPr>
          <p:grpSpPr>
            <a:xfrm rot="16200000">
              <a:off x="2515441" y="3571462"/>
              <a:ext cx="558180" cy="3469815"/>
              <a:chOff x="2562376" y="2094730"/>
              <a:chExt cx="737941" cy="4587266"/>
            </a:xfrm>
            <a:grpFill/>
            <a:effectLst/>
          </p:grpSpPr>
          <p:pic>
            <p:nvPicPr>
              <p:cNvPr id="17" name="Grafik 16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BD346A6C-40FF-6B00-1A0C-45A3B7B4FEFA}"/>
                  </a:ext>
                </a:extLst>
              </p:cNvPr>
              <p:cNvPicPr>
                <a:picLocks/>
              </p:cNvPicPr>
              <p:nvPr/>
            </p:nvPicPr>
            <p:blipFill rotWithShape="1">
              <a:blip r:embed="rId6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rcRect l="17465" t="804" r="52968" b="50327"/>
              <a:stretch/>
            </p:blipFill>
            <p:spPr>
              <a:xfrm>
                <a:off x="2562376" y="2094730"/>
                <a:ext cx="720000" cy="72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</p:pic>
          <p:pic>
            <p:nvPicPr>
              <p:cNvPr id="18" name="Grafik 17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AFAD780B-4A54-2898-32A6-FE1313FE18D2}"/>
                  </a:ext>
                </a:extLst>
              </p:cNvPr>
              <p:cNvPicPr>
                <a:picLocks/>
              </p:cNvPicPr>
              <p:nvPr/>
            </p:nvPicPr>
            <p:blipFill rotWithShape="1">
              <a:blip r:embed="rId7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colorTemperature colorTemp="6650"/>
                        </a14:imgEffect>
                        <a14:imgEffect>
                          <a14:saturation sat="140000"/>
                        </a14:imgEffect>
                      </a14:imgLayer>
                    </a14:imgProps>
                  </a:ext>
                </a:extLst>
              </a:blip>
              <a:srcRect l="55164" t="13149" r="15269" b="37982"/>
              <a:stretch/>
            </p:blipFill>
            <p:spPr>
              <a:xfrm>
                <a:off x="2562376" y="2868183"/>
                <a:ext cx="720000" cy="72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</p:pic>
          <p:pic>
            <p:nvPicPr>
              <p:cNvPr id="19" name="Grafik 18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9E9E5704-9302-3630-BB59-FE17B51F5B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rcRect l="35557" t="49851" r="34876" b="1280"/>
              <a:stretch/>
            </p:blipFill>
            <p:spPr>
              <a:xfrm>
                <a:off x="2562376" y="5961996"/>
                <a:ext cx="720000" cy="72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</p:pic>
          <p:pic>
            <p:nvPicPr>
              <p:cNvPr id="20" name="Grafik 19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C64C3C69-B0D3-BC52-41A0-F89CB38220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rcRect l="17465" t="804" r="52968" b="50327"/>
              <a:stretch/>
            </p:blipFill>
            <p:spPr>
              <a:xfrm rot="10800000">
                <a:off x="2562377" y="3641636"/>
                <a:ext cx="737940" cy="72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</p:pic>
          <p:pic>
            <p:nvPicPr>
              <p:cNvPr id="21" name="Grafik 20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C0C178B7-41F9-9101-873B-B4E888CE400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colorTemperature colorTemp="6650"/>
                        </a14:imgEffect>
                        <a14:imgEffect>
                          <a14:saturation sat="140000"/>
                        </a14:imgEffect>
                      </a14:imgLayer>
                    </a14:imgProps>
                  </a:ext>
                </a:extLst>
              </a:blip>
              <a:srcRect l="55164" t="13149" r="15269" b="37982"/>
              <a:stretch/>
            </p:blipFill>
            <p:spPr>
              <a:xfrm rot="10800000">
                <a:off x="2562377" y="4415089"/>
                <a:ext cx="737940" cy="72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</p:pic>
          <p:pic>
            <p:nvPicPr>
              <p:cNvPr id="22" name="Grafik 21" descr="Ein Bild, das Screenshot, Quadrat, Text, Muster enthält.&#10;&#10;Automatisch generierte Beschreibung">
                <a:extLst>
                  <a:ext uri="{FF2B5EF4-FFF2-40B4-BE49-F238E27FC236}">
                    <a16:creationId xmlns:a16="http://schemas.microsoft.com/office/drawing/2014/main" id="{36579BE3-5F49-8005-747F-899B8290286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rcRect l="35557" t="49851" r="34876" b="1280"/>
              <a:stretch/>
            </p:blipFill>
            <p:spPr>
              <a:xfrm rot="10800000">
                <a:off x="2562377" y="5188542"/>
                <a:ext cx="720000" cy="72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</p:pic>
        </p:grpSp>
        <p:sp>
          <p:nvSpPr>
            <p:cNvPr id="23" name="Pfeil: nach rechts 22">
              <a:extLst>
                <a:ext uri="{FF2B5EF4-FFF2-40B4-BE49-F238E27FC236}">
                  <a16:creationId xmlns:a16="http://schemas.microsoft.com/office/drawing/2014/main" id="{1E5FB2D3-0DA0-3C06-D05D-3F72EA47635A}"/>
                </a:ext>
              </a:extLst>
            </p:cNvPr>
            <p:cNvSpPr/>
            <p:nvPr/>
          </p:nvSpPr>
          <p:spPr>
            <a:xfrm rot="16200000">
              <a:off x="2640088" y="4339804"/>
              <a:ext cx="308885" cy="974626"/>
            </a:xfrm>
            <a:prstGeom prst="rightArrow">
              <a:avLst>
                <a:gd name="adj1" fmla="val 41482"/>
                <a:gd name="adj2" fmla="val 70301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" name="Titel 4">
            <a:extLst>
              <a:ext uri="{FF2B5EF4-FFF2-40B4-BE49-F238E27FC236}">
                <a16:creationId xmlns:a16="http://schemas.microsoft.com/office/drawing/2014/main" id="{B743348E-9C73-77D2-F0DC-6BBD8EF7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268" y="1509935"/>
            <a:ext cx="10700680" cy="511297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Bubeck et al. (2023): Sparks of Artificial General Intelligence, Abschn. 1  ·  Schaeffer et al. (2023): Are Emergent Abilities of LLMs a Mirage? NeurIPS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355758-32D5-1F90-347B-91E0E43E0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44737" y="2086526"/>
            <a:ext cx="6097681" cy="3924130"/>
          </a:xfrm>
        </p:spPr>
        <p:txBody>
          <a:bodyPr lIns="0" tIns="0" rIns="0" bIns="0" anchor="t" anchorCtr="0">
            <a:no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de-DE" sz="1600" dirty="0">
                <a:solidFill>
                  <a:srgbClr val="374151"/>
                </a:solidFill>
              </a:rPr>
              <a:t>Bubeck et al. (2023) über GPT-4: Es zeige „emergent behaviors and capabilities whose sources and mechanisms are, at this moment, hard to discern precisely“.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de-DE" sz="1800" b="1" dirty="0">
              <a:solidFill>
                <a:srgbClr val="374151"/>
              </a:solidFill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de-DE" sz="1600" b="1" dirty="0">
                <a:solidFill>
                  <a:srgbClr val="6001AD"/>
                </a:solidFill>
              </a:rPr>
              <a:t>Gegenposition: Scheinbar sprunghafte Fähigkeiten können von der Wahl der Messgröße abhängen – mit einer anderen Metrik verschwindet der Sprung (Schaeffer et al. 2023).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de-DE" sz="1800" dirty="0">
              <a:solidFill>
                <a:srgbClr val="374151"/>
              </a:solidFill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de-DE" sz="1600" dirty="0">
                <a:solidFill>
                  <a:srgbClr val="374151"/>
                </a:solidFill>
              </a:rPr>
              <a:t>Offen bleibt, was die Modelle intern tatsächlich berechnen – Gegenstand der Interpretierbarkeitsforschung.</a:t>
            </a:r>
            <a:endParaRPr lang="de-DE" sz="1800" dirty="0">
              <a:solidFill>
                <a:srgbClr val="37415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073294E-9382-0B47-3E9A-7CDBC026E0A7}"/>
              </a:ext>
            </a:extLst>
          </p:cNvPr>
          <p:cNvSpPr txBox="1"/>
          <p:nvPr/>
        </p:nvSpPr>
        <p:spPr>
          <a:xfrm>
            <a:off x="130486" y="2120141"/>
            <a:ext cx="4732759" cy="2446824"/>
          </a:xfrm>
          <a:prstGeom prst="rect">
            <a:avLst/>
          </a:prstGeom>
          <a:noFill/>
          <a:effectLst>
            <a:outerShdw blurRad="254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r"/>
            <a:r>
              <a:rPr lang="de-DE" sz="1800" b="1" i="0" dirty="0">
                <a:solidFill>
                  <a:srgbClr val="6001AD"/>
                </a:solidFill>
                <a:effectLst/>
                <a:latin typeface="Noto Sans Semibold"/>
              </a:rPr>
              <a:t>Emergenz (allgemein): Merkmale, die entstehen,</a:t>
            </a:r>
            <a:br>
              <a:rPr lang="de-DE" sz="1800" b="1" i="0" dirty="0">
                <a:solidFill>
                  <a:srgbClr val="6001AD"/>
                </a:solidFill>
                <a:effectLst/>
                <a:latin typeface="Noto Sans Semibold"/>
              </a:rPr>
            </a:br>
            <a:r>
              <a:rPr lang="de-DE" sz="900" b="1" i="0" dirty="0">
                <a:solidFill>
                  <a:srgbClr val="6001AD"/>
                </a:solidFill>
                <a:effectLst/>
                <a:latin typeface="Noto Sans Semibold"/>
              </a:rPr>
              <a:t> </a:t>
            </a:r>
          </a:p>
          <a:p>
            <a:pPr algn="r"/>
            <a:r>
              <a:rPr lang="de-DE" sz="1800" b="1" i="0" dirty="0">
                <a:solidFill>
                  <a:srgbClr val="6001AD"/>
                </a:solidFill>
                <a:effectLst/>
                <a:latin typeface="Noto Sans Semibold"/>
              </a:rPr>
              <a:t>wenn einzelne Komponenten zu komplexen Systemen zusammenwirken,</a:t>
            </a:r>
            <a:br>
              <a:rPr lang="de-DE" sz="1800" b="1" i="0" dirty="0">
                <a:solidFill>
                  <a:srgbClr val="6001AD"/>
                </a:solidFill>
                <a:effectLst/>
                <a:latin typeface="Noto Sans Semibold"/>
              </a:rPr>
            </a:br>
            <a:br>
              <a:rPr lang="de-DE" sz="900" b="1" i="0" dirty="0">
                <a:solidFill>
                  <a:srgbClr val="6001AD"/>
                </a:solidFill>
                <a:effectLst/>
                <a:latin typeface="Noto Sans Semibold"/>
              </a:rPr>
            </a:br>
            <a:r>
              <a:rPr lang="de-DE" sz="1800" b="1" i="0" dirty="0">
                <a:solidFill>
                  <a:srgbClr val="6001AD"/>
                </a:solidFill>
                <a:effectLst/>
                <a:latin typeface="Noto Sans Semibold"/>
              </a:rPr>
              <a:t> welche neue, unvorhersehbare Verhaltensweisen aufweisen,</a:t>
            </a:r>
            <a:br>
              <a:rPr lang="de-DE" sz="1800" b="1" i="0" dirty="0">
                <a:solidFill>
                  <a:srgbClr val="6001AD"/>
                </a:solidFill>
                <a:effectLst/>
                <a:latin typeface="Noto Sans Semibold"/>
              </a:rPr>
            </a:br>
            <a:r>
              <a:rPr lang="de-DE" sz="900" b="1" i="0" dirty="0">
                <a:solidFill>
                  <a:srgbClr val="6001AD"/>
                </a:solidFill>
                <a:effectLst/>
                <a:latin typeface="Noto Sans Semibold"/>
              </a:rPr>
              <a:t> </a:t>
            </a:r>
          </a:p>
          <a:p>
            <a:pPr algn="r"/>
            <a:r>
              <a:rPr lang="de-DE" sz="1800" b="1" i="0" dirty="0">
                <a:solidFill>
                  <a:srgbClr val="6001AD"/>
                </a:solidFill>
                <a:effectLst/>
                <a:latin typeface="Noto Sans Semibold"/>
              </a:rPr>
              <a:t>die nicht aus den Eigenschaften der einzelnen Komponenten abzuleiten sind.</a:t>
            </a:r>
            <a:endParaRPr lang="de-DE" sz="1800" b="1" dirty="0">
              <a:solidFill>
                <a:srgbClr val="6001AD"/>
              </a:solidFill>
              <a:latin typeface="Noto Sans Semibold"/>
            </a:endParaRPr>
          </a:p>
        </p:txBody>
      </p:sp>
      <p:sp>
        <p:nvSpPr>
          <p:cNvPr id="12" name="Google Shape;113;p3">
            <a:extLst>
              <a:ext uri="{FF2B5EF4-FFF2-40B4-BE49-F238E27FC236}">
                <a16:creationId xmlns:a16="http://schemas.microsoft.com/office/drawing/2014/main" id="{B3AC0E63-BA4C-315A-086C-2F13E490F684}"/>
              </a:ext>
            </a:extLst>
          </p:cNvPr>
          <p:cNvSpPr txBox="1">
            <a:spLocks/>
          </p:cNvSpPr>
          <p:nvPr/>
        </p:nvSpPr>
        <p:spPr>
          <a:xfrm>
            <a:off x="430095" y="1059563"/>
            <a:ext cx="942692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32008" marR="0" lvl="0" indent="-324006" algn="l" rtl="0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Frutiger LT 45 Light" panose="020B0500000000000000" pitchFamily="34" charset="0"/>
                <a:ea typeface="Corbel"/>
                <a:cs typeface="Corbel"/>
                <a:sym typeface="Corbel"/>
              </a:defRPr>
            </a:lvl1pPr>
            <a:lvl2pPr marL="864017" marR="0" lvl="1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296025" marR="0" lvl="2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728033" marR="0" lvl="3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160041" marR="0" lvl="4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592050" marR="0" lvl="5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024058" marR="0" lvl="6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456066" marR="0" lvl="7" indent="-324006" algn="l" rtl="0">
              <a:lnSpc>
                <a:spcPct val="90000"/>
              </a:lnSpc>
              <a:spcBef>
                <a:spcPts val="236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3888075" marR="0" lvl="8" indent="-324006" algn="l" rtl="0">
              <a:lnSpc>
                <a:spcPct val="90000"/>
              </a:lnSpc>
              <a:spcBef>
                <a:spcPts val="236"/>
              </a:spcBef>
              <a:spcAft>
                <a:spcPts val="236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108002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Noto Sans Symbols"/>
              <a:buNone/>
            </a:pPr>
            <a:r>
              <a:rPr lang="de-DE" sz="2400" b="1" kern="1200" spc="-90" dirty="0">
                <a:solidFill>
                  <a:schemeClr val="bg2">
                    <a:lumMod val="50000"/>
                  </a:schemeClr>
                </a:solidFill>
                <a:latin typeface="Noto Sans Semibold"/>
                <a:cs typeface="Arial"/>
                <a:sym typeface="Arial"/>
              </a:rPr>
              <a:t>8. Emergente Eigenschaften? </a:t>
            </a:r>
            <a:r>
              <a:rPr lang="de-DE" sz="1800" b="1" kern="1200" spc="-90" dirty="0">
                <a:solidFill>
                  <a:srgbClr val="008891"/>
                </a:solidFill>
                <a:latin typeface="Noto Sans Semibold"/>
              </a:rPr>
              <a:t>| Ein umstrittener Begriff</a:t>
            </a:r>
            <a:endParaRPr lang="de-DE" sz="1800" b="1" kern="1200" spc="-90" dirty="0">
              <a:solidFill>
                <a:srgbClr val="008891"/>
              </a:solidFill>
              <a:latin typeface="Noto Sans Semibold"/>
              <a:cs typeface="Arial"/>
              <a:sym typeface="Arial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17C7D99-2461-3790-A8E7-ADA6DC3D2908}"/>
              </a:ext>
            </a:extLst>
          </p:cNvPr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</p:spTree>
    <p:extLst>
      <p:ext uri="{BB962C8B-B14F-4D97-AF65-F5344CB8AC3E}">
        <p14:creationId xmlns:p14="http://schemas.microsoft.com/office/powerpoint/2010/main" val="11716243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Anhang: Formelsammlung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Schreibweisen und Operationen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22000" y="1692000"/>
          <a:ext cx="10583998" cy="5119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5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1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Schreibweise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Bedeutung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Beispiel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x, q, k, v  (fett, klein)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Vektor – hier immer als Zeilenvektor geschrieben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x = (0,2; −1,3; …)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W, Q, K, V  (groß)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Matrix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W_Q ∈ ℝ^(384×64)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ℝ^(m×n),  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Menge der reellen Matrizen mit m Zeilen und n Spalten;  „ist Element von“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W_E ∈ ℝ^(2597×384)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aᵢ,  sᵢⱼ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Komponente i eines Vektors bzw. Eintrag in Zeile i, Spalte j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s₂₃: Query 2, Key 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x⁽ᵇ⁾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hochgestellt in Klammern = Index (hier Block b), kein Exponent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x⁽⁰⁾: Eingabe des 1. Blocks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x′,  x̃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Strich bzw. Tilde: veränderte Version von x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x′ = Ausgabe eines Blocks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Aᵀ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Transponierte: Zeilen und Spalten vertauscht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(2×3-Matrix)ᵀ ist 3×2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|a|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Länge (Betrag) eines Vektors: √(Σ aᵢ²)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|(3, 4)| = 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a · b,   xW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Skalarprodukt zweier Vektoren bzw. Vektor-Matrix-Produkt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(1, 2)·(3, 4) = 11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a ⊙ b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Hadamard-Produkt: elementweise Multiplikation gleich langer Vektoren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(1, 2, 3) ⊙ (4, 5, 6) = (4, 10, 18)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Σⱼ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Summe über alle Werte des Index j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Σⱼ₌₁³ j = 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Concat(…)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Verkettung: Vektoren aneinanderhängen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Concat((1, 2), (3)) = (1, 2, 3)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exp(z),  log(z)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eᶻ bzw. natürlicher Logarithmus ln z;  log(exp(z)) = z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exp(0) = 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−∞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„minus unendlich“: exp(−∞) = 0 – so wirkt die Maske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Mᵢⱼ = −∞ für j &gt; i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P(A | B)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bedingte Wahrscheinlichkeit: A, wenn B bekannt ist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P(„Weile“ | „Gut Ding braucht“)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Zuweisung: der linke Wert wird durch den rechten ersetzt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θ ← θ − η∇L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∇_θ L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Gradient: Vektor aller partiellen Ableitungen ∂L/∂θ – zeigt bergauf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Training geht in −∇-Richtung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Anhang: Formelsammlung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Größen und Symbole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2000" y="1655999"/>
            <a:ext cx="504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001AD"/>
                </a:solidFill>
              </a:rPr>
              <a:t>Größen (Namen wie in Brown et al. 2020, Tab. 2.1)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2000" y="1925999"/>
          <a:ext cx="5112000" cy="41039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99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Symbol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Bedeutung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Guppy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99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n_vocab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Vokabulargröße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2 597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99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d_model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Breite des Residualstroms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384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99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n_layers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Anzahl Blöcke (Abb. 2017: „N×“)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99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n_heads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Köpfe je Block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99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d_k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Breite je Kopf = d_model / n_heads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64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99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d_ff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innere Breite des FFN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1 536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99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n_ctx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Kontextfenster (max. Tokens)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128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99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Länge der aktuellen Tokenfolge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≤ 128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99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alle trainierbaren Parameter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11,6 Mio.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99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η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Lernrate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max. 3·10⁻⁴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99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Temperatur beim Sampling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0,7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03999" y="1655999"/>
            <a:ext cx="50400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001AD"/>
                </a:solidFill>
              </a:rPr>
              <a:t>Bezeichner in den Formeln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03999" y="1925999"/>
          <a:ext cx="5201999" cy="4788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55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Symbol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Bedeutung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t, pos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Position eines Tokens (0, 1, 2, …)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i, j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Query-Position bzw. Key-Position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m, h, b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Frequenz-Index (Sinus), Kopf-Index, Block-Index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tokₜ, w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Token-ID an Position t; beliebiges Token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W_E, pₜ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Embedding-Matrix; Positionsvektor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W_Q, W_K, W_V, W_O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Projektionen der Attention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W₁, b₁, W₂, b₂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Gewichte und Bias-Vektoren des FFN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sᵢⱼ, αᵢⱼ, zᵢ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Score, Gewicht, Ausgabe der Attention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M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kausale Maske (0 oder −∞)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μ, σ², 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Mittelwert, Varianz, kleine Konstante (LN)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γ, β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gelernte Skalierung und Verschiebung (LN)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φ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Aktivierungsfunktion (ReLU, GELU)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74151"/>
                          </a:solidFill>
                        </a:rPr>
                        <a:t>ℓₜ, ℒ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151"/>
                          </a:solidFill>
                        </a:rPr>
                        <a:t>Logits an Position t; Verlust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9CA3AF"/>
                      </a:solidFill>
                    </a:lnL>
                    <a:lnR w="9525">
                      <a:solidFill>
                        <a:srgbClr val="9CA3AF"/>
                      </a:solidFill>
                    </a:lnR>
                    <a:lnT w="9525">
                      <a:solidFill>
                        <a:srgbClr val="9CA3AF"/>
                      </a:solidFill>
                    </a:lnT>
                    <a:lnB w="9525">
                      <a:solidFill>
                        <a:srgbClr val="9CA3A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22000" y="6750000"/>
            <a:ext cx="10620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Guppy-Werte: Notebook-Ausgaben (θ: 11 644 800 trainierbar; τ = 0,7 ist der Standardwert von antworte).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Anhang: Formelsammlung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Die Formeln des Vortrags (1/2)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2000" y="1656000"/>
            <a:ext cx="10764000" cy="61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Formel 6"/>
              <p:cNvSpPr txBox="1"/>
              <p:nvPr/>
            </p:nvSpPr>
            <p:spPr>
              <a:xfrm>
                <a:off x="1885860" y="1717200"/>
                <a:ext cx="2420280" cy="44043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</m:e>
                      </m:d>
                      <m:r>
                        <a:rPr lang="de-DE" sz="14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d>
                        <m:dPr>
                          <m:begChr m:val="|"/>
                          <m:endChr m:val="|"/>
                          <m:ctrl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</m:d>
                      <m:r>
                        <m:rPr>
                          <m:sty m:val="p"/>
                        </m:rP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de-DE" sz="14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de-DE" sz="1400"/>
              </a:p>
            </p:txBody>
          </p:sp>
        </mc:Choice>
        <mc:Fallback xmlns:m="http://schemas.openxmlformats.org/officeDocument/2006/math" xmlns="">
          <p:sp>
            <p:nvSpPr>
              <p:cNvPr id="6" name="Formel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860" y="1717200"/>
                <a:ext cx="2240280" cy="4404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868000" y="1746000"/>
            <a:ext cx="4392000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</a:rPr>
              <a:t>Skalarprodukt; θ ist der Winkel zwischen a und 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000" y="1746000"/>
            <a:ext cx="827999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08891"/>
                </a:solidFill>
              </a:rPr>
              <a:t>→ F.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Formel 9"/>
              <p:cNvSpPr txBox="1"/>
              <p:nvPr/>
            </p:nvSpPr>
            <p:spPr>
              <a:xfrm>
                <a:off x="2455836" y="2347200"/>
                <a:ext cx="1280328" cy="44653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de-DE" sz="14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</m:d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 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de-DE" sz="1400"/>
              </a:p>
            </p:txBody>
          </p:sp>
        </mc:Choice>
        <mc:Fallback xmlns:m="http://schemas.openxmlformats.org/officeDocument/2006/math" xmlns="">
          <p:sp>
            <p:nvSpPr>
              <p:cNvPr id="9" name="Formel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836" y="2347200"/>
                <a:ext cx="1100328" cy="4465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868000" y="2376000"/>
            <a:ext cx="4392000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</a:rPr>
              <a:t>Kosinusähnlichkeit: −1 … 1, unabhängig von den Längen.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000" y="2376000"/>
            <a:ext cx="827999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08891"/>
                </a:solidFill>
              </a:rPr>
              <a:t>→ F. 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916000"/>
            <a:ext cx="10764000" cy="61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Formel 13"/>
              <p:cNvSpPr txBox="1"/>
              <p:nvPr/>
            </p:nvSpPr>
            <p:spPr>
              <a:xfrm>
                <a:off x="2202090" y="2977200"/>
                <a:ext cx="1787820" cy="260603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d>
                            <m:dPr>
                              <m:ctrlP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bSup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tok</m:t>
                              </m:r>
                            </m:e>
                            <m:sub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de-DE" sz="1400"/>
              </a:p>
            </p:txBody>
          </p:sp>
        </mc:Choice>
        <mc:Fallback xmlns:m="http://schemas.openxmlformats.org/officeDocument/2006/math" xmlns="">
          <p:sp>
            <p:nvSpPr>
              <p:cNvPr id="13" name="Formel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090" y="2977200"/>
                <a:ext cx="1607820" cy="2606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5868000" y="3006000"/>
            <a:ext cx="4392000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</a:rPr>
              <a:t>Eingabe an Position t: Zeile tokₜ der Embedding-Matrix plus Positionsvektor.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000" y="3006000"/>
            <a:ext cx="827999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08891"/>
                </a:solidFill>
              </a:rPr>
              <a:t>→ F. 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Formel 16"/>
              <p:cNvSpPr txBox="1"/>
              <p:nvPr/>
            </p:nvSpPr>
            <p:spPr>
              <a:xfrm>
                <a:off x="1743366" y="3607200"/>
                <a:ext cx="2705268" cy="36271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14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d>
                            <m:dPr>
                              <m:ctrlP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  <m: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b>
                      </m:sSub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de-DE" sz="14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10000</m:t>
                                  </m:r>
                                </m:e>
                                <m:sup>
                                  <m: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de-DE" sz="14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sSub>
                                    <m:sSubPr>
                                      <m:ctrlPr>
                                        <a:rPr lang="de-DE" sz="14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4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de-DE" sz="1400" i="0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model</m:t>
                                      </m:r>
                                    </m:sub>
                                  </m:sSub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de-DE" sz="1400"/>
              </a:p>
            </p:txBody>
          </p:sp>
        </mc:Choice>
        <mc:Fallback xmlns:m="http://schemas.openxmlformats.org/officeDocument/2006/math" xmlns="">
          <p:sp>
            <p:nvSpPr>
              <p:cNvPr id="16" name="Formel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366" y="3607200"/>
                <a:ext cx="2525268" cy="3627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5868000" y="3636000"/>
            <a:ext cx="4392000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</a:rPr>
              <a:t>Sinus-Positionskodierung; Dimension 2m+1 analog mit cos. m nummeriert die Frequenzen.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000" y="3636000"/>
            <a:ext cx="827999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08891"/>
                </a:solidFill>
              </a:rPr>
              <a:t>→ F. 19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4176000"/>
            <a:ext cx="10764000" cy="61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Formel 20"/>
              <p:cNvSpPr txBox="1"/>
              <p:nvPr/>
            </p:nvSpPr>
            <p:spPr>
              <a:xfrm>
                <a:off x="1754796" y="4237200"/>
                <a:ext cx="2682408" cy="20421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sSub>
                        <m:sSub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14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sSub>
                        <m:sSub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14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sSub>
                        <m:sSub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de-DE" sz="1400"/>
              </a:p>
            </p:txBody>
          </p:sp>
        </mc:Choice>
        <mc:Fallback xmlns:m="http://schemas.openxmlformats.org/officeDocument/2006/math" xmlns="">
          <p:sp>
            <p:nvSpPr>
              <p:cNvPr id="20" name="Formel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796" y="4237200"/>
                <a:ext cx="2502408" cy="2042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5868000" y="4266000"/>
            <a:ext cx="4392000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</a:rPr>
              <a:t>Lineare Projektionen eines Eingabevektors (Zeilenvektor × Matrix).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000" y="4266000"/>
            <a:ext cx="827999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08891"/>
                </a:solidFill>
              </a:rPr>
              <a:t>→ F. 27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Formel 23"/>
              <p:cNvSpPr txBox="1"/>
              <p:nvPr/>
            </p:nvSpPr>
            <p:spPr>
              <a:xfrm>
                <a:off x="1674024" y="4867200"/>
                <a:ext cx="2843952" cy="48463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𝐪</m:t>
                              </m:r>
                            </m:e>
                            <m:sub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e>
                            <m:sub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14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 </m:t>
                      </m:r>
                      <m:sSub>
                        <m:sSub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p>
                                  <m:r>
                                    <a:rPr lang="de-DE" sz="14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e>
                          </m:nary>
                          <m:d>
                            <m:dPr>
                              <m:ctrlP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p>
                                    <m:sSupPr>
                                      <m:ctrlPr>
                                        <a:rPr lang="de-DE" sz="14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14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  <m:sup>
                                      <m:r>
                                        <a:rPr lang="de-DE" sz="1400" i="0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de-DE" sz="1400"/>
              </a:p>
            </p:txBody>
          </p:sp>
        </mc:Choice>
        <mc:Fallback xmlns:m="http://schemas.openxmlformats.org/officeDocument/2006/math" xmlns="">
          <p:sp>
            <p:nvSpPr>
              <p:cNvPr id="23" name="Formel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024" y="4867200"/>
                <a:ext cx="2663952" cy="4846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5868000" y="4896000"/>
            <a:ext cx="4392000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</a:rPr>
              <a:t>Score (Passung von Query i und Key j) und Gewicht (Softmax über Zeile i, Summe 1).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000" y="4896000"/>
            <a:ext cx="827999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08891"/>
                </a:solidFill>
              </a:rPr>
              <a:t>→ F. 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5436000"/>
            <a:ext cx="10764000" cy="61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Formel 27"/>
              <p:cNvSpPr txBox="1"/>
              <p:nvPr/>
            </p:nvSpPr>
            <p:spPr>
              <a:xfrm>
                <a:off x="2445930" y="5497200"/>
                <a:ext cx="1300140" cy="46482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de-DE" sz="14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de-DE" sz="1400"/>
              </a:p>
            </p:txBody>
          </p:sp>
        </mc:Choice>
        <mc:Fallback xmlns:m="http://schemas.openxmlformats.org/officeDocument/2006/math" xmlns="">
          <p:sp>
            <p:nvSpPr>
              <p:cNvPr id="27" name="Formel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930" y="5497200"/>
                <a:ext cx="1120140" cy="4648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5868000" y="5526000"/>
            <a:ext cx="4392000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</a:rPr>
              <a:t>Ausgabe eines Kopfes an Position i: gewichtete Summe der Values.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000" y="5526000"/>
            <a:ext cx="827999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08891"/>
                </a:solidFill>
              </a:rPr>
              <a:t>→ F. 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Formel 30"/>
              <p:cNvSpPr txBox="1"/>
              <p:nvPr/>
            </p:nvSpPr>
            <p:spPr>
              <a:xfrm>
                <a:off x="2096172" y="6127200"/>
                <a:ext cx="1999656" cy="47244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lang="de-DE" sz="14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de-DE" sz="14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de-DE" sz="14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4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de-DE" sz="14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de-DE" sz="14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de-DE" sz="1400"/>
              </a:p>
            </p:txBody>
          </p:sp>
        </mc:Choice>
        <mc:Fallback xmlns:m="http://schemas.openxmlformats.org/officeDocument/2006/math" xmlns="">
          <p:sp>
            <p:nvSpPr>
              <p:cNvPr id="30" name="Formel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172" y="6127200"/>
                <a:ext cx="1819656" cy="4724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5868000" y="6155999"/>
            <a:ext cx="4392000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</a:rPr>
              <a:t>Dasselbe in Matrixform für alle Positionen; M setzt spätere Positionen auf −∞.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000" y="6155999"/>
            <a:ext cx="827999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08891"/>
                </a:solidFill>
              </a:rPr>
              <a:t>→ F. 30, 33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Anhang: Formelsammlung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Die Formeln des Vortrags (2/2)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2000" y="1656000"/>
            <a:ext cx="10764000" cy="61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Formel 6"/>
              <p:cNvSpPr txBox="1"/>
              <p:nvPr/>
            </p:nvSpPr>
            <p:spPr>
              <a:xfrm>
                <a:off x="1238160" y="1717200"/>
                <a:ext cx="3715680" cy="20878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MHA</m:t>
                      </m:r>
                      <m:d>
                        <m:d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Concat</m:t>
                      </m:r>
                      <m:d>
                        <m:d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head</m:t>
                              </m:r>
                            </m:e>
                            <m:sub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head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DE" sz="14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heads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de-DE" sz="14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de-DE" sz="1400"/>
              </a:p>
            </p:txBody>
          </p:sp>
        </mc:Choice>
        <mc:Fallback xmlns:m="http://schemas.openxmlformats.org/officeDocument/2006/math" xmlns="">
          <p:sp>
            <p:nvSpPr>
              <p:cNvPr id="6" name="Formel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160" y="1717200"/>
                <a:ext cx="3535680" cy="2087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868000" y="1746000"/>
            <a:ext cx="4392000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</a:rPr>
              <a:t>Köpfe verketten und mit W_O auf d_model zurückprojizieren.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000" y="1746000"/>
            <a:ext cx="827999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08891"/>
                </a:solidFill>
              </a:rPr>
              <a:t>→ F. 36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Formel 9"/>
              <p:cNvSpPr txBox="1"/>
              <p:nvPr/>
            </p:nvSpPr>
            <p:spPr>
              <a:xfrm>
                <a:off x="1176438" y="2347200"/>
                <a:ext cx="3839124" cy="21640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̃"/>
                          <m:ctrl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MHA</m:t>
                      </m:r>
                      <m:d>
                        <m:dPr>
                          <m:ctrl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  <m:d>
                            <m:dPr>
                              <m:ctrl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</m:e>
                      </m:d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14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  </m:t>
                      </m:r>
                      <m:sSup>
                        <m:sSupPr>
                          <m:ctrl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FFN</m:t>
                      </m:r>
                      <m:d>
                        <m:dPr>
                          <m:ctrl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  <m:d>
                            <m:dPr>
                              <m:ctrlP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de-DE" sz="14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14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de-DE" sz="1400"/>
              </a:p>
            </p:txBody>
          </p:sp>
        </mc:Choice>
        <mc:Fallback xmlns:m="http://schemas.openxmlformats.org/officeDocument/2006/math" xmlns="">
          <p:sp>
            <p:nvSpPr>
              <p:cNvPr id="9" name="Formel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438" y="2347200"/>
                <a:ext cx="3659124" cy="2164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868000" y="2376000"/>
            <a:ext cx="4392000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</a:rPr>
              <a:t>Ein Block (Pre-LN): beide Teilmodule addieren ihren Beitrag zum Residualstrom.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000" y="2376000"/>
            <a:ext cx="827999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08891"/>
                </a:solidFill>
              </a:rPr>
              <a:t>→ F. 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916000"/>
            <a:ext cx="10764000" cy="61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Formel 13"/>
              <p:cNvSpPr txBox="1"/>
              <p:nvPr/>
            </p:nvSpPr>
            <p:spPr>
              <a:xfrm>
                <a:off x="1951392" y="2977200"/>
                <a:ext cx="2289216" cy="42367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𝛄</m:t>
                      </m:r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⊙</m:t>
                      </m:r>
                      <m:f>
                        <m:fPr>
                          <m:ctrl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rad>
                        </m:den>
                      </m:f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𝛃</m:t>
                      </m:r>
                    </m:oMath>
                  </m:oMathPara>
                </a14:m>
                <a:endParaRPr lang="de-DE" sz="1400"/>
              </a:p>
            </p:txBody>
          </p:sp>
        </mc:Choice>
        <mc:Fallback xmlns:m="http://schemas.openxmlformats.org/officeDocument/2006/math" xmlns="">
          <p:sp>
            <p:nvSpPr>
              <p:cNvPr id="13" name="Formel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392" y="2977200"/>
                <a:ext cx="2109216" cy="423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5868000" y="3006000"/>
            <a:ext cx="4392000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</a:rPr>
              <a:t>LayerNorm je Token; ⊙ = elementweise Multiplikation.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000" y="3006000"/>
            <a:ext cx="827999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08891"/>
                </a:solidFill>
              </a:rPr>
              <a:t>→ F. 38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Formel 16"/>
              <p:cNvSpPr txBox="1"/>
              <p:nvPr/>
            </p:nvSpPr>
            <p:spPr>
              <a:xfrm>
                <a:off x="1743366" y="3607200"/>
                <a:ext cx="2705268" cy="20878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FFN</m:t>
                      </m:r>
                      <m:d>
                        <m:dPr>
                          <m:ctrl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4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sSub>
                            <m:sSubPr>
                              <m:ctrlP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b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1400"/>
              </a:p>
            </p:txBody>
          </p:sp>
        </mc:Choice>
        <mc:Fallback xmlns:m="http://schemas.openxmlformats.org/officeDocument/2006/math" xmlns="">
          <p:sp>
            <p:nvSpPr>
              <p:cNvPr id="16" name="Formel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366" y="3607200"/>
                <a:ext cx="2525268" cy="2087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5868000" y="3636000"/>
            <a:ext cx="4392000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</a:rPr>
              <a:t>φ: ReLU(z) = max(0, z) oder GELU(z) = z·Φ(z), Φ = Verteilungsfunktion der Standardnormalverteilung.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000" y="3636000"/>
            <a:ext cx="827999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08891"/>
                </a:solidFill>
              </a:rPr>
              <a:t>→ F. 39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4176000"/>
            <a:ext cx="10764000" cy="61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Formel 20"/>
              <p:cNvSpPr txBox="1"/>
              <p:nvPr/>
            </p:nvSpPr>
            <p:spPr>
              <a:xfrm>
                <a:off x="631608" y="4237200"/>
                <a:ext cx="4928784" cy="26517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sz="14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4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de-DE" sz="1400" i="0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layers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bSup>
                        </m:e>
                      </m:d>
                      <m:r>
                        <a:rPr lang="de-DE" sz="14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Sup>
                        <m:sSubSup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14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  </m:t>
                      </m:r>
                      <m:r>
                        <a:rPr lang="de-DE" sz="14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tok</m:t>
                              </m:r>
                            </m:e>
                            <m:sub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tok</m:t>
                              </m:r>
                            </m:e>
                            <m:sub>
                              <m: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sSub>
                        <m:sSub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14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14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b>
                                  <m: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de-DE" sz="1400"/>
              </a:p>
            </p:txBody>
          </p:sp>
        </mc:Choice>
        <mc:Fallback xmlns:m="http://schemas.openxmlformats.org/officeDocument/2006/math" xmlns="">
          <p:sp>
            <p:nvSpPr>
              <p:cNvPr id="20" name="Formel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08" y="4237200"/>
                <a:ext cx="4748784" cy="2651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5868000" y="4266000"/>
            <a:ext cx="4392000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</a:rPr>
              <a:t>Logits und Wahrscheinlichkeit des nächsten Tokens.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000" y="4266000"/>
            <a:ext cx="827999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08891"/>
                </a:solidFill>
              </a:rPr>
              <a:t>→ F. 44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Formel 23"/>
              <p:cNvSpPr txBox="1"/>
              <p:nvPr/>
            </p:nvSpPr>
            <p:spPr>
              <a:xfrm>
                <a:off x="1584870" y="4867200"/>
                <a:ext cx="3022260" cy="48768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</m:nary>
                      <m:sSub>
                        <m:sSub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tok</m:t>
                              </m:r>
                            </m:e>
                            <m:sub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tok</m:t>
                              </m:r>
                            </m:e>
                            <m:sub>
                              <m: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DE" sz="1400"/>
              </a:p>
            </p:txBody>
          </p:sp>
        </mc:Choice>
        <mc:Fallback xmlns:m="http://schemas.openxmlformats.org/officeDocument/2006/math" xmlns="">
          <p:sp>
            <p:nvSpPr>
              <p:cNvPr id="23" name="Formel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870" y="4867200"/>
                <a:ext cx="2842260" cy="4876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5868000" y="4896000"/>
            <a:ext cx="4392000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</a:rPr>
              <a:t>Kreuzentropie-Verlust; Perplexität = exp(ℒ).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000" y="4896000"/>
            <a:ext cx="827999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08891"/>
                </a:solidFill>
              </a:rPr>
              <a:t>→ F. 47, 49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5436000"/>
            <a:ext cx="10764000" cy="61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Formel 27"/>
              <p:cNvSpPr txBox="1"/>
              <p:nvPr/>
            </p:nvSpPr>
            <p:spPr>
              <a:xfrm>
                <a:off x="2416212" y="5497200"/>
                <a:ext cx="1359576" cy="18745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de-DE" sz="14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de-DE" sz="14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sz="14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de-DE" sz="1400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</m:oMath>
                  </m:oMathPara>
                </a14:m>
                <a:endParaRPr lang="de-DE" sz="1400"/>
              </a:p>
            </p:txBody>
          </p:sp>
        </mc:Choice>
        <mc:Fallback xmlns:m="http://schemas.openxmlformats.org/officeDocument/2006/math" xmlns="">
          <p:sp>
            <p:nvSpPr>
              <p:cNvPr id="27" name="Formel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212" y="5497200"/>
                <a:ext cx="1179576" cy="187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5868000" y="5526000"/>
            <a:ext cx="4392000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</a:rPr>
              <a:t>Gradientenabstieg: Parameter ein Stück gegen den Gradienten verschieben.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000" y="5526000"/>
            <a:ext cx="827999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08891"/>
                </a:solidFill>
              </a:rPr>
              <a:t>→ F. 48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Formel 30"/>
              <p:cNvSpPr txBox="1"/>
              <p:nvPr/>
            </p:nvSpPr>
            <p:spPr>
              <a:xfrm>
                <a:off x="2045880" y="6127200"/>
                <a:ext cx="2100240" cy="46024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ctrlP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400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de-DE" sz="1400" i="0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sz="1400" i="0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14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14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b>
                                  <m: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1400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de-DE" sz="14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e>
                          </m:nary>
                          <m:d>
                            <m:dPr>
                              <m:ctrlP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14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1400" i="0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de-DE" sz="14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1400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de-DE" sz="1400" i="0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de-DE" sz="1400" i="0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de-DE" sz="1400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de-DE" sz="1400" dirty="0"/>
              </a:p>
            </p:txBody>
          </p:sp>
        </mc:Choice>
        <mc:Fallback xmlns:m="http://schemas.openxmlformats.org/officeDocument/2006/math" xmlns="">
          <p:sp>
            <p:nvSpPr>
              <p:cNvPr id="30" name="Formel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880" y="6127200"/>
                <a:ext cx="1920240" cy="46024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5868000" y="6155999"/>
            <a:ext cx="4392000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</a:rPr>
              <a:t>Sampling mit Temperatur τ.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000" y="6155999"/>
            <a:ext cx="827999" cy="52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08891"/>
                </a:solidFill>
              </a:rPr>
              <a:t>→ F. 53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2000" y="6750000"/>
            <a:ext cx="10620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GELU: Hendrycks &amp; Gimpel (2016). Folienverweise beziehen sich auf diesen Foliensatz.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Literatur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Quellen (1/2)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2000" y="1764000"/>
            <a:ext cx="10584000" cy="50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Ba, J. L.; Kiros, J. R.; Hinton, G. E. (2016): Layer Normalization. arXiv:1607.06450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Bills, S. et al. (2023): Language models can explain neurons in language models. OpenAI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Brown, T. et al. (2020): Language Models are Few-Shot Learners. NeurIPS. arXiv:2005.14165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Bubeck, S. et al. (2023): Sparks of Artificial General Intelligence. arXiv:2303.12712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Devlin, J. et al. (2019): BERT: Pre-training of Deep Bidirectional Transformers for Language Understanding. NAACL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Dong, Y.; Cordonnier, J.-B.; Loukas, A. (2021): Attention is not all you need. ICML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Elhage, N. et al. (2021): A Mathematical Framework for Transformer Circuits. transformer-circuits.pub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Ethayarajh, K. (2019): How Contextual are Contextualized Word Representations? EMNLP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Firth, J. R. (1957): A synopsis of linguistic theory 1930–1955. Studies in Linguistic Analysis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Gao, J. et al. (2019): Representation Degeneration Problem in Training NLG Models. ICLR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Gemini Team (2023): Gemini: A Family of Highly Capable Multimodal Models. arXiv:2312.11805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Geva, M. et al. (2021): Transformer Feed-Forward Layers Are Key-Value Memories. EMNLP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Harris, Z. S. (1954): Distributional structure. Word 10 (2–3), 146–162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Hase, P. et al. (2023): Does Localization Inform Editing? NeurIPS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0"/>
          <p:cNvSpPr txBox="1"/>
          <p:nvPr/>
        </p:nvSpPr>
        <p:spPr>
          <a:xfrm>
            <a:off x="176400" y="473196"/>
            <a:ext cx="1049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WIE FUNKTIONIERT EIN TRANSFORMER?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iludis.de</a:t>
            </a:r>
          </a:p>
        </p:txBody>
      </p:sp>
      <p:sp>
        <p:nvSpPr>
          <p:cNvPr id="4" name="Textfeld 1"/>
          <p:cNvSpPr txBox="1"/>
          <p:nvPr/>
        </p:nvSpPr>
        <p:spPr>
          <a:xfrm>
            <a:off x="522000" y="1062000"/>
            <a:ext cx="958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kern="1200" spc="-90" dirty="0">
                <a:solidFill>
                  <a:schemeClr val="bg2"/>
                </a:solidFill>
                <a:effectLst/>
                <a:latin typeface="Noto Sans Semibold"/>
              </a:rPr>
              <a:t>Literatur </a:t>
            </a:r>
            <a:r>
              <a:rPr lang="de-DE" sz="1800" b="1" i="0" kern="1200" spc="-90" dirty="0">
                <a:solidFill>
                  <a:srgbClr val="008891"/>
                </a:solidFill>
                <a:effectLst/>
                <a:latin typeface="Noto Sans Semibold"/>
              </a:rPr>
              <a:t>| </a:t>
            </a:r>
            <a:r>
              <a:rPr lang="en-US" sz="1800" b="1" kern="1200" spc="-90" dirty="0">
                <a:solidFill>
                  <a:srgbClr val="008891"/>
                </a:solidFill>
                <a:latin typeface="Noto Sans Semibold"/>
              </a:rPr>
              <a:t>Quellen (2/2)</a:t>
            </a:r>
            <a:endParaRPr lang="de-DE" sz="1800" b="1" i="0" kern="1200" spc="-90" dirty="0">
              <a:solidFill>
                <a:srgbClr val="008891"/>
              </a:solidFill>
              <a:effectLst/>
              <a:latin typeface="Noto Sans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2000" y="1764000"/>
            <a:ext cx="10584000" cy="50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Haviv, A. et al. (2022): Transformer LMs without Positional Encodings Still Learn Positional Information. Findings of EMNLP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He, K. et al. (2016): Deep Residual Learning for Image Recognition. CVPR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Loshchilov, I.; Hutter, F. (2019): Decoupled Weight Decay Regularization. ICLR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Meng, K. et al. (2022): Locating and Editing Factual Associations in GPT. NeurIPS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Michel, P.; Levy, O.; Neubig, G. (2019): Are Sixteen Heads Really Better than One? NeurIPS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Mikolov, T. et al. (2013): Efficient Estimation of Word Representations in Vector Space. arXiv:1301.3781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OpenAI (2023): GPT-4 Technical Report. arXiv:2303.08774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Pope, R. et al. (2022): Efficiently Scaling Transformer Inference. arXiv:2211.05102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Press, O.; Wolf, L. (2017): Using the Output Embedding to Improve Language Models. EACL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Radford, A. et al. (2018): Improving Language Understanding by Generative Pre-Training. OpenAI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Radford, A. et al. (2019): Language Models are Unsupervised Multitask Learners. OpenAI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Schaeffer, R.; Miranda, B.; Koyejo, S. (2023): Are Emergent Abilities of LLMs a Mirage? NeurIPS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Sennrich, R.; Haddow, B.; Birch, A. (2016): Neural Machine Translation of Rare Words with Subword Units. ACL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Vaswani, A. et al. (2017): Attention Is All You Need. NeurIPS. arXiv:1706.03762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Xiong, R. et al. (2020): On Layer Normalization in the Transformer Architecture. ICML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74151"/>
                </a:solidFill>
              </a:rPr>
              <a:t>GuppyLM-Lehrnotebook (iludis), Bearbeitung von arman-bd/guppylm (MIT)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hmen">
  <a:themeElements>
    <a:clrScheme name="Benutzerdefiniert 1">
      <a:dk1>
        <a:srgbClr val="262626"/>
      </a:dk1>
      <a:lt1>
        <a:srgbClr val="FFFFFF"/>
      </a:lt1>
      <a:dk2>
        <a:srgbClr val="545454"/>
      </a:dk2>
      <a:lt2>
        <a:srgbClr val="BFBFBF"/>
      </a:lt2>
      <a:accent1>
        <a:srgbClr val="CE1719"/>
      </a:accent1>
      <a:accent2>
        <a:srgbClr val="F59E00"/>
      </a:accent2>
      <a:accent3>
        <a:srgbClr val="003C7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9060</Words>
  <Application>Microsoft Macintosh PowerPoint</Application>
  <PresentationFormat>Custom</PresentationFormat>
  <Paragraphs>1202</Paragraphs>
  <Slides>59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0" baseType="lpstr">
      <vt:lpstr>Corbel</vt:lpstr>
      <vt:lpstr>Frutiger LT 45 Light</vt:lpstr>
      <vt:lpstr>Cambria Math</vt:lpstr>
      <vt:lpstr>SMASH</vt:lpstr>
      <vt:lpstr>Noto Sans Semibold</vt:lpstr>
      <vt:lpstr>Aptos Display</vt:lpstr>
      <vt:lpstr>Calibri</vt:lpstr>
      <vt:lpstr>Consolas</vt:lpstr>
      <vt:lpstr>Noto Sans Symbols</vt:lpstr>
      <vt:lpstr>Arial</vt:lpstr>
      <vt:lpstr>Rahmen</vt:lpstr>
      <vt:lpstr>PowerPoint Presentation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Firth (1957): A synopsis of linguistic theory 1930–1955. Oxford: Philological Society.</vt:lpstr>
      <vt:lpstr> </vt:lpstr>
      <vt:lpstr> </vt:lpstr>
      <vt:lpstr>PowerPoint Presentation</vt:lpstr>
      <vt:lpstr> </vt:lpstr>
      <vt:lpstr>PowerPoint Presentation</vt:lpstr>
      <vt:lpstr>PowerPoint Presentation</vt:lpstr>
      <vt:lpstr>  </vt:lpstr>
      <vt:lpstr> </vt:lpstr>
      <vt:lpstr>PowerPoint Presentation</vt:lpstr>
      <vt:lpstr>PowerPoint Presentation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PowerPoint Presentation</vt:lpstr>
      <vt:lpstr> </vt:lpstr>
      <vt:lpstr> </vt:lpstr>
      <vt:lpstr>PowerPoint Presentation</vt:lpstr>
      <vt:lpstr> </vt:lpstr>
      <vt:lpstr> </vt:lpstr>
      <vt:lpstr> </vt:lpstr>
      <vt:lpstr>PowerPoint Presentation</vt:lpstr>
      <vt:lpstr>PowerPoint Presentation</vt:lpstr>
      <vt:lpstr>PowerPoint Presentation</vt:lpstr>
      <vt:lpstr> </vt:lpstr>
      <vt:lpstr> </vt:lpstr>
      <vt:lpstr>Bills et al. (2023): Language models can explain neurons in language models (OpenAI)</vt:lpstr>
      <vt:lpstr> </vt:lpstr>
      <vt:lpstr>PowerPoint Presentation</vt:lpstr>
      <vt:lpstr>Radford et al. (2018): Improving Language Understanding by Generative Pre-Training.  ·  Gemini Team (2023): Gemini – „build on top of Transformer decoders“.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 </vt:lpstr>
      <vt:lpstr>PowerPoint Presentation</vt:lpstr>
      <vt:lpstr> </vt:lpstr>
      <vt:lpstr>Bubeck et al. (2023): Sparks of Artificial General Intelligence, Abschn. 1  ·  Schaeffer et al. (2023): Are Emergent Abilities of LLMs a Mirage? NeurIPS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GPT-3.5</dc:title>
  <dc:creator>Jörg Thomas</dc:creator>
  <cp:lastModifiedBy>Jörg Thomas</cp:lastModifiedBy>
  <cp:revision>101</cp:revision>
  <dcterms:created xsi:type="dcterms:W3CDTF">2018-10-17T08:35:13Z</dcterms:created>
  <dcterms:modified xsi:type="dcterms:W3CDTF">2026-10-22T10:27:12Z</dcterms:modified>
</cp:coreProperties>
</file>